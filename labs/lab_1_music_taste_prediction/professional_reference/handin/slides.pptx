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minutes. The short version: eleven methods, one evaluation protocol written before any result, and a random forest that wins by a small but consistent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song quieter than -20 dB is liked. 36 of the 43 songs above 0.33 speechiness, meaning rap or spoken parts, are disliked.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four are the classic families from the course; the two SVMs differ only in the kernel. All share the same preprocessing.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Bagging versus random forest is a controlled pair: the only difference is the random feature subsets, so their gap is what decorrelating the trees buys.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Trees do not need the scaler, but it changes no split, so every method keeps one pipeline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Nested CV means the score of a tuned method never saw its own validation fold during tuning. Writing the rule first is what makes the choice a judgment rather than picking the biggest number after the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the comparison is paired. Read naively, everything above LDA looks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 is the corrected resampled t-test. AdaBoost (0.808) and linear SVM (0.807) sit between RBF SVM and LDA and are left off for space; the full table is in results/03-sweep.md. Four methods miss the one-error band by a hair.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Boosting reaches the same place from the other side: low-variance learners, bias removed step by step. It ties with bagging.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I had to defend logistic regression instead, I could: it is within noise. The protocol said in advance which end of that trade-off I would 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predict reproduces the string byte for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sweep takes about 36 minutes on four cores; everything else runs in a minute or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1094415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mbria"/>
              </a:rPr>
              <a:t>Predicting which songs Andreas likes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C9BFD4"/>
                </a:solidFill>
                <a:latin typeface="Calibri"/>
              </a:rPr>
              <a:t>FRTN65 Lab 1, Andreas Olsson, October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4206240"/>
            <a:ext cx="3484778" cy="1325880"/>
          </a:xfrm>
          <a:prstGeom prst="roundRect">
            <a:avLst>
              <a:gd name="adj" fmla="val 8000"/>
            </a:avLst>
          </a:prstGeom>
          <a:solidFill>
            <a:srgbClr val="3A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15968"/>
            <a:ext cx="3027578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400" b="1">
                <a:solidFill>
                  <a:srgbClr val="C98A12"/>
                </a:solidFill>
                <a:latin typeface="Cambria"/>
              </a:rPr>
              <a:t>736</a:t>
            </a:r>
          </a:p>
          <a:p>
            <a:r>
              <a:rPr sz="1300" b="0">
                <a:solidFill>
                  <a:srgbClr val="FFFFFF"/>
                </a:solidFill>
                <a:latin typeface="Calibri"/>
              </a:rPr>
              <a:t>labelled songs after dropping duplicates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3458" y="4206240"/>
            <a:ext cx="3484778" cy="1325880"/>
          </a:xfrm>
          <a:prstGeom prst="roundRect">
            <a:avLst>
              <a:gd name="adj" fmla="val 8000"/>
            </a:avLst>
          </a:prstGeom>
          <a:solidFill>
            <a:srgbClr val="3A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82058" y="4315968"/>
            <a:ext cx="3027578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400" b="1">
                <a:solidFill>
                  <a:srgbClr val="C98A12"/>
                </a:solidFill>
                <a:latin typeface="Cambria"/>
              </a:rPr>
              <a:t>11</a:t>
            </a:r>
          </a:p>
          <a:p>
            <a:r>
              <a:rPr sz="1300" b="0">
                <a:solidFill>
                  <a:srgbClr val="FFFFFF"/>
                </a:solidFill>
                <a:latin typeface="Calibri"/>
              </a:rPr>
              <a:t>methods through one protocol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8276" y="4206240"/>
            <a:ext cx="3484778" cy="1325880"/>
          </a:xfrm>
          <a:prstGeom prst="roundRect">
            <a:avLst>
              <a:gd name="adj" fmla="val 8000"/>
            </a:avLst>
          </a:prstGeom>
          <a:solidFill>
            <a:srgbClr val="3A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6876" y="4315968"/>
            <a:ext cx="3027578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400" b="1">
                <a:solidFill>
                  <a:srgbClr val="C98A12"/>
                </a:solidFill>
                <a:latin typeface="Cambria"/>
              </a:rPr>
              <a:t>0.830</a:t>
            </a:r>
          </a:p>
          <a:p>
            <a:r>
              <a:rPr sz="1300" b="0">
                <a:solidFill>
                  <a:srgbClr val="FFFFFF"/>
                </a:solidFill>
                <a:latin typeface="Calibri"/>
              </a:rPr>
              <a:t>cross-validated accuracy of the chosen random forest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r>
              <a:rPr sz="3200" b="1">
                <a:solidFill>
                  <a:srgbClr val="261C33"/>
                </a:solidFill>
                <a:latin typeface="Cambria"/>
              </a:rPr>
              <a:t>The data: one axis, loud versus acoustic</a:t>
            </a:r>
          </a:p>
        </p:txBody>
      </p:sp>
      <p:pic>
        <p:nvPicPr>
          <p:cNvPr id="3" name="Picture 2" descr="01-numeric-by-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388" y="1371600"/>
            <a:ext cx="8312919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663440"/>
            <a:ext cx="11094415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56032" indent="-256032">
              <a:spcAft>
                <a:spcPts val="1000"/>
              </a:spcAft>
              <a:buChar char="•"/>
            </a:pPr>
            <a:r>
              <a:rPr sz="1500" b="0">
                <a:solidFill>
                  <a:srgbClr val="261C33"/>
                </a:solidFill>
                <a:latin typeface="Calibri"/>
              </a:rPr>
              <a:t>750 songs, 13 Spotify features, 60% liked, so always saying "like" scores 0.60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500" b="0">
                <a:solidFill>
                  <a:srgbClr val="261C33"/>
                </a:solidFill>
                <a:latin typeface="Calibri"/>
              </a:rPr>
              <a:t>Liked songs are quiet, acoustic and nearly free of speech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500" b="0">
                <a:solidFill>
                  <a:srgbClr val="261C33"/>
                </a:solidFill>
                <a:latin typeface="Calibri"/>
              </a:rPr>
              <a:t>Energy, loudness and acousticness are close to one feature (rank correlation up to 0.85)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500" b="0">
                <a:solidFill>
                  <a:srgbClr val="261C33"/>
                </a:solidFill>
                <a:latin typeface="Calibri"/>
              </a:rPr>
              <a:t>Speechiness is the strong signal that is not that axis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500" b="0">
                <a:solidFill>
                  <a:srgbClr val="261C33"/>
                </a:solidFill>
                <a:latin typeface="Calibri"/>
              </a:rPr>
              <a:t>Clean but not tidy: 12 songs repeated, heavy tails in duration, speechiness, instrumentalness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r>
              <a:rPr sz="3200" b="1">
                <a:solidFill>
                  <a:srgbClr val="261C33"/>
                </a:solidFill>
                <a:latin typeface="Cambria"/>
              </a:rPr>
              <a:t>(1) The methods: lines, distances, densities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94413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237"/>
                <a:gridCol w="7356079"/>
                <a:gridCol w="1447097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>
                    <a:solidFill>
                      <a:srgbClr val="26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91440" marR="91440">
                    <a:solidFill>
                      <a:srgbClr val="26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tuned</a:t>
                      </a:r>
                    </a:p>
                  </a:txBody>
                  <a:tcPr marL="91440" marR="91440">
                    <a:solidFill>
                      <a:srgbClr val="261C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linear log-odds, L2 shrinkage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LDA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Gaussian classes, one shared covariance, so a linear boundary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nothing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QDA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a covariance per class, so a quadratic boundary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shrinkage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kNN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majority vote among the k closest songs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k, weighting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Linear SVM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widest-margin hyperplane, soft margin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RBF SVM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the same margin in a kernel space, curved boundary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C, gamma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r>
              <a:rPr sz="3200" b="1">
                <a:solidFill>
                  <a:srgbClr val="261C33"/>
                </a:solidFill>
                <a:latin typeface="Cambria"/>
              </a:rPr>
              <a:t>(1) The methods: trees and their ensembles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94413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144"/>
                <a:gridCol w="6496729"/>
                <a:gridCol w="289854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>
                    <a:solidFill>
                      <a:srgbClr val="26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91440" marR="91440">
                    <a:solidFill>
                      <a:srgbClr val="26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tuned</a:t>
                      </a:r>
                    </a:p>
                  </a:txBody>
                  <a:tcPr marL="91440" marR="91440">
                    <a:solidFill>
                      <a:srgbClr val="261C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recursive threshold splits, one tree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depth, leaf size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Bagging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300 deep trees on bootstrap samples, averaged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leaf size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bagging, but each split sees a random subset of features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features per split, leaf size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shallow trees added one by one, each fixing the last one's errors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rate, depth, rounds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AdaBoost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stumps, reweighting the songs the previous ones got wrong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rate, rounds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Dummy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always "like", the floor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nothing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r>
              <a:rPr sz="3200" b="1">
                <a:solidFill>
                  <a:srgbClr val="261C33"/>
                </a:solidFill>
                <a:latin typeface="Cambria"/>
              </a:rPr>
              <a:t>(2) How the inputs went in</a:t>
            </a:r>
          </a:p>
        </p:txBody>
      </p:sp>
      <p:pic>
        <p:nvPicPr>
          <p:cNvPr id="3" name="Picture 2" descr="01-categorical-by-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98" y="1371600"/>
            <a:ext cx="10278699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663440"/>
            <a:ext cx="11094415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56032" indent="-256032">
              <a:spcAft>
                <a:spcPts val="1000"/>
              </a:spcAft>
              <a:buChar char="•"/>
            </a:pPr>
            <a:r>
              <a:rPr sz="1500" b="0">
                <a:solidFill>
                  <a:srgbClr val="261C33"/>
                </a:solidFill>
                <a:latin typeface="Calibri"/>
              </a:rPr>
              <a:t>All 13 features used, none dropped: the weak ones cost little and the forest ignores noise well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500" b="0">
                <a:solidFill>
                  <a:srgbClr val="261C33"/>
                </a:solidFill>
                <a:latin typeface="Calibri"/>
              </a:rPr>
              <a:t>10 numeric features, standardised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500" b="0">
                <a:solidFill>
                  <a:srgbClr val="261C33"/>
                </a:solidFill>
                <a:latin typeface="Calibri"/>
              </a:rPr>
              <a:t>key, mode and time_signature treated as qualitative and one-hot encoded: key 11 is not "more" than key 0, and meters are distinct, not points on a scale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500" b="0">
                <a:solidFill>
                  <a:srgbClr val="261C33"/>
                </a:solidFill>
                <a:latin typeface="Calibri"/>
              </a:rPr>
              <a:t>14 exact duplicate rows dropped before any split, so a song cannot sit in its own validation fold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500" b="0">
                <a:solidFill>
                  <a:srgbClr val="261C33"/>
                </a:solidFill>
                <a:latin typeface="Calibri"/>
              </a:rPr>
              <a:t>Scaling and encoding live inside each model's pipeline, learned on the training part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r>
              <a:rPr sz="3200" b="1">
                <a:solidFill>
                  <a:srgbClr val="261C33"/>
                </a:solidFill>
                <a:latin typeface="Cambria"/>
              </a:rPr>
              <a:t>(2) How parameters were tuned, and the rule written first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84778" cy="1325880"/>
          </a:xfrm>
          <a:prstGeom prst="roundRect">
            <a:avLst>
              <a:gd name="adj" fmla="val 8000"/>
            </a:avLst>
          </a:prstGeom>
          <a:solidFill>
            <a:srgbClr val="F3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3027578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400" b="1">
                <a:solidFill>
                  <a:srgbClr val="C98A12"/>
                </a:solidFill>
                <a:latin typeface="Cambria"/>
              </a:rPr>
              <a:t>25</a:t>
            </a:r>
          </a:p>
          <a:p>
            <a:r>
              <a:rPr sz="1300" b="0">
                <a:solidFill>
                  <a:srgbClr val="6B5E78"/>
                </a:solidFill>
                <a:latin typeface="Calibri"/>
              </a:rPr>
              <a:t>outer splits: 5-fold stratified CV, repeated 5 times, seed 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3458" y="1371600"/>
            <a:ext cx="3484778" cy="1325880"/>
          </a:xfrm>
          <a:prstGeom prst="roundRect">
            <a:avLst>
              <a:gd name="adj" fmla="val 8000"/>
            </a:avLst>
          </a:prstGeom>
          <a:solidFill>
            <a:srgbClr val="F3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82058" y="1481328"/>
            <a:ext cx="3027578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400" b="1">
                <a:solidFill>
                  <a:srgbClr val="C98A12"/>
                </a:solidFill>
                <a:latin typeface="Cambria"/>
              </a:rPr>
              <a:t>5</a:t>
            </a:r>
          </a:p>
          <a:p>
            <a:r>
              <a:rPr sz="1300" b="0">
                <a:solidFill>
                  <a:srgbClr val="6B5E78"/>
                </a:solidFill>
                <a:latin typeface="Calibri"/>
              </a:rPr>
              <a:t>inner folds: grid search inside each outer training part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8276" y="1371600"/>
            <a:ext cx="3484778" cy="1325880"/>
          </a:xfrm>
          <a:prstGeom prst="roundRect">
            <a:avLst>
              <a:gd name="adj" fmla="val 8000"/>
            </a:avLst>
          </a:prstGeom>
          <a:solidFill>
            <a:srgbClr val="F3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6876" y="1481328"/>
            <a:ext cx="3027578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400" b="1">
                <a:solidFill>
                  <a:srgbClr val="C98A12"/>
                </a:solidFill>
                <a:latin typeface="Cambria"/>
              </a:rPr>
              <a:t>1</a:t>
            </a:r>
          </a:p>
          <a:p>
            <a:r>
              <a:rPr sz="1300" b="0">
                <a:solidFill>
                  <a:srgbClr val="6B5E78"/>
                </a:solidFill>
                <a:latin typeface="Calibri"/>
              </a:rPr>
              <a:t>decision rule, committed before any model was fitted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1094415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Accuracy decides, since the leaderboard scores accuracy; balanced accuracy and ROC AUC are reported beside it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Every method sees the same 25 splits, so comparisons are paired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Errors use the Nadeau and Bengio correction, because the 25 splits share most of their data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The rule: of the methods within one corrected error of the best, take the one with the fewest tuned parameters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r>
              <a:rPr sz="3200" b="1">
                <a:solidFill>
                  <a:srgbClr val="261C33"/>
                </a:solidFill>
                <a:latin typeface="Cambria"/>
              </a:rPr>
              <a:t>(3) Evaluation: the boxes overlap, the pairs do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389120" cy="4937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56032" indent="-256032">
              <a:spcAft>
                <a:spcPts val="1000"/>
              </a:spcAft>
              <a:buChar char="•"/>
            </a:pPr>
            <a:r>
              <a:rPr sz="1600" b="0">
                <a:solidFill>
                  <a:srgbClr val="261C33"/>
                </a:solidFill>
                <a:latin typeface="Calibri"/>
              </a:rPr>
              <a:t>Each box is one method's 25 per-split accuracies, the triangle its mean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600" b="0">
                <a:solidFill>
                  <a:srgbClr val="261C33"/>
                </a:solidFill>
                <a:latin typeface="Calibri"/>
              </a:rPr>
              <a:t>From rf down to LDA the boxes overlap almost entirely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600" b="0">
                <a:solidFill>
                  <a:srgbClr val="261C33"/>
                </a:solidFill>
                <a:latin typeface="Calibri"/>
              </a:rPr>
              <a:t>Most of the spread is which songs land in a fold, and every method shares that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600" b="0">
                <a:solidFill>
                  <a:srgbClr val="261C33"/>
                </a:solidFill>
                <a:latin typeface="Calibri"/>
              </a:rPr>
              <a:t>So methods are compared on their per-split differences, not their boxes</a:t>
            </a:r>
          </a:p>
        </p:txBody>
      </p:sp>
      <p:pic>
        <p:nvPicPr>
          <p:cNvPr id="4" name="Picture 3" descr="03-accuracy-by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520304"/>
            <a:ext cx="6430975" cy="48232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r>
              <a:rPr sz="3200" b="1">
                <a:solidFill>
                  <a:srgbClr val="261C33"/>
                </a:solidFill>
                <a:latin typeface="Cambria"/>
              </a:rPr>
              <a:t>(3) Paired against the best method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9441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1341"/>
                <a:gridCol w="1267933"/>
                <a:gridCol w="1426424"/>
                <a:gridCol w="2377374"/>
                <a:gridCol w="950949"/>
                <a:gridCol w="2060391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>
                    <a:solidFill>
                      <a:srgbClr val="26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91440" marR="91440">
                    <a:solidFill>
                      <a:srgbClr val="26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gap to rf</a:t>
                      </a:r>
                    </a:p>
                  </a:txBody>
                  <a:tcPr marL="91440" marR="91440">
                    <a:solidFill>
                      <a:srgbClr val="26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corrected error</a:t>
                      </a:r>
                    </a:p>
                  </a:txBody>
                  <a:tcPr marL="91440" marR="91440">
                    <a:solidFill>
                      <a:srgbClr val="26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91440" marR="91440">
                    <a:solidFill>
                      <a:srgbClr val="26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rf wins of 25</a:t>
                      </a:r>
                    </a:p>
                  </a:txBody>
                  <a:tcPr marL="91440" marR="91440">
                    <a:solidFill>
                      <a:srgbClr val="261C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0.830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>
                    <a:solidFill>
                      <a:srgbClr val="F3EF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Bagging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0.820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-0.011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0.007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0.819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-0.011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0.009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0.24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0.814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-0.016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0.015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0.29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RBF SVM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0.813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-0.017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0.015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0.28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LDA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0.799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-0.031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kNN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0.795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-0.035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0.790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-0.041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0.017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1C33"/>
                          </a:solidFill>
                          <a:latin typeface="Calibri"/>
                        </a:rPr>
                        <a:t>QDA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-0.047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0.020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1C3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91440" marR="91440">
                    <a:solidFill>
                      <a:srgbClr val="F3EF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r>
              <a:rPr sz="3200" b="1">
                <a:solidFill>
                  <a:srgbClr val="261C33"/>
                </a:solidFill>
                <a:latin typeface="Cambria"/>
              </a:rPr>
              <a:t>(4) Conclusion: the random forest, read as bias and variance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840480" cy="1325880"/>
          </a:xfrm>
          <a:prstGeom prst="roundRect">
            <a:avLst>
              <a:gd name="adj" fmla="val 8000"/>
            </a:avLst>
          </a:prstGeom>
          <a:solidFill>
            <a:srgbClr val="F3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3383280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400" b="1">
                <a:solidFill>
                  <a:srgbClr val="C98A12"/>
                </a:solidFill>
                <a:latin typeface="Cambria"/>
              </a:rPr>
              <a:t>0.830</a:t>
            </a:r>
          </a:p>
          <a:p>
            <a:r>
              <a:rPr sz="1300" b="0">
                <a:solidFill>
                  <a:srgbClr val="6B5E78"/>
                </a:solidFill>
                <a:latin typeface="Calibri"/>
              </a:rPr>
              <a:t>random forest, ± 0.014 over 25 splits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1094415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A line captures the main axis; logistic regression reaches 0.814 with heavy shrinkage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What a line misses are thresholds and interactions (every song under -20 dB is liked), which trees find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One tree finds them but pays in variance (0.790); averaging 300 trees keeps the low bias and pays the variance down (bagging 0.820)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Random feature subsets decorrelate the trees and add one more point (0.830)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kNN and QDA were last: distances mixed with one-hot columns, and too many covariance parameters for 240 dislikes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r>
              <a:rPr sz="3200" b="1">
                <a:solidFill>
                  <a:srgbClr val="261C33"/>
                </a:solidFill>
                <a:latin typeface="Cambria"/>
              </a:rPr>
              <a:t>(4) How sure: a small edge, honestly sized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840480" cy="1325880"/>
          </a:xfrm>
          <a:prstGeom prst="roundRect">
            <a:avLst>
              <a:gd name="adj" fmla="val 8000"/>
            </a:avLst>
          </a:prstGeom>
          <a:solidFill>
            <a:srgbClr val="F3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3383280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400" b="1">
                <a:solidFill>
                  <a:srgbClr val="C98A12"/>
                </a:solidFill>
                <a:latin typeface="Cambria"/>
              </a:rPr>
              <a:t>~3</a:t>
            </a:r>
          </a:p>
          <a:p>
            <a:r>
              <a:rPr sz="1300" b="0">
                <a:solidFill>
                  <a:srgbClr val="6B5E78"/>
                </a:solidFill>
                <a:latin typeface="Calibri"/>
              </a:rPr>
              <a:t>songs in 200: the forest's expected edge over logistic regression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371600"/>
            <a:ext cx="3840480" cy="1325880"/>
          </a:xfrm>
          <a:prstGeom prst="roundRect">
            <a:avLst>
              <a:gd name="adj" fmla="val 8000"/>
            </a:avLst>
          </a:prstGeom>
          <a:solidFill>
            <a:srgbClr val="F3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1481328"/>
            <a:ext cx="3383280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400" b="1">
                <a:solidFill>
                  <a:srgbClr val="C98A12"/>
                </a:solidFill>
                <a:latin typeface="Cambria"/>
              </a:rPr>
              <a:t>0.80 to 0.86</a:t>
            </a:r>
          </a:p>
          <a:p>
            <a:r>
              <a:rPr sz="1300" b="0">
                <a:solidFill>
                  <a:srgbClr val="6B5E78"/>
                </a:solidFill>
                <a:latin typeface="Calibri"/>
              </a:rPr>
              <a:t>what to expect on the 200 hidden songs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1094415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Only the forest falls inside the one-error band, so the rule picks it outright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A looser rule, "not significantly worse at 5%", would hold seven methods and pick logistic regression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The strictness was fixed before the numbers, which is what makes this a choice and not a sweep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First on accuracy, balanced accuracy and AUC alike, so the win is not bought by leaning on "like"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r>
              <a:rPr sz="3200" b="1">
                <a:solidFill>
                  <a:srgbClr val="261C33"/>
                </a:solidFill>
                <a:latin typeface="Cambria"/>
              </a:rPr>
              <a:t>Production: one refit, one read of the test file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840480" cy="1325880"/>
          </a:xfrm>
          <a:prstGeom prst="roundRect">
            <a:avLst>
              <a:gd name="adj" fmla="val 8000"/>
            </a:avLst>
          </a:prstGeom>
          <a:solidFill>
            <a:srgbClr val="F3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3383280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400" b="1">
                <a:solidFill>
                  <a:srgbClr val="C98A12"/>
                </a:solidFill>
                <a:latin typeface="Cambria"/>
              </a:rPr>
              <a:t>200</a:t>
            </a:r>
          </a:p>
          <a:p>
            <a:r>
              <a:rPr sz="1300" b="0">
                <a:solidFill>
                  <a:srgbClr val="6B5E78"/>
                </a:solidFill>
                <a:latin typeface="Calibri"/>
              </a:rPr>
              <a:t>songs predicted, 123 liked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1094415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Refit on all 736 songs with the same grid search: 300 trees, 25% of features per split, at least 3 songs per leaf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The inner search scored that setting at 0.837; the setting barely matters, the grid's surface was flat across the sweep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songs_to_classify.csv read once, by this model, after the decision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The string is in results/submission-2026-10-01.txt, one character per test song in file order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800" b="0">
                <a:solidFill>
                  <a:srgbClr val="261C33"/>
                </a:solidFill>
                <a:latin typeface="Calibri"/>
              </a:rPr>
              <a:t>4 test songs also appear in the training file; the forest predicts their known labels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r>
              <a:rPr sz="3200" b="1">
                <a:solidFill>
                  <a:srgbClr val="261C33"/>
                </a:solidFill>
                <a:latin typeface="Cambria"/>
              </a:rPr>
              <a:t>The code: a small package, thin notebooks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56032" indent="-256032">
              <a:spcAft>
                <a:spcPts val="1000"/>
              </a:spcAft>
              <a:buChar char="•"/>
            </a:pPr>
            <a:r>
              <a:rPr sz="1900" b="0">
                <a:solidFill>
                  <a:srgbClr val="261C33"/>
                </a:solidFill>
                <a:latin typeface="Courier New"/>
              </a:rPr>
              <a:t>src/songtaste/</a:t>
            </a:r>
            <a:r>
              <a:rPr sz="1900" b="0">
                <a:solidFill>
                  <a:srgbClr val="261C33"/>
                </a:solidFill>
                <a:latin typeface="Calibri"/>
              </a:rPr>
              <a:t> holds the mechanism as one module per stage (data contract, features, protocol, comparison, prediction), each standing on scikit-learn, pandera and seaborn rather than code of my own, and </a:t>
            </a:r>
            <a:r>
              <a:rPr sz="1900" b="0">
                <a:solidFill>
                  <a:srgbClr val="261C33"/>
                </a:solidFill>
                <a:latin typeface="Courier New"/>
              </a:rPr>
              <a:t>tests/</a:t>
            </a:r>
            <a:r>
              <a:rPr sz="1900" b="0">
                <a:solidFill>
                  <a:srgbClr val="261C33"/>
                </a:solidFill>
                <a:latin typeface="Calibri"/>
              </a:rPr>
              <a:t> checks the contract, the protocol, the rule and the string.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900" b="0">
                <a:solidFill>
                  <a:srgbClr val="261C33"/>
                </a:solidFill>
                <a:latin typeface="Calibri"/>
              </a:rPr>
              <a:t>The notebooks are where I looked at things and </a:t>
            </a:r>
            <a:r>
              <a:rPr sz="1900" b="0">
                <a:solidFill>
                  <a:srgbClr val="261C33"/>
                </a:solidFill>
                <a:latin typeface="Courier New"/>
              </a:rPr>
              <a:t>results/</a:t>
            </a:r>
            <a:r>
              <a:rPr sz="1900" b="0">
                <a:solidFill>
                  <a:srgbClr val="261C33"/>
                </a:solidFill>
                <a:latin typeface="Calibri"/>
              </a:rPr>
              <a:t> is where every number in these slides is written down, so </a:t>
            </a:r>
            <a:r>
              <a:rPr sz="1900" b="0">
                <a:solidFill>
                  <a:srgbClr val="261C33"/>
                </a:solidFill>
                <a:latin typeface="Courier New"/>
              </a:rPr>
              <a:t>uv sync &amp;&amp; make data &amp;&amp; make test &amp;&amp; make sweep &amp;&amp; make predict</a:t>
            </a:r>
            <a:r>
              <a:rPr sz="1900" b="0">
                <a:solidFill>
                  <a:srgbClr val="261C33"/>
                </a:solidFill>
                <a:latin typeface="Calibri"/>
              </a:rPr>
              <a:t> reproduces all of it.</a:t>
            </a:r>
          </a:p>
          <a:p>
            <a:pPr marL="256032" indent="-256032">
              <a:spcAft>
                <a:spcPts val="1000"/>
              </a:spcAft>
              <a:buChar char="•"/>
            </a:pPr>
            <a:r>
              <a:rPr sz="1900" b="0">
                <a:solidFill>
                  <a:srgbClr val="261C33"/>
                </a:solidFill>
                <a:latin typeface="Calibri"/>
              </a:rPr>
              <a:t>AI use, per the lab's policy: the package, tests and first drafts of the written results and these slides were produced with Claude (Anthropic) coding agents, working from a plan and a design I set and approved.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