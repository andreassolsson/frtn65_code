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6C274F-65D5-4D32-9B6D-5D346B0ED81E}">
  <a:tblStyle styleId="{D66C274F-65D5-4D32-9B6D-5D346B0ED8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076fa762a922ad8_4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1076fa762a922ad8_4_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One sentence version: four tree ensembles tie at 0.83, the rule I wrote first picks bagging as the simplest of them, I handed in the forest on the numerical features for the competition.</a:t>
            </a:r>
            <a:endParaRPr/>
          </a:p>
        </p:txBody>
      </p:sp>
      <p:sp>
        <p:nvSpPr>
          <p:cNvPr id="60" name="Google Shape;60;h1076fa762a922ad8_4_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076fa762a922ad8_4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h1076fa762a922ad8_4_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whole lab in four lines. The override (rf_numeric instead of bagging) is said as an override, slide 13 has the why.</a:t>
            </a:r>
            <a:endParaRPr/>
          </a:p>
        </p:txBody>
      </p:sp>
      <p:sp>
        <p:nvSpPr>
          <p:cNvPr id="67" name="Google Shape;67;h1076fa762a922ad8_4_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076fa762a922ad8_4_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h1076fa762a922ad8_4_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duplicates matter: the same song in both the training and the validation part of a split makes the score look better than it is. The 0.60 floor is what every number is measured from.</a:t>
            </a:r>
            <a:endParaRPr/>
          </a:p>
        </p:txBody>
      </p:sp>
      <p:sp>
        <p:nvSpPr>
          <p:cNvPr id="74" name="Google Shape;74;h1076fa762a922ad8_4_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076fa762a922ad8_4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h1076fa762a922ad8_4_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Densities are normalised per class, so the 60/40 does not read as separation. The spike plus tail shape is why robust, quantile and log scaling became variants later.</a:t>
            </a:r>
            <a:endParaRPr/>
          </a:p>
        </p:txBody>
      </p:sp>
      <p:sp>
        <p:nvSpPr>
          <p:cNvPr id="83" name="Google Shape;83;h1076fa762a922ad8_4_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076fa762a922ad8_4_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h1076fa762a922ad8_4_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Spearman because of the tails: ranks instead of values. Correlation is pairwise and monotone, it cannot see interactions, which is why the tree screen on the next slide exists. Also why a heavily regularised line does well: the main axis is linear and L2 shares the weight over the three correlated columns.</a:t>
            </a:r>
            <a:endParaRPr/>
          </a:p>
        </p:txBody>
      </p:sp>
      <p:sp>
        <p:nvSpPr>
          <p:cNvPr id="94" name="Google Shape;94;h1076fa762a922ad8_4_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076fa762a922ad8_4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1076fa762a922ad8_4_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Same depth for singles and pairs. I also ran it with repeated folds and a shuffled copy of each feature as a null: the top gains survive, the null never gets above about +0.02, so the small gains at the bottom of the bar chart are noise.</a:t>
            </a:r>
            <a:endParaRPr/>
          </a:p>
        </p:txBody>
      </p:sp>
      <p:sp>
        <p:nvSpPr>
          <p:cNvPr id="102" name="Google Shape;102;h1076fa762a922ad8_4_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076fa762a922ad8_4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h1076fa762a922ad8_4_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Rubric point (2): which inputs, qualitative or quantitative, what preprocessing. The pipeline is the whole point: nothing is fit on a validation fold, ever.</a:t>
            </a:r>
            <a:endParaRPr/>
          </a:p>
        </p:txBody>
      </p:sp>
      <p:sp>
        <p:nvSpPr>
          <p:cNvPr id="111" name="Google Shape;111;h1076fa762a922ad8_4_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1076fa762a922ad8_4_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h1076fa762a922ad8_4_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Rubric point (1). xgboost is outside the course list, kept as a check on the boosting implementation. Tuned = what the inner grid search picks per split; the count is also what simplicity means later.</a:t>
            </a:r>
            <a:endParaRPr/>
          </a:p>
        </p:txBody>
      </p:sp>
      <p:sp>
        <p:nvSpPr>
          <p:cNvPr id="118" name="Google Shape;118;h1076fa762a922ad8_4_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1076fa762a922ad8_4_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h1076fa762a922ad8_4_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Rubric (2) and (3), the slide the examiner will ask about. Nested loop: for each of 5 outer folds, grid search with 5 inner folds on the outer training part, refit the best, score once on the outer validation fold. Repeated 5 times.</a:t>
            </a:r>
            <a:endParaRPr/>
          </a:p>
        </p:txBody>
      </p:sp>
      <p:sp>
        <p:nvSpPr>
          <p:cNvPr id="125" name="Google Shape;125;h1076fa762a922ad8_4_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1076fa762a922ad8_4_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h1076fa762a922ad8_4_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Simplicity = fewest tuned hyperparameters, not fewest parameters. Parameter count measures capacity and misleads for ensembles. The order for ties is a stated preference, and here it agrees with the tuned count.</a:t>
            </a:r>
            <a:endParaRPr/>
          </a:p>
        </p:txBody>
      </p:sp>
      <p:sp>
        <p:nvSpPr>
          <p:cNvPr id="132" name="Google Shape;132;h1076fa762a922ad8_4_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076fa762a922ad8_4_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h1076fa762a922ad8_4_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Rubric (3). Mean over the 25 outer splits, corrected standard error. Balanced accuracy and ROC AUC are there to read, not to decide on. Dummy: 0.602.</a:t>
            </a:r>
            <a:endParaRPr/>
          </a:p>
        </p:txBody>
      </p:sp>
      <p:sp>
        <p:nvSpPr>
          <p:cNvPr id="139" name="Google Shape;139;h1076fa762a922ad8_4_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076fa762a922ad8_4_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h1076fa762a922ad8_4_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Per split difference to xgboost, corrected error on the differences. Seven candidates inside one error; bagging tunes one hyperparameter, the others two or three. Two errors would let logreg_elastic in, and the rule would take it (one tuned, and a line comes first in the order).</a:t>
            </a:r>
            <a:endParaRPr/>
          </a:p>
        </p:txBody>
      </p:sp>
      <p:sp>
        <p:nvSpPr>
          <p:cNvPr id="147" name="Google Shape;147;h1076fa762a922ad8_4_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1076fa762a922ad8_4_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h1076fa762a922ad8_4_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Say it as an override. Under the rule: bagging. For the competition: the forest without the three columns no model uses. Both strings are in the zip. If asked why not xgboost: not a course method, and not better than the forest by anything measurable.</a:t>
            </a:r>
            <a:endParaRPr/>
          </a:p>
        </p:txBody>
      </p:sp>
      <p:sp>
        <p:nvSpPr>
          <p:cNvPr id="155" name="Google Shape;155;h1076fa762a922ad8_4_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1076fa762a922ad8_4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h1076fa762a922ad8_4_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Permutation importance on held-out folds: shuffle one column, see how much accuracy drops. The bottom three rows are the evidence for rf_numeric.</a:t>
            </a:r>
            <a:endParaRPr/>
          </a:p>
        </p:txBody>
      </p:sp>
      <p:sp>
        <p:nvSpPr>
          <p:cNvPr id="162" name="Google Shape;162;h1076fa762a922ad8_4_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1076fa762a922ad8_4_1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h1076fa762a922ad8_4_1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Rubric (4). Then the disclosure, said plainly. Zip: both notebooks executed, modelling_results.csv, figures/, both submission strings, a short README.</a:t>
            </a:r>
            <a:endParaRPr/>
          </a:p>
        </p:txBody>
      </p:sp>
      <p:sp>
        <p:nvSpPr>
          <p:cNvPr id="170" name="Google Shape;170;h1076fa762a922ad8_4_1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">
  <p:cSld name="Front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5A5A5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in">
  <p:cSld name="Plain"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Arial"/>
              <a:buNone/>
            </a:pPr>
            <a:r>
              <a:rPr lang="sv" sz="3200">
                <a:solidFill>
                  <a:srgbClr val="1A1A1A"/>
                </a:solidFill>
              </a:rPr>
              <a:t>Predicting which songs Andreas likes</a:t>
            </a:r>
            <a:endParaRPr sz="3200"/>
          </a:p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600"/>
              <a:buNone/>
            </a:pPr>
            <a:r>
              <a:rPr lang="sv" sz="1600">
                <a:solidFill>
                  <a:srgbClr val="5A5A5A"/>
                </a:solidFill>
              </a:rPr>
              <a:t>FRTN65 Lab 1, Andreas Olsson, October 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In short</a:t>
            </a:r>
            <a:endParaRPr sz="2400"/>
          </a:p>
        </p:txBody>
      </p:sp>
      <p:sp>
        <p:nvSpPr>
          <p:cNvPr id="70" name="Google Shape;70;p18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Data: 736 songs after dropping 14 duplicates, 13 features (10 numerical, 3 categorical), 60% liked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Modelling: 12 methods tried in 51 variants, all through one evaluation protocol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Result: four tree ensembles (xgboost, random forest, bagging, boosting) are indistinguishable on this data, around 0.83 accuracy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rule I set up before seeing any numbers picks bagging, the simplest of the equally good ones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Handed in: random forest on the 10 numerical features, 0.833 ± 0.018 cross-validated accuracy. Why not bagging is on slide 13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The data</a:t>
            </a:r>
            <a:endParaRPr sz="2400"/>
          </a:p>
        </p:txBody>
      </p:sp>
      <p:pic>
        <p:nvPicPr>
          <p:cNvPr descr="fig/class_balance.png" id="77" name="Google Shape;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60120"/>
            <a:ext cx="4023360" cy="304695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/>
          <p:nvPr/>
        </p:nvSpPr>
        <p:spPr>
          <a:xfrm>
            <a:off x="457200" y="41148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Arial"/>
              <a:buNone/>
            </a:pPr>
            <a:r>
              <a:rPr b="0" i="0" lang="sv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Class balance in the raw file, 0 = dislike, 1 = like.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/>
          <p:cNvSpPr/>
          <p:nvPr/>
        </p:nvSpPr>
        <p:spPr>
          <a:xfrm>
            <a:off x="4846320" y="960120"/>
            <a:ext cx="38404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750 rows, 14 exact duplicates dropped, 736 songs left. No missing values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13 Spotify audio features per song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10 numerical: acousticness, danceability, duration, energy, instrumentalness, liveness, loudness, speechiness, tempo, valence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 categorical: key, mode, time_signature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443 liked, 293 disliked. Always guessing "like" gives 0.60 accuracy, so that is the floor every number is measured from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The data, the four features that matter</a:t>
            </a:r>
            <a:endParaRPr sz="2400"/>
          </a:p>
        </p:txBody>
      </p:sp>
      <p:pic>
        <p:nvPicPr>
          <p:cNvPr descr="fig/ov_speechiness.png" id="86" name="Google Shape;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422" y="960120"/>
            <a:ext cx="2318436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/ov_loudness.png" id="87" name="Google Shape;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2742" y="960120"/>
            <a:ext cx="2318436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/ov_acousticness.png" id="88" name="Google Shape;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792" y="2788920"/>
            <a:ext cx="2441695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/ov_energy.png" id="89" name="Google Shape;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2742" y="2788920"/>
            <a:ext cx="2318436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0"/>
          <p:cNvSpPr/>
          <p:nvPr/>
        </p:nvSpPr>
        <p:spPr>
          <a:xfrm>
            <a:off x="5760720" y="960120"/>
            <a:ext cx="2926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Liked songs are quiet, acoustic and have almost no speech. Disliked songs are loud, energetic and speechy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densities are per class, so the 60/40 does not show up as separation here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speechiness: the liked songs are one spike near zero, the disliked ones spread out into a tail. duration, instrumentalness and liveness have the same spike plus tail shape, which is why scaling becomes a question later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Feature correlations</a:t>
            </a:r>
            <a:endParaRPr sz="2400"/>
          </a:p>
        </p:txBody>
      </p:sp>
      <p:pic>
        <p:nvPicPr>
          <p:cNvPr descr="fig/feature_correlations.png" id="97" name="Google Shape;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60120"/>
            <a:ext cx="3546103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/>
          <p:nvPr/>
        </p:nvSpPr>
        <p:spPr>
          <a:xfrm>
            <a:off x="4389120" y="960120"/>
            <a:ext cx="42976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Spearman (rank) correlation, bc of the tails. Clustered so the blocks show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energy, loudness and acousticness are one block (energy to loudness 0.85, energy to acousticness −0.74): three columns, one direction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speechiness has the strongest single relation to the label (−0.52) and sits outside that block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tempo, liveness, duration, instrumentalness: near zero against everything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Correlation only sees pairwise monotone relations, not interactions, so the next slide asks a decision tree instead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Feature screen with decision trees</a:t>
            </a:r>
            <a:endParaRPr sz="2400"/>
          </a:p>
        </p:txBody>
      </p:sp>
      <p:pic>
        <p:nvPicPr>
          <p:cNvPr descr="fig/decision_tree_roc_auc_single.png" id="105" name="Google Shape;1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60120"/>
            <a:ext cx="4023360" cy="2664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/decision_tree_roc_auc_pair_gain.png" id="106" name="Google Shape;1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960120"/>
            <a:ext cx="4023360" cy="241821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Arial"/>
              <a:buNone/>
            </a:pPr>
            <a:r>
              <a:rPr b="0" i="0" lang="sv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 depth-limited decision tree, 5-fold cross validation, ROC AUC, on each feature alone (left) and on each pair (right). Gain = pair minus the better of its two singles. Every single feature is above 0.5, and every big pair gain has speechiness in it.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Preprocessing</a:t>
            </a:r>
            <a:endParaRPr sz="2400"/>
          </a:p>
        </p:txBody>
      </p:sp>
      <p:sp>
        <p:nvSpPr>
          <p:cNvPr id="114" name="Google Shape;114;p23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All 13 features go in by default: the 10 numerical ones standardised (z-score), the 3 categorical ones one-hot. 28 columns reach the 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Scaling only matters for the methods that measure distances or penalise coefficients (knn, svm, logreg, lda, qda). Trees do not care, so they get the raw columns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Variants on top of that: robust and quantile scaling, log1p on the spiky four, rare levels grouped, categoricals dropped, only the four strong features, pairwise products of the numerical ones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All of it lives inside the sklearn Pipeline, so scaler and encoder are fit on the training part of each fold only, never on the validation part (important)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test file is read once, at the very end, by the model that was handed 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The methods</a:t>
            </a:r>
            <a:endParaRPr sz="2400"/>
          </a:p>
        </p:txBody>
      </p:sp>
      <p:graphicFrame>
        <p:nvGraphicFramePr>
          <p:cNvPr id="121" name="Google Shape;121;p24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{D66C274F-65D5-4D32-9B6D-5D346B0ED81E}</a:tableStyleId>
              </a:tblPr>
              <a:tblGrid>
                <a:gridCol w="1188725"/>
                <a:gridCol w="4480550"/>
                <a:gridCol w="256032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is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tuned by the grid search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dummy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always answers "like", the floor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nothing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logreg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linear boundary, L2 penalty on the coefficients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 too, gaussian classes with one shared covariance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nothing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covariance per class, so a quadratic boundary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reg_param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vote among the k closest songs in the scaled space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k, weights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one tree of threshold splits, readable, high variance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max_depth, min leaf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svm_linear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 logreg but hinge loss, maximises the margin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kernel trick, a nonlinear boundary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C, gamma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bagging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 trees on bootstrap samples, averaged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 leaf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bagging plus a random feature subset at every split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max_features, min leaf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boosting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shallow trees in sequence, each fixing the last ones' errors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rate, depth, iterations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adaboost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boosting with stumps and exponential loss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rate, n trees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 boosting again, (outside the course list)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rate, depth, min child weight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The evaluation protocol</a:t>
            </a:r>
            <a:endParaRPr sz="2400"/>
          </a:p>
        </p:txBody>
      </p:sp>
      <p:sp>
        <p:nvSpPr>
          <p:cNvPr id="128" name="Google Shape;128;p25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Metric: accuracy, bc that is what the leaderboard measures. Balanced accuracy and ROC AUC are reported beside it but never decided 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Splits: 5-fold stratified cross validation, repeated 5 times with one seed, so 25 outer splits. Every method sees exactly the same 25, so every comparison is paired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Tuning: grid search with 5 inner folds inside the outer training part only. The validation fold never sees the search (nested cross validation)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Uncertainty: the 25 splits share most of their songs, so std / </a:t>
            </a:r>
            <a:r>
              <a:rPr lang="sv">
                <a:solidFill>
                  <a:srgbClr val="1A1A1A"/>
                </a:solidFill>
              </a:rPr>
              <a:t>sqrt(</a:t>
            </a: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25) is too small. I use the Nadeau-Bengio corrected standard error, std · </a:t>
            </a:r>
            <a:r>
              <a:rPr lang="sv">
                <a:solidFill>
                  <a:srgbClr val="1A1A1A"/>
                </a:solidFill>
              </a:rPr>
              <a:t>sqrt</a:t>
            </a: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(1/25 + n_val / n_train), on the scores and on the paired differences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Deciding between equally good methods</a:t>
            </a:r>
            <a:endParaRPr sz="2400"/>
          </a:p>
        </p:txBody>
      </p:sp>
      <p:sp>
        <p:nvSpPr>
          <p:cNvPr id="135" name="Google Shape;135;p26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Candidates: every variant within one corrected standard error of the best (the error of the paired gap, not of the means)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Among the candidates: the one with the fewest tuned hyperparameters. Ties by an order fixed in advance: a line &lt; a density model &lt; a distance model &lt; one tree &lt; a kernel &lt; an ensemble of trees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fewest tuned and not fewest parameters: among methods the data cannot tell apart, I prefer the one whose score had the fewest chances to look good by search. Parameter count measures capacity, and for ensembles it is a bad guide (more trees do not overfit more)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band (one error) and the rule were written down before any number came out. slide 12 shows what two errors, or best mean alone, would have picked instead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Results, 5 repeats</a:t>
            </a:r>
            <a:endParaRPr sz="2400"/>
          </a:p>
        </p:txBody>
      </p:sp>
      <p:graphicFrame>
        <p:nvGraphicFramePr>
          <p:cNvPr id="142" name="Google Shape;142;p27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{D66C274F-65D5-4D32-9B6D-5D346B0ED81E}</a:tableStyleId>
              </a:tblPr>
              <a:tblGrid>
                <a:gridCol w="2103125"/>
                <a:gridCol w="2103125"/>
                <a:gridCol w="1554475"/>
                <a:gridCol w="1280150"/>
                <a:gridCol w="1188725"/>
              </a:tblGrid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± corrected error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balanced accuracy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 AUC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>
                          <a:solidFill>
                            <a:srgbClr val="1A1A1A"/>
                          </a:solidFill>
                        </a:rPr>
                        <a:t>num hyps tuned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0.834 ± 0.016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rf_numeric (</a:t>
                      </a:r>
                      <a:r>
                        <a:rPr b="1" lang="sv" sz="950">
                          <a:solidFill>
                            <a:srgbClr val="4C72B0"/>
                          </a:solidFill>
                        </a:rPr>
                        <a:t>hand-picked)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0.833 ± 0.018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0.833 ± 0.018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bagging (</a:t>
                      </a:r>
                      <a:r>
                        <a:rPr b="1" lang="sv" sz="950">
                          <a:solidFill>
                            <a:srgbClr val="1A1A1A"/>
                          </a:solidFill>
                        </a:rPr>
                        <a:t>rule</a:t>
                      </a: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-picked)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0.828 ± 0.017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b="1"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boosting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0.826 ± 0.015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svm_rbf_top4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0.824 ± 0.016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knn_top4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0.824 ± 0.015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svm_rbf_numeric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0.821 ± 0.016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logreg_elastic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0.817 ± 0.018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0.814 ± 0.016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svm_linear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0.813 ± 0.017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adaboost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0.809 ± 0.017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logreg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0.807 ± 0.019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0.794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knn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0.802 ± 0.012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0.883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0.800 ± 0.017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0.845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0.795 ± 0.016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0.782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qda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0.783 ± 0.017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0.788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0.879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50"/>
                        <a:buFont typeface="Arial"/>
                        <a:buNone/>
                      </a:pPr>
                      <a:r>
                        <a:rPr lang="sv" sz="95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00" marB="127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27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Mean over the 25 outer splits ± Nadeau-Bengio corrected standard error. Bold: what the rule picks. Blue: what was handed in. dummy (always "like"): 0.602.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Paired against the best, and the rule applied</a:t>
            </a:r>
            <a:endParaRPr sz="2400"/>
          </a:p>
        </p:txBody>
      </p:sp>
      <p:graphicFrame>
        <p:nvGraphicFramePr>
          <p:cNvPr id="150" name="Google Shape;150;p28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{D66C274F-65D5-4D32-9B6D-5D346B0ED81E}</a:tableStyleId>
              </a:tblPr>
              <a:tblGrid>
                <a:gridCol w="2103125"/>
                <a:gridCol w="1554475"/>
                <a:gridCol w="1554475"/>
                <a:gridCol w="1508750"/>
                <a:gridCol w="1508750"/>
              </a:tblGrid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gap to xgboost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corrected error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within 1 error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within 2 errors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rf_numeric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−0.001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72B0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4C72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−0.001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bagging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−0.006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b="1"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boosting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−0.008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svm_rbf_top4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knn_top4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svm_rbf_numeric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−0.013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logreg_elastic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−0.017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svm_rbf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−0.020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svm_linear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−0.021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logreg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−0.027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−0.039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Arial"/>
                        <a:buNone/>
                      </a:pPr>
                      <a:r>
                        <a:rPr lang="sv" sz="11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8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The rule (one error, fewest tuned hyperparameters) picks bagging: seven candidates, bagging tunes one hyperparameter. At two errors logreg_elastic joins and the rule would pick it instead. Best mean alone would pick xgboost.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Why I handed in rf_numeric and not bagging</a:t>
            </a:r>
            <a:endParaRPr sz="2400"/>
          </a:p>
        </p:txBody>
      </p:sp>
      <p:sp>
        <p:nvSpPr>
          <p:cNvPr id="158" name="Google Shape;158;p29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Under the rule: bagging. That string is submission_best_choice.txt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leaderboard counts accuracy only, so for the competition I took the highest expected score among the methods the data cannot tell apart, and gambled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rf_numeric is the forest without key, mode and time_signature. Same mean as the full forest (gap +0.000 ± 0.007 on the screen, 0.833 for both at 5 repeats) and the best balanced accuracy and ROC AUC of all the course methods (0.825, 0.912)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Dropping the three categorical columns costs nothing the data can detect, and every diagnostic rates them at zero (slide 14)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 xgboost: outside the course list, and not better than the forest by anything measurable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two strings differ on 10 of the 200 test songs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What every method leans on</a:t>
            </a:r>
            <a:endParaRPr sz="2400"/>
          </a:p>
        </p:txBody>
      </p:sp>
      <p:pic>
        <p:nvPicPr>
          <p:cNvPr descr="fig/permutation_importances_across_different_methods.png" id="165" name="Google Shape;1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60120"/>
            <a:ext cx="5120640" cy="320546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/>
          <p:nvPr/>
        </p:nvSpPr>
        <p:spPr>
          <a:xfrm>
            <a:off x="5760720" y="960120"/>
            <a:ext cx="2926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Permutation importance: the drop in held-out accuracy when one feature is shuffled, per method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speechiness is the one feature every method leans on (0.09 to 0.11), then acousticness and loudness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key, mode and time_signature are zero for every method. This is the evidence for dropping them in rf_numeric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Char char="•"/>
            </a:pPr>
            <a:r>
              <a:rPr b="0" i="0" lang="sv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knn and boosting also use danceability a bit. Nobody uses tempo, valence or liveness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lang="sv" sz="2400">
                <a:solidFill>
                  <a:srgbClr val="1A1A1A"/>
                </a:solidFill>
              </a:rPr>
              <a:t>Conclusions</a:t>
            </a:r>
            <a:endParaRPr sz="2400"/>
          </a:p>
        </p:txBody>
      </p:sp>
      <p:sp>
        <p:nvSpPr>
          <p:cNvPr id="173" name="Google Shape;173;p31"/>
          <p:cNvSpPr/>
          <p:nvPr/>
        </p:nvSpPr>
        <p:spPr>
          <a:xfrm>
            <a:off x="457200" y="96012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Four tree ensembles tie at 0.83 and nothing beats them. By the rule the simplest of them, bagging, wins. For the competition, the forest on the numerical features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data has one strong axis (loud and energetic against quiet and acoustic) plus speechiness. A heavily regularised line already gets 0.81, pairs and trees buy the last two points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Scaling only matters where distances or penalties are, and the wrong scaler costs four points. The three categorical columns carry nothing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Char char="•"/>
            </a:pPr>
            <a:r>
              <a:rPr b="0" i="0" lang="sv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Pairing the splits and correcting the standard error is what made "equally good" a statement instead of a feeling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sv" sz="1100">
                <a:solidFill>
                  <a:schemeClr val="dk2"/>
                </a:solidFill>
              </a:rPr>
              <a:t>Generative AI was used improve the visuals in certain plots, and with some statistical details, like the corrected standard error. I also used it to exemplify the difference of the normal kind of “exploratory university notebooks” (like the one given) and more professional grade ML projects, to give me better real-life context. It was also used to suggest an outline for this presentation, given my own notebooks.</a:t>
            </a:r>
            <a:endParaRPr sz="1100">
              <a:solidFill>
                <a:srgbClr val="5A5A5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ab1Plain">
  <a:themeElements>
    <a:clrScheme name="Lab1Plain">
      <a:dk1>
        <a:srgbClr val="1A1A1A"/>
      </a:dk1>
      <a:lt1>
        <a:srgbClr val="FFFFFF"/>
      </a:lt1>
      <a:dk2>
        <a:srgbClr val="5A5A5A"/>
      </a:dk2>
      <a:lt2>
        <a:srgbClr val="F2F2F2"/>
      </a:lt2>
      <a:accent1>
        <a:srgbClr val="4C72B0"/>
      </a:accent1>
      <a:accent2>
        <a:srgbClr val="DD8452"/>
      </a:accent2>
      <a:accent3>
        <a:srgbClr val="8C8C8C"/>
      </a:accent3>
      <a:accent4>
        <a:srgbClr val="C44E52"/>
      </a:accent4>
      <a:accent5>
        <a:srgbClr val="55A868"/>
      </a:accent5>
      <a:accent6>
        <a:srgbClr val="4C72B0"/>
      </a:accent6>
      <a:hlink>
        <a:srgbClr val="4C72B0"/>
      </a:hlink>
      <a:folHlink>
        <a:srgbClr val="5A5A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