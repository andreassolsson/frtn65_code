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The short version: eleven methods and 44 variants, one evaluation protocol written before any result, and at the top two models that are level on accuracy: a random forest and a kNN on the four strong features. The rule written in advance picks the simpler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song quieter than -20 dB is liked. 36 of the 43 songs above 0.33 speechiness, meaning rap or spoken parts, are disliked.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four are the classic families from the course; the two SVMs differ only in the kernel. All share the same preprocessing.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Bagging versus random forest is a controlled pair: the only difference is the random feature subsets, so their gap is what decorrelating the trees buys.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Trees do not need the scaler, but it changes no split, so every method keeps one pipeline shape.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numbers, ten splits, each variant against its own base on the same splits. Two lessons cross families. kNN and the RBF SVM measure distances, so they are the ones the input space matters to: robust scaling broke both, because instrumentalness is so spiked at zero that its interquartile range is nothing and dividing by it makes that one feature the whole distance. And the covariance methods and kNN gained from fewer features, while the line and the forest did not care.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 across models means the same answer from a line, a covariance, a distance, a kernel and two kinds of tree ensemble. Permutation importance undercounts a feature with a correlated twin: LDA barely uses loudness because energy and acousticness carry the same axis for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Nested CV means the score of a tuned method never saw its own validation fold during tuning. Writing the rule first is what makes the choice a judgment rather than picking the biggest number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comparison is paired. Read naively, everything above LDA looks the same.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is the corrected resampled t-test. The kNN on four features is the one variant the screen promoted, run here under the full protocol on the same 25 splits; it is the only method inside the one-error band. AdaBoost (0.808) and linear SVM (0.807) sit between RBF SVM and LDA and are left off for space; the full tables are in results/03-sweep.md and results/04-variants.md.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25 splits, the eleven methods plus the promoted variant. Ties go to the fewest tuned parameters, then the simpler method; both top models tune two, and kNN is the simpler. Three answers from five reasonable rules is the honest picture: the top eight are within about two errors of each other. Before the variants the strict rule picked the forest alone; the rule did not change, the table got one row longer.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picks the four-feature kNN: level with the forest on accuracy, the same number of tuned parameters, and a model you can explain in a sentence, a song is liked when the seven to eleven songs nearest to it on those four features mostly were.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had to defend the forest or logistic regression instead, I could: all three are within noise. The protocol said in advance which end of that trade-off I would take.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predict reproduces the string byte for byte.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sweep takes about 36 minutes on four cores, the four variant families and their synthesis about an hour and a quarter more; everything else runs in a minute or two.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1C33"/>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0" rIns="0">
            <a:spAutoFit/>
          </a:bodyPr>
          <a:lstStyle/>
          <a:p>
            <a:r>
              <a:rPr sz="4400" b="1">
                <a:solidFill>
                  <a:srgbClr val="FFFFFF"/>
                </a:solidFill>
                <a:latin typeface="Cambria"/>
              </a:rPr>
              <a:t>Predicting which songs Andreas likes</a:t>
            </a:r>
          </a:p>
          <a:p>
            <a:pPr>
              <a:spcBef>
                <a:spcPts val="1400"/>
              </a:spcBef>
            </a:pPr>
            <a:r>
              <a:rPr sz="2000" b="0">
                <a:solidFill>
                  <a:srgbClr val="C9BFD4"/>
                </a:solidFill>
                <a:latin typeface="Calibri"/>
              </a:rPr>
              <a:t>FRTN65 Lab 1, Andreas Olsson, October 2026</a:t>
            </a:r>
          </a:p>
        </p:txBody>
      </p:sp>
      <p:sp>
        <p:nvSpPr>
          <p:cNvPr id="3" name="Rounded Rectangle 2"/>
          <p:cNvSpPr/>
          <p:nvPr/>
        </p:nvSpPr>
        <p:spPr>
          <a:xfrm>
            <a:off x="548640" y="4206240"/>
            <a:ext cx="2533573" cy="1325880"/>
          </a:xfrm>
          <a:prstGeom prst="roundRect">
            <a:avLst>
              <a:gd name="adj" fmla="val 8000"/>
            </a:avLst>
          </a:prstGeom>
          <a:solidFill>
            <a:srgbClr val="3A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15968"/>
            <a:ext cx="2076373" cy="1143000"/>
          </a:xfrm>
          <a:prstGeom prst="rect">
            <a:avLst/>
          </a:prstGeom>
          <a:noFill/>
        </p:spPr>
        <p:txBody>
          <a:bodyPr wrap="square" lIns="0" rIns="0">
            <a:spAutoFit/>
          </a:bodyPr>
          <a:lstStyle/>
          <a:p>
            <a:r>
              <a:rPr sz="3400" b="1">
                <a:solidFill>
                  <a:srgbClr val="C98A12"/>
                </a:solidFill>
                <a:latin typeface="Cambria"/>
              </a:rPr>
              <a:t>736</a:t>
            </a:r>
          </a:p>
          <a:p>
            <a:r>
              <a:rPr sz="1300" b="0">
                <a:solidFill>
                  <a:srgbClr val="FFFFFF"/>
                </a:solidFill>
                <a:latin typeface="Calibri"/>
              </a:rPr>
              <a:t>labelled songs after dropping duplicates</a:t>
            </a:r>
          </a:p>
        </p:txBody>
      </p:sp>
      <p:sp>
        <p:nvSpPr>
          <p:cNvPr id="5" name="Rounded Rectangle 4"/>
          <p:cNvSpPr/>
          <p:nvPr/>
        </p:nvSpPr>
        <p:spPr>
          <a:xfrm>
            <a:off x="3402253" y="4206240"/>
            <a:ext cx="2533573" cy="1325880"/>
          </a:xfrm>
          <a:prstGeom prst="roundRect">
            <a:avLst>
              <a:gd name="adj" fmla="val 8000"/>
            </a:avLst>
          </a:prstGeom>
          <a:solidFill>
            <a:srgbClr val="3A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30853" y="4315968"/>
            <a:ext cx="2076373" cy="1143000"/>
          </a:xfrm>
          <a:prstGeom prst="rect">
            <a:avLst/>
          </a:prstGeom>
          <a:noFill/>
        </p:spPr>
        <p:txBody>
          <a:bodyPr wrap="square" lIns="0" rIns="0">
            <a:spAutoFit/>
          </a:bodyPr>
          <a:lstStyle/>
          <a:p>
            <a:r>
              <a:rPr sz="3400" b="1">
                <a:solidFill>
                  <a:srgbClr val="C98A12"/>
                </a:solidFill>
                <a:latin typeface="Cambria"/>
              </a:rPr>
              <a:t>11</a:t>
            </a:r>
          </a:p>
          <a:p>
            <a:r>
              <a:rPr sz="1300" b="0">
                <a:solidFill>
                  <a:srgbClr val="FFFFFF"/>
                </a:solidFill>
                <a:latin typeface="Calibri"/>
              </a:rPr>
              <a:t>methods through one protocol, then 44 variants of them</a:t>
            </a:r>
          </a:p>
        </p:txBody>
      </p:sp>
      <p:sp>
        <p:nvSpPr>
          <p:cNvPr id="7" name="Rounded Rectangle 6"/>
          <p:cNvSpPr/>
          <p:nvPr/>
        </p:nvSpPr>
        <p:spPr>
          <a:xfrm>
            <a:off x="6255867" y="4206240"/>
            <a:ext cx="2533573" cy="1325880"/>
          </a:xfrm>
          <a:prstGeom prst="roundRect">
            <a:avLst>
              <a:gd name="adj" fmla="val 8000"/>
            </a:avLst>
          </a:prstGeom>
          <a:solidFill>
            <a:srgbClr val="3A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4467" y="4315968"/>
            <a:ext cx="2076373" cy="1143000"/>
          </a:xfrm>
          <a:prstGeom prst="rect">
            <a:avLst/>
          </a:prstGeom>
          <a:noFill/>
        </p:spPr>
        <p:txBody>
          <a:bodyPr wrap="square" lIns="0" rIns="0">
            <a:spAutoFit/>
          </a:bodyPr>
          <a:lstStyle/>
          <a:p>
            <a:r>
              <a:rPr sz="3400" b="1">
                <a:solidFill>
                  <a:srgbClr val="C98A12"/>
                </a:solidFill>
                <a:latin typeface="Cambria"/>
              </a:rPr>
              <a:t>0.830</a:t>
            </a:r>
          </a:p>
          <a:p>
            <a:r>
              <a:rPr sz="1300" b="0">
                <a:solidFill>
                  <a:srgbClr val="FFFFFF"/>
                </a:solidFill>
                <a:latin typeface="Calibri"/>
              </a:rPr>
              <a:t>random forest, the best mean</a:t>
            </a:r>
          </a:p>
        </p:txBody>
      </p:sp>
      <p:sp>
        <p:nvSpPr>
          <p:cNvPr id="9" name="Rounded Rectangle 8"/>
          <p:cNvSpPr/>
          <p:nvPr/>
        </p:nvSpPr>
        <p:spPr>
          <a:xfrm>
            <a:off x="9109481" y="4206240"/>
            <a:ext cx="2533573" cy="1325880"/>
          </a:xfrm>
          <a:prstGeom prst="roundRect">
            <a:avLst>
              <a:gd name="adj" fmla="val 8000"/>
            </a:avLst>
          </a:prstGeom>
          <a:solidFill>
            <a:srgbClr val="3A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38081" y="4315968"/>
            <a:ext cx="2076373" cy="1143000"/>
          </a:xfrm>
          <a:prstGeom prst="rect">
            <a:avLst/>
          </a:prstGeom>
          <a:noFill/>
        </p:spPr>
        <p:txBody>
          <a:bodyPr wrap="square" lIns="0" rIns="0">
            <a:spAutoFit/>
          </a:bodyPr>
          <a:lstStyle/>
          <a:p>
            <a:r>
              <a:rPr sz="3400" b="1">
                <a:solidFill>
                  <a:srgbClr val="C98A12"/>
                </a:solidFill>
                <a:latin typeface="Cambria"/>
              </a:rPr>
              <a:t>0.826</a:t>
            </a:r>
          </a:p>
          <a:p>
            <a:r>
              <a:rPr sz="1300" b="0">
                <a:solidFill>
                  <a:srgbClr val="FFFFFF"/>
                </a:solidFill>
                <a:latin typeface="Calibri"/>
              </a:rPr>
              <a:t>kNN on four features, level with it and chosen by the rule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The data: one axis, loud versus acoustic</a:t>
            </a:r>
          </a:p>
        </p:txBody>
      </p:sp>
      <p:pic>
        <p:nvPicPr>
          <p:cNvPr id="3" name="Picture 2" descr="01-numeric-by-label.png"/>
          <p:cNvPicPr>
            <a:picLocks noChangeAspect="1"/>
          </p:cNvPicPr>
          <p:nvPr/>
        </p:nvPicPr>
        <p:blipFill>
          <a:blip r:embed="rId2"/>
          <a:stretch>
            <a:fillRect/>
          </a:stretch>
        </p:blipFill>
        <p:spPr>
          <a:xfrm>
            <a:off x="1939388" y="1371600"/>
            <a:ext cx="8312919" cy="3017520"/>
          </a:xfrm>
          <a:prstGeom prst="rect">
            <a:avLst/>
          </a:prstGeom>
        </p:spPr>
      </p:pic>
      <p:sp>
        <p:nvSpPr>
          <p:cNvPr id="4" name="TextBox 3"/>
          <p:cNvSpPr txBox="1"/>
          <p:nvPr/>
        </p:nvSpPr>
        <p:spPr>
          <a:xfrm>
            <a:off x="548640" y="4663440"/>
            <a:ext cx="11094415" cy="1920240"/>
          </a:xfrm>
          <a:prstGeom prst="rect">
            <a:avLst/>
          </a:prstGeom>
          <a:noFill/>
        </p:spPr>
        <p:txBody>
          <a:bodyPr wrap="square" lIns="0" rIns="0">
            <a:spAutoFit/>
          </a:bodyPr>
          <a:lstStyle/>
          <a:p>
            <a:pPr marL="256032" indent="-256032">
              <a:spcAft>
                <a:spcPts val="1000"/>
              </a:spcAft>
              <a:buChar char="•"/>
            </a:pPr>
            <a:r>
              <a:rPr sz="1500" b="0">
                <a:solidFill>
                  <a:srgbClr val="261C33"/>
                </a:solidFill>
                <a:latin typeface="Calibri"/>
              </a:rPr>
              <a:t>750 songs, 13 Spotify features, 60% liked, so always saying "like" scores 0.60</a:t>
            </a:r>
          </a:p>
          <a:p>
            <a:pPr marL="256032" indent="-256032">
              <a:spcAft>
                <a:spcPts val="1000"/>
              </a:spcAft>
              <a:buChar char="•"/>
            </a:pPr>
            <a:r>
              <a:rPr sz="1500" b="0">
                <a:solidFill>
                  <a:srgbClr val="261C33"/>
                </a:solidFill>
                <a:latin typeface="Calibri"/>
              </a:rPr>
              <a:t>Liked songs are quiet, acoustic and nearly free of speech</a:t>
            </a:r>
          </a:p>
          <a:p>
            <a:pPr marL="256032" indent="-256032">
              <a:spcAft>
                <a:spcPts val="1000"/>
              </a:spcAft>
              <a:buChar char="•"/>
            </a:pPr>
            <a:r>
              <a:rPr sz="1500" b="0">
                <a:solidFill>
                  <a:srgbClr val="261C33"/>
                </a:solidFill>
                <a:latin typeface="Calibri"/>
              </a:rPr>
              <a:t>Energy, loudness and acousticness are close to one feature (rank correlation up to 0.85)</a:t>
            </a:r>
          </a:p>
          <a:p>
            <a:pPr marL="256032" indent="-256032">
              <a:spcAft>
                <a:spcPts val="1000"/>
              </a:spcAft>
              <a:buChar char="•"/>
            </a:pPr>
            <a:r>
              <a:rPr sz="1500" b="0">
                <a:solidFill>
                  <a:srgbClr val="261C33"/>
                </a:solidFill>
                <a:latin typeface="Calibri"/>
              </a:rPr>
              <a:t>Speechiness is the strong signal that is not that axis</a:t>
            </a:r>
          </a:p>
          <a:p>
            <a:pPr marL="256032" indent="-256032">
              <a:spcAft>
                <a:spcPts val="1000"/>
              </a:spcAft>
              <a:buChar char="•"/>
            </a:pPr>
            <a:r>
              <a:rPr sz="1500" b="0">
                <a:solidFill>
                  <a:srgbClr val="261C33"/>
                </a:solidFill>
                <a:latin typeface="Calibri"/>
              </a:rPr>
              <a:t>Clean but not tidy: 12 songs repeated, heavy tails in duration, speechiness, instrumentalness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(1) The methods: lines, distances, densities</a:t>
            </a:r>
          </a:p>
        </p:txBody>
      </p:sp>
      <p:graphicFrame>
        <p:nvGraphicFramePr>
          <p:cNvPr id="3" name="Table 2"/>
          <p:cNvGraphicFramePr>
            <a:graphicFrameLocks noGrp="1"/>
          </p:cNvGraphicFramePr>
          <p:nvPr/>
        </p:nvGraphicFramePr>
        <p:xfrm>
          <a:off x="548640" y="1371600"/>
          <a:ext cx="11094413" cy="2688336"/>
        </p:xfrm>
        <a:graphic>
          <a:graphicData uri="http://schemas.openxmlformats.org/drawingml/2006/table">
            <a:tbl>
              <a:tblPr firstRow="1" bandRow="1">
                <a:tableStyleId>{5C22544A-7EE6-4342-B048-85BDC9FD1C3A}</a:tableStyleId>
              </a:tblPr>
              <a:tblGrid>
                <a:gridCol w="2291237"/>
                <a:gridCol w="7356079"/>
                <a:gridCol w="1447097"/>
              </a:tblGrid>
              <a:tr h="384048">
                <a:tc>
                  <a:txBody>
                    <a:bodyPr/>
                    <a:lstStyle/>
                    <a:p>
                      <a:r>
                        <a:rPr sz="1400" b="1">
                          <a:solidFill>
                            <a:srgbClr val="FFFFFF"/>
                          </a:solidFill>
                          <a:latin typeface="Calibri"/>
                        </a:rPr>
                        <a:t>method</a:t>
                      </a:r>
                    </a:p>
                  </a:txBody>
                  <a:tcPr marL="91440" marR="91440">
                    <a:solidFill>
                      <a:srgbClr val="261C33"/>
                    </a:solidFill>
                  </a:tcPr>
                </a:tc>
                <a:tc>
                  <a:txBody>
                    <a:bodyPr/>
                    <a:lstStyle/>
                    <a:p>
                      <a:r>
                        <a:rPr sz="1400" b="1">
                          <a:solidFill>
                            <a:srgbClr val="FFFFFF"/>
                          </a:solidFill>
                          <a:latin typeface="Calibri"/>
                        </a:rPr>
                        <a:t>what it does</a:t>
                      </a:r>
                    </a:p>
                  </a:txBody>
                  <a:tcPr marL="91440" marR="91440">
                    <a:solidFill>
                      <a:srgbClr val="261C33"/>
                    </a:solidFill>
                  </a:tcPr>
                </a:tc>
                <a:tc>
                  <a:txBody>
                    <a:bodyPr/>
                    <a:lstStyle/>
                    <a:p>
                      <a:r>
                        <a:rPr sz="1400" b="1">
                          <a:solidFill>
                            <a:srgbClr val="FFFFFF"/>
                          </a:solidFill>
                          <a:latin typeface="Calibri"/>
                        </a:rPr>
                        <a:t>tuned</a:t>
                      </a:r>
                    </a:p>
                  </a:txBody>
                  <a:tcPr marL="91440" marR="91440">
                    <a:solidFill>
                      <a:srgbClr val="261C33"/>
                    </a:solidFill>
                  </a:tcPr>
                </a:tc>
              </a:tr>
              <a:tr h="384048">
                <a:tc>
                  <a:txBody>
                    <a:bodyPr/>
                    <a:lstStyle/>
                    <a:p>
                      <a:r>
                        <a:rPr sz="1400" b="1">
                          <a:solidFill>
                            <a:srgbClr val="261C33"/>
                          </a:solidFill>
                          <a:latin typeface="Calibri"/>
                        </a:rPr>
                        <a:t>Logistic regression</a:t>
                      </a:r>
                    </a:p>
                  </a:txBody>
                  <a:tcPr marL="91440" marR="91440">
                    <a:solidFill>
                      <a:srgbClr val="F3EFF6"/>
                    </a:solidFill>
                  </a:tcPr>
                </a:tc>
                <a:tc>
                  <a:txBody>
                    <a:bodyPr/>
                    <a:lstStyle/>
                    <a:p>
                      <a:r>
                        <a:rPr sz="1400" b="0">
                          <a:solidFill>
                            <a:srgbClr val="261C33"/>
                          </a:solidFill>
                          <a:latin typeface="Calibri"/>
                        </a:rPr>
                        <a:t>linear log-odds, L2 shrinkage</a:t>
                      </a:r>
                    </a:p>
                  </a:txBody>
                  <a:tcPr marL="91440" marR="91440">
                    <a:solidFill>
                      <a:srgbClr val="F3EFF6"/>
                    </a:solidFill>
                  </a:tcPr>
                </a:tc>
                <a:tc>
                  <a:txBody>
                    <a:bodyPr/>
                    <a:lstStyle/>
                    <a:p>
                      <a:r>
                        <a:rPr sz="1400" b="0">
                          <a:solidFill>
                            <a:srgbClr val="261C33"/>
                          </a:solidFill>
                          <a:latin typeface="Calibri"/>
                        </a:rPr>
                        <a:t>C</a:t>
                      </a:r>
                    </a:p>
                  </a:txBody>
                  <a:tcPr marL="91440" marR="91440">
                    <a:solidFill>
                      <a:srgbClr val="F3EFF6"/>
                    </a:solidFill>
                  </a:tcPr>
                </a:tc>
              </a:tr>
              <a:tr h="384048">
                <a:tc>
                  <a:txBody>
                    <a:bodyPr/>
                    <a:lstStyle/>
                    <a:p>
                      <a:r>
                        <a:rPr sz="1400" b="1">
                          <a:solidFill>
                            <a:srgbClr val="261C33"/>
                          </a:solidFill>
                          <a:latin typeface="Calibri"/>
                        </a:rPr>
                        <a:t>LDA</a:t>
                      </a:r>
                    </a:p>
                  </a:txBody>
                  <a:tcPr marL="91440" marR="91440">
                    <a:solidFill>
                      <a:srgbClr val="FFFFFF"/>
                    </a:solidFill>
                  </a:tcPr>
                </a:tc>
                <a:tc>
                  <a:txBody>
                    <a:bodyPr/>
                    <a:lstStyle/>
                    <a:p>
                      <a:r>
                        <a:rPr sz="1400" b="0">
                          <a:solidFill>
                            <a:srgbClr val="261C33"/>
                          </a:solidFill>
                          <a:latin typeface="Calibri"/>
                        </a:rPr>
                        <a:t>Gaussian classes, one shared covariance, so a linear boundary</a:t>
                      </a:r>
                    </a:p>
                  </a:txBody>
                  <a:tcPr marL="91440" marR="91440">
                    <a:solidFill>
                      <a:srgbClr val="FFFFFF"/>
                    </a:solidFill>
                  </a:tcPr>
                </a:tc>
                <a:tc>
                  <a:txBody>
                    <a:bodyPr/>
                    <a:lstStyle/>
                    <a:p>
                      <a:r>
                        <a:rPr sz="1400" b="0">
                          <a:solidFill>
                            <a:srgbClr val="261C33"/>
                          </a:solidFill>
                          <a:latin typeface="Calibri"/>
                        </a:rPr>
                        <a:t>nothing</a:t>
                      </a:r>
                    </a:p>
                  </a:txBody>
                  <a:tcPr marL="91440" marR="91440">
                    <a:solidFill>
                      <a:srgbClr val="FFFFFF"/>
                    </a:solidFill>
                  </a:tcPr>
                </a:tc>
              </a:tr>
              <a:tr h="384048">
                <a:tc>
                  <a:txBody>
                    <a:bodyPr/>
                    <a:lstStyle/>
                    <a:p>
                      <a:r>
                        <a:rPr sz="1400" b="1">
                          <a:solidFill>
                            <a:srgbClr val="261C33"/>
                          </a:solidFill>
                          <a:latin typeface="Calibri"/>
                        </a:rPr>
                        <a:t>QDA</a:t>
                      </a:r>
                    </a:p>
                  </a:txBody>
                  <a:tcPr marL="91440" marR="91440">
                    <a:solidFill>
                      <a:srgbClr val="F3EFF6"/>
                    </a:solidFill>
                  </a:tcPr>
                </a:tc>
                <a:tc>
                  <a:txBody>
                    <a:bodyPr/>
                    <a:lstStyle/>
                    <a:p>
                      <a:r>
                        <a:rPr sz="1400" b="0">
                          <a:solidFill>
                            <a:srgbClr val="261C33"/>
                          </a:solidFill>
                          <a:latin typeface="Calibri"/>
                        </a:rPr>
                        <a:t>a covariance per class, so a quadratic boundary</a:t>
                      </a:r>
                    </a:p>
                  </a:txBody>
                  <a:tcPr marL="91440" marR="91440">
                    <a:solidFill>
                      <a:srgbClr val="F3EFF6"/>
                    </a:solidFill>
                  </a:tcPr>
                </a:tc>
                <a:tc>
                  <a:txBody>
                    <a:bodyPr/>
                    <a:lstStyle/>
                    <a:p>
                      <a:r>
                        <a:rPr sz="1400" b="0">
                          <a:solidFill>
                            <a:srgbClr val="261C33"/>
                          </a:solidFill>
                          <a:latin typeface="Calibri"/>
                        </a:rPr>
                        <a:t>shrinkage</a:t>
                      </a:r>
                    </a:p>
                  </a:txBody>
                  <a:tcPr marL="91440" marR="91440">
                    <a:solidFill>
                      <a:srgbClr val="F3EFF6"/>
                    </a:solidFill>
                  </a:tcPr>
                </a:tc>
              </a:tr>
              <a:tr h="384048">
                <a:tc>
                  <a:txBody>
                    <a:bodyPr/>
                    <a:lstStyle/>
                    <a:p>
                      <a:r>
                        <a:rPr sz="1400" b="1">
                          <a:solidFill>
                            <a:srgbClr val="261C33"/>
                          </a:solidFill>
                          <a:latin typeface="Calibri"/>
                        </a:rPr>
                        <a:t>kNN</a:t>
                      </a:r>
                    </a:p>
                  </a:txBody>
                  <a:tcPr marL="91440" marR="91440">
                    <a:solidFill>
                      <a:srgbClr val="FFFFFF"/>
                    </a:solidFill>
                  </a:tcPr>
                </a:tc>
                <a:tc>
                  <a:txBody>
                    <a:bodyPr/>
                    <a:lstStyle/>
                    <a:p>
                      <a:r>
                        <a:rPr sz="1400" b="0">
                          <a:solidFill>
                            <a:srgbClr val="261C33"/>
                          </a:solidFill>
                          <a:latin typeface="Calibri"/>
                        </a:rPr>
                        <a:t>majority vote among the k closest songs</a:t>
                      </a:r>
                    </a:p>
                  </a:txBody>
                  <a:tcPr marL="91440" marR="91440">
                    <a:solidFill>
                      <a:srgbClr val="FFFFFF"/>
                    </a:solidFill>
                  </a:tcPr>
                </a:tc>
                <a:tc>
                  <a:txBody>
                    <a:bodyPr/>
                    <a:lstStyle/>
                    <a:p>
                      <a:r>
                        <a:rPr sz="1400" b="0">
                          <a:solidFill>
                            <a:srgbClr val="261C33"/>
                          </a:solidFill>
                          <a:latin typeface="Calibri"/>
                        </a:rPr>
                        <a:t>k, weighting</a:t>
                      </a:r>
                    </a:p>
                  </a:txBody>
                  <a:tcPr marL="91440" marR="91440">
                    <a:solidFill>
                      <a:srgbClr val="FFFFFF"/>
                    </a:solidFill>
                  </a:tcPr>
                </a:tc>
              </a:tr>
              <a:tr h="384048">
                <a:tc>
                  <a:txBody>
                    <a:bodyPr/>
                    <a:lstStyle/>
                    <a:p>
                      <a:r>
                        <a:rPr sz="1400" b="1">
                          <a:solidFill>
                            <a:srgbClr val="261C33"/>
                          </a:solidFill>
                          <a:latin typeface="Calibri"/>
                        </a:rPr>
                        <a:t>Linear SVM</a:t>
                      </a:r>
                    </a:p>
                  </a:txBody>
                  <a:tcPr marL="91440" marR="91440">
                    <a:solidFill>
                      <a:srgbClr val="F3EFF6"/>
                    </a:solidFill>
                  </a:tcPr>
                </a:tc>
                <a:tc>
                  <a:txBody>
                    <a:bodyPr/>
                    <a:lstStyle/>
                    <a:p>
                      <a:r>
                        <a:rPr sz="1400" b="0">
                          <a:solidFill>
                            <a:srgbClr val="261C33"/>
                          </a:solidFill>
                          <a:latin typeface="Calibri"/>
                        </a:rPr>
                        <a:t>widest-margin hyperplane, soft margin</a:t>
                      </a:r>
                    </a:p>
                  </a:txBody>
                  <a:tcPr marL="91440" marR="91440">
                    <a:solidFill>
                      <a:srgbClr val="F3EFF6"/>
                    </a:solidFill>
                  </a:tcPr>
                </a:tc>
                <a:tc>
                  <a:txBody>
                    <a:bodyPr/>
                    <a:lstStyle/>
                    <a:p>
                      <a:r>
                        <a:rPr sz="1400" b="0">
                          <a:solidFill>
                            <a:srgbClr val="261C33"/>
                          </a:solidFill>
                          <a:latin typeface="Calibri"/>
                        </a:rPr>
                        <a:t>C</a:t>
                      </a:r>
                    </a:p>
                  </a:txBody>
                  <a:tcPr marL="91440" marR="91440">
                    <a:solidFill>
                      <a:srgbClr val="F3EFF6"/>
                    </a:solidFill>
                  </a:tcPr>
                </a:tc>
              </a:tr>
              <a:tr h="384048">
                <a:tc>
                  <a:txBody>
                    <a:bodyPr/>
                    <a:lstStyle/>
                    <a:p>
                      <a:r>
                        <a:rPr sz="1400" b="1">
                          <a:solidFill>
                            <a:srgbClr val="261C33"/>
                          </a:solidFill>
                          <a:latin typeface="Calibri"/>
                        </a:rPr>
                        <a:t>RBF SVM</a:t>
                      </a:r>
                    </a:p>
                  </a:txBody>
                  <a:tcPr marL="91440" marR="91440">
                    <a:solidFill>
                      <a:srgbClr val="FFFFFF"/>
                    </a:solidFill>
                  </a:tcPr>
                </a:tc>
                <a:tc>
                  <a:txBody>
                    <a:bodyPr/>
                    <a:lstStyle/>
                    <a:p>
                      <a:r>
                        <a:rPr sz="1400" b="0">
                          <a:solidFill>
                            <a:srgbClr val="261C33"/>
                          </a:solidFill>
                          <a:latin typeface="Calibri"/>
                        </a:rPr>
                        <a:t>the same margin in a kernel space, curved boundary</a:t>
                      </a:r>
                    </a:p>
                  </a:txBody>
                  <a:tcPr marL="91440" marR="91440">
                    <a:solidFill>
                      <a:srgbClr val="FFFFFF"/>
                    </a:solidFill>
                  </a:tcPr>
                </a:tc>
                <a:tc>
                  <a:txBody>
                    <a:bodyPr/>
                    <a:lstStyle/>
                    <a:p>
                      <a:r>
                        <a:rPr sz="1400" b="0">
                          <a:solidFill>
                            <a:srgbClr val="261C33"/>
                          </a:solidFill>
                          <a:latin typeface="Calibri"/>
                        </a:rPr>
                        <a:t>C, gamma</a:t>
                      </a:r>
                    </a:p>
                  </a:txBody>
                  <a:tcPr marL="91440" marR="91440">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(1) The methods: trees and their ensembles</a:t>
            </a:r>
          </a:p>
        </p:txBody>
      </p:sp>
      <p:graphicFrame>
        <p:nvGraphicFramePr>
          <p:cNvPr id="3" name="Table 2"/>
          <p:cNvGraphicFramePr>
            <a:graphicFrameLocks noGrp="1"/>
          </p:cNvGraphicFramePr>
          <p:nvPr/>
        </p:nvGraphicFramePr>
        <p:xfrm>
          <a:off x="548640" y="1371600"/>
          <a:ext cx="11094413" cy="2688336"/>
        </p:xfrm>
        <a:graphic>
          <a:graphicData uri="http://schemas.openxmlformats.org/drawingml/2006/table">
            <a:tbl>
              <a:tblPr firstRow="1" bandRow="1">
                <a:tableStyleId>{5C22544A-7EE6-4342-B048-85BDC9FD1C3A}</a:tableStyleId>
              </a:tblPr>
              <a:tblGrid>
                <a:gridCol w="1699144"/>
                <a:gridCol w="6496729"/>
                <a:gridCol w="2898540"/>
              </a:tblGrid>
              <a:tr h="384048">
                <a:tc>
                  <a:txBody>
                    <a:bodyPr/>
                    <a:lstStyle/>
                    <a:p>
                      <a:r>
                        <a:rPr sz="1400" b="1">
                          <a:solidFill>
                            <a:srgbClr val="FFFFFF"/>
                          </a:solidFill>
                          <a:latin typeface="Calibri"/>
                        </a:rPr>
                        <a:t>method</a:t>
                      </a:r>
                    </a:p>
                  </a:txBody>
                  <a:tcPr marL="91440" marR="91440">
                    <a:solidFill>
                      <a:srgbClr val="261C33"/>
                    </a:solidFill>
                  </a:tcPr>
                </a:tc>
                <a:tc>
                  <a:txBody>
                    <a:bodyPr/>
                    <a:lstStyle/>
                    <a:p>
                      <a:r>
                        <a:rPr sz="1400" b="1">
                          <a:solidFill>
                            <a:srgbClr val="FFFFFF"/>
                          </a:solidFill>
                          <a:latin typeface="Calibri"/>
                        </a:rPr>
                        <a:t>what it does</a:t>
                      </a:r>
                    </a:p>
                  </a:txBody>
                  <a:tcPr marL="91440" marR="91440">
                    <a:solidFill>
                      <a:srgbClr val="261C33"/>
                    </a:solidFill>
                  </a:tcPr>
                </a:tc>
                <a:tc>
                  <a:txBody>
                    <a:bodyPr/>
                    <a:lstStyle/>
                    <a:p>
                      <a:r>
                        <a:rPr sz="1400" b="1">
                          <a:solidFill>
                            <a:srgbClr val="FFFFFF"/>
                          </a:solidFill>
                          <a:latin typeface="Calibri"/>
                        </a:rPr>
                        <a:t>tuned</a:t>
                      </a:r>
                    </a:p>
                  </a:txBody>
                  <a:tcPr marL="91440" marR="91440">
                    <a:solidFill>
                      <a:srgbClr val="261C33"/>
                    </a:solidFill>
                  </a:tcPr>
                </a:tc>
              </a:tr>
              <a:tr h="384048">
                <a:tc>
                  <a:txBody>
                    <a:bodyPr/>
                    <a:lstStyle/>
                    <a:p>
                      <a:r>
                        <a:rPr sz="1400" b="1">
                          <a:solidFill>
                            <a:srgbClr val="261C33"/>
                          </a:solidFill>
                          <a:latin typeface="Calibri"/>
                        </a:rPr>
                        <a:t>Decision tree</a:t>
                      </a:r>
                    </a:p>
                  </a:txBody>
                  <a:tcPr marL="91440" marR="91440">
                    <a:solidFill>
                      <a:srgbClr val="F3EFF6"/>
                    </a:solidFill>
                  </a:tcPr>
                </a:tc>
                <a:tc>
                  <a:txBody>
                    <a:bodyPr/>
                    <a:lstStyle/>
                    <a:p>
                      <a:r>
                        <a:rPr sz="1400" b="0">
                          <a:solidFill>
                            <a:srgbClr val="261C33"/>
                          </a:solidFill>
                          <a:latin typeface="Calibri"/>
                        </a:rPr>
                        <a:t>recursive threshold splits, one tree</a:t>
                      </a:r>
                    </a:p>
                  </a:txBody>
                  <a:tcPr marL="91440" marR="91440">
                    <a:solidFill>
                      <a:srgbClr val="F3EFF6"/>
                    </a:solidFill>
                  </a:tcPr>
                </a:tc>
                <a:tc>
                  <a:txBody>
                    <a:bodyPr/>
                    <a:lstStyle/>
                    <a:p>
                      <a:r>
                        <a:rPr sz="1400" b="0">
                          <a:solidFill>
                            <a:srgbClr val="261C33"/>
                          </a:solidFill>
                          <a:latin typeface="Calibri"/>
                        </a:rPr>
                        <a:t>depth, leaf size</a:t>
                      </a:r>
                    </a:p>
                  </a:txBody>
                  <a:tcPr marL="91440" marR="91440">
                    <a:solidFill>
                      <a:srgbClr val="F3EFF6"/>
                    </a:solidFill>
                  </a:tcPr>
                </a:tc>
              </a:tr>
              <a:tr h="384048">
                <a:tc>
                  <a:txBody>
                    <a:bodyPr/>
                    <a:lstStyle/>
                    <a:p>
                      <a:r>
                        <a:rPr sz="1400" b="1">
                          <a:solidFill>
                            <a:srgbClr val="261C33"/>
                          </a:solidFill>
                          <a:latin typeface="Calibri"/>
                        </a:rPr>
                        <a:t>Bagging</a:t>
                      </a:r>
                    </a:p>
                  </a:txBody>
                  <a:tcPr marL="91440" marR="91440">
                    <a:solidFill>
                      <a:srgbClr val="FFFFFF"/>
                    </a:solidFill>
                  </a:tcPr>
                </a:tc>
                <a:tc>
                  <a:txBody>
                    <a:bodyPr/>
                    <a:lstStyle/>
                    <a:p>
                      <a:r>
                        <a:rPr sz="1400" b="0">
                          <a:solidFill>
                            <a:srgbClr val="261C33"/>
                          </a:solidFill>
                          <a:latin typeface="Calibri"/>
                        </a:rPr>
                        <a:t>300 deep trees on bootstrap samples, averaged</a:t>
                      </a:r>
                    </a:p>
                  </a:txBody>
                  <a:tcPr marL="91440" marR="91440">
                    <a:solidFill>
                      <a:srgbClr val="FFFFFF"/>
                    </a:solidFill>
                  </a:tcPr>
                </a:tc>
                <a:tc>
                  <a:txBody>
                    <a:bodyPr/>
                    <a:lstStyle/>
                    <a:p>
                      <a:r>
                        <a:rPr sz="1400" b="0">
                          <a:solidFill>
                            <a:srgbClr val="261C33"/>
                          </a:solidFill>
                          <a:latin typeface="Calibri"/>
                        </a:rPr>
                        <a:t>leaf size</a:t>
                      </a:r>
                    </a:p>
                  </a:txBody>
                  <a:tcPr marL="91440" marR="91440">
                    <a:solidFill>
                      <a:srgbClr val="FFFFFF"/>
                    </a:solidFill>
                  </a:tcPr>
                </a:tc>
              </a:tr>
              <a:tr h="384048">
                <a:tc>
                  <a:txBody>
                    <a:bodyPr/>
                    <a:lstStyle/>
                    <a:p>
                      <a:r>
                        <a:rPr sz="1400" b="1">
                          <a:solidFill>
                            <a:srgbClr val="261C33"/>
                          </a:solidFill>
                          <a:latin typeface="Calibri"/>
                        </a:rPr>
                        <a:t>Random forest</a:t>
                      </a:r>
                    </a:p>
                  </a:txBody>
                  <a:tcPr marL="91440" marR="91440">
                    <a:solidFill>
                      <a:srgbClr val="F3EFF6"/>
                    </a:solidFill>
                  </a:tcPr>
                </a:tc>
                <a:tc>
                  <a:txBody>
                    <a:bodyPr/>
                    <a:lstStyle/>
                    <a:p>
                      <a:r>
                        <a:rPr sz="1400" b="0">
                          <a:solidFill>
                            <a:srgbClr val="261C33"/>
                          </a:solidFill>
                          <a:latin typeface="Calibri"/>
                        </a:rPr>
                        <a:t>bagging, but each split sees a random subset of features</a:t>
                      </a:r>
                    </a:p>
                  </a:txBody>
                  <a:tcPr marL="91440" marR="91440">
                    <a:solidFill>
                      <a:srgbClr val="F3EFF6"/>
                    </a:solidFill>
                  </a:tcPr>
                </a:tc>
                <a:tc>
                  <a:txBody>
                    <a:bodyPr/>
                    <a:lstStyle/>
                    <a:p>
                      <a:r>
                        <a:rPr sz="1400" b="0">
                          <a:solidFill>
                            <a:srgbClr val="261C33"/>
                          </a:solidFill>
                          <a:latin typeface="Calibri"/>
                        </a:rPr>
                        <a:t>features per split, leaf size</a:t>
                      </a:r>
                    </a:p>
                  </a:txBody>
                  <a:tcPr marL="91440" marR="91440">
                    <a:solidFill>
                      <a:srgbClr val="F3EFF6"/>
                    </a:solidFill>
                  </a:tcPr>
                </a:tc>
              </a:tr>
              <a:tr h="384048">
                <a:tc>
                  <a:txBody>
                    <a:bodyPr/>
                    <a:lstStyle/>
                    <a:p>
                      <a:r>
                        <a:rPr sz="1400" b="1">
                          <a:solidFill>
                            <a:srgbClr val="261C33"/>
                          </a:solidFill>
                          <a:latin typeface="Calibri"/>
                        </a:rPr>
                        <a:t>Gradient boosting</a:t>
                      </a:r>
                    </a:p>
                  </a:txBody>
                  <a:tcPr marL="91440" marR="91440">
                    <a:solidFill>
                      <a:srgbClr val="FFFFFF"/>
                    </a:solidFill>
                  </a:tcPr>
                </a:tc>
                <a:tc>
                  <a:txBody>
                    <a:bodyPr/>
                    <a:lstStyle/>
                    <a:p>
                      <a:r>
                        <a:rPr sz="1400" b="0">
                          <a:solidFill>
                            <a:srgbClr val="261C33"/>
                          </a:solidFill>
                          <a:latin typeface="Calibri"/>
                        </a:rPr>
                        <a:t>shallow trees added one by one, each fixing the last one's errors</a:t>
                      </a:r>
                    </a:p>
                  </a:txBody>
                  <a:tcPr marL="91440" marR="91440">
                    <a:solidFill>
                      <a:srgbClr val="FFFFFF"/>
                    </a:solidFill>
                  </a:tcPr>
                </a:tc>
                <a:tc>
                  <a:txBody>
                    <a:bodyPr/>
                    <a:lstStyle/>
                    <a:p>
                      <a:r>
                        <a:rPr sz="1400" b="0">
                          <a:solidFill>
                            <a:srgbClr val="261C33"/>
                          </a:solidFill>
                          <a:latin typeface="Calibri"/>
                        </a:rPr>
                        <a:t>rate, depth, rounds</a:t>
                      </a:r>
                    </a:p>
                  </a:txBody>
                  <a:tcPr marL="91440" marR="91440">
                    <a:solidFill>
                      <a:srgbClr val="FFFFFF"/>
                    </a:solidFill>
                  </a:tcPr>
                </a:tc>
              </a:tr>
              <a:tr h="384048">
                <a:tc>
                  <a:txBody>
                    <a:bodyPr/>
                    <a:lstStyle/>
                    <a:p>
                      <a:r>
                        <a:rPr sz="1400" b="1">
                          <a:solidFill>
                            <a:srgbClr val="261C33"/>
                          </a:solidFill>
                          <a:latin typeface="Calibri"/>
                        </a:rPr>
                        <a:t>AdaBoost</a:t>
                      </a:r>
                    </a:p>
                  </a:txBody>
                  <a:tcPr marL="91440" marR="91440">
                    <a:solidFill>
                      <a:srgbClr val="F3EFF6"/>
                    </a:solidFill>
                  </a:tcPr>
                </a:tc>
                <a:tc>
                  <a:txBody>
                    <a:bodyPr/>
                    <a:lstStyle/>
                    <a:p>
                      <a:r>
                        <a:rPr sz="1400" b="0">
                          <a:solidFill>
                            <a:srgbClr val="261C33"/>
                          </a:solidFill>
                          <a:latin typeface="Calibri"/>
                        </a:rPr>
                        <a:t>stumps, reweighting the songs the previous ones got wrong</a:t>
                      </a:r>
                    </a:p>
                  </a:txBody>
                  <a:tcPr marL="91440" marR="91440">
                    <a:solidFill>
                      <a:srgbClr val="F3EFF6"/>
                    </a:solidFill>
                  </a:tcPr>
                </a:tc>
                <a:tc>
                  <a:txBody>
                    <a:bodyPr/>
                    <a:lstStyle/>
                    <a:p>
                      <a:r>
                        <a:rPr sz="1400" b="0">
                          <a:solidFill>
                            <a:srgbClr val="261C33"/>
                          </a:solidFill>
                          <a:latin typeface="Calibri"/>
                        </a:rPr>
                        <a:t>rate, rounds</a:t>
                      </a:r>
                    </a:p>
                  </a:txBody>
                  <a:tcPr marL="91440" marR="91440">
                    <a:solidFill>
                      <a:srgbClr val="F3EFF6"/>
                    </a:solidFill>
                  </a:tcPr>
                </a:tc>
              </a:tr>
              <a:tr h="384048">
                <a:tc>
                  <a:txBody>
                    <a:bodyPr/>
                    <a:lstStyle/>
                    <a:p>
                      <a:r>
                        <a:rPr sz="1400" b="1">
                          <a:solidFill>
                            <a:srgbClr val="261C33"/>
                          </a:solidFill>
                          <a:latin typeface="Calibri"/>
                        </a:rPr>
                        <a:t>Dummy</a:t>
                      </a:r>
                    </a:p>
                  </a:txBody>
                  <a:tcPr marL="91440" marR="91440">
                    <a:solidFill>
                      <a:srgbClr val="FFFFFF"/>
                    </a:solidFill>
                  </a:tcPr>
                </a:tc>
                <a:tc>
                  <a:txBody>
                    <a:bodyPr/>
                    <a:lstStyle/>
                    <a:p>
                      <a:r>
                        <a:rPr sz="1400" b="0">
                          <a:solidFill>
                            <a:srgbClr val="261C33"/>
                          </a:solidFill>
                          <a:latin typeface="Calibri"/>
                        </a:rPr>
                        <a:t>always "like", the floor</a:t>
                      </a:r>
                    </a:p>
                  </a:txBody>
                  <a:tcPr marL="91440" marR="91440">
                    <a:solidFill>
                      <a:srgbClr val="FFFFFF"/>
                    </a:solidFill>
                  </a:tcPr>
                </a:tc>
                <a:tc>
                  <a:txBody>
                    <a:bodyPr/>
                    <a:lstStyle/>
                    <a:p>
                      <a:r>
                        <a:rPr sz="1400" b="0">
                          <a:solidFill>
                            <a:srgbClr val="261C33"/>
                          </a:solidFill>
                          <a:latin typeface="Calibri"/>
                        </a:rPr>
                        <a:t>nothing</a:t>
                      </a:r>
                    </a:p>
                  </a:txBody>
                  <a:tcPr marL="91440" marR="91440">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(2) How the inputs went in</a:t>
            </a:r>
          </a:p>
        </p:txBody>
      </p:sp>
      <p:pic>
        <p:nvPicPr>
          <p:cNvPr id="3" name="Picture 2" descr="01-categorical-by-label.png"/>
          <p:cNvPicPr>
            <a:picLocks noChangeAspect="1"/>
          </p:cNvPicPr>
          <p:nvPr/>
        </p:nvPicPr>
        <p:blipFill>
          <a:blip r:embed="rId2"/>
          <a:stretch>
            <a:fillRect/>
          </a:stretch>
        </p:blipFill>
        <p:spPr>
          <a:xfrm>
            <a:off x="956498" y="1371600"/>
            <a:ext cx="10278699" cy="3017520"/>
          </a:xfrm>
          <a:prstGeom prst="rect">
            <a:avLst/>
          </a:prstGeom>
        </p:spPr>
      </p:pic>
      <p:sp>
        <p:nvSpPr>
          <p:cNvPr id="4" name="TextBox 3"/>
          <p:cNvSpPr txBox="1"/>
          <p:nvPr/>
        </p:nvSpPr>
        <p:spPr>
          <a:xfrm>
            <a:off x="548640" y="4663440"/>
            <a:ext cx="11094415" cy="1920240"/>
          </a:xfrm>
          <a:prstGeom prst="rect">
            <a:avLst/>
          </a:prstGeom>
          <a:noFill/>
        </p:spPr>
        <p:txBody>
          <a:bodyPr wrap="square" lIns="0" rIns="0">
            <a:spAutoFit/>
          </a:bodyPr>
          <a:lstStyle/>
          <a:p>
            <a:pPr marL="256032" indent="-256032">
              <a:spcAft>
                <a:spcPts val="1000"/>
              </a:spcAft>
              <a:buChar char="•"/>
            </a:pPr>
            <a:r>
              <a:rPr sz="1500" b="0">
                <a:solidFill>
                  <a:srgbClr val="261C33"/>
                </a:solidFill>
                <a:latin typeface="Calibri"/>
              </a:rPr>
              <a:t>All 13 features in every method of the comparison; the variants then tried subsets, and only the distance and covariance methods gained from dropping to the four strong ones</a:t>
            </a:r>
          </a:p>
          <a:p>
            <a:pPr marL="256032" indent="-256032">
              <a:spcAft>
                <a:spcPts val="1000"/>
              </a:spcAft>
              <a:buChar char="•"/>
            </a:pPr>
            <a:r>
              <a:rPr sz="1500" b="0">
                <a:solidFill>
                  <a:srgbClr val="261C33"/>
                </a:solidFill>
                <a:latin typeface="Calibri"/>
              </a:rPr>
              <a:t>10 numeric features, standardised</a:t>
            </a:r>
          </a:p>
          <a:p>
            <a:pPr marL="256032" indent="-256032">
              <a:spcAft>
                <a:spcPts val="1000"/>
              </a:spcAft>
              <a:buChar char="•"/>
            </a:pPr>
            <a:r>
              <a:rPr sz="1500" b="0">
                <a:solidFill>
                  <a:srgbClr val="261C33"/>
                </a:solidFill>
                <a:latin typeface="Calibri"/>
              </a:rPr>
              <a:t>key, mode and time_signature treated as qualitative and one-hot encoded: key 11 is not "more" than key 0, and meters are distinct, not points on a scale</a:t>
            </a:r>
          </a:p>
          <a:p>
            <a:pPr marL="256032" indent="-256032">
              <a:spcAft>
                <a:spcPts val="1000"/>
              </a:spcAft>
              <a:buChar char="•"/>
            </a:pPr>
            <a:r>
              <a:rPr sz="1500" b="0">
                <a:solidFill>
                  <a:srgbClr val="261C33"/>
                </a:solidFill>
                <a:latin typeface="Calibri"/>
              </a:rPr>
              <a:t>14 exact duplicate rows dropped before any split, so a song cannot sit in its own validation fold</a:t>
            </a:r>
          </a:p>
          <a:p>
            <a:pPr marL="256032" indent="-256032">
              <a:spcAft>
                <a:spcPts val="1000"/>
              </a:spcAft>
              <a:buChar char="•"/>
            </a:pPr>
            <a:r>
              <a:rPr sz="1500" b="0">
                <a:solidFill>
                  <a:srgbClr val="261C33"/>
                </a:solidFill>
                <a:latin typeface="Calibri"/>
              </a:rPr>
              <a:t>Scaling and encoding live inside each model's pipeline, learned on the training part only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(2) What the knobs did, family by family</a:t>
            </a:r>
          </a:p>
        </p:txBody>
      </p:sp>
      <p:graphicFrame>
        <p:nvGraphicFramePr>
          <p:cNvPr id="3" name="Table 2"/>
          <p:cNvGraphicFramePr>
            <a:graphicFrameLocks noGrp="1"/>
          </p:cNvGraphicFramePr>
          <p:nvPr/>
        </p:nvGraphicFramePr>
        <p:xfrm>
          <a:off x="548640" y="1371600"/>
          <a:ext cx="11094414" cy="2304288"/>
        </p:xfrm>
        <a:graphic>
          <a:graphicData uri="http://schemas.openxmlformats.org/drawingml/2006/table">
            <a:tbl>
              <a:tblPr firstRow="1" bandRow="1">
                <a:tableStyleId>{5C22544A-7EE6-4342-B048-85BDC9FD1C3A}</a:tableStyleId>
              </a:tblPr>
              <a:tblGrid>
                <a:gridCol w="1232712"/>
                <a:gridCol w="5774286"/>
                <a:gridCol w="4087416"/>
              </a:tblGrid>
              <a:tr h="384048">
                <a:tc>
                  <a:txBody>
                    <a:bodyPr/>
                    <a:lstStyle/>
                    <a:p>
                      <a:r>
                        <a:rPr sz="1400" b="1">
                          <a:solidFill>
                            <a:srgbClr val="FFFFFF"/>
                          </a:solidFill>
                          <a:latin typeface="Calibri"/>
                        </a:rPr>
                        <a:t>family</a:t>
                      </a:r>
                    </a:p>
                  </a:txBody>
                  <a:tcPr marL="91440" marR="91440">
                    <a:solidFill>
                      <a:srgbClr val="261C33"/>
                    </a:solidFill>
                  </a:tcPr>
                </a:tc>
                <a:tc>
                  <a:txBody>
                    <a:bodyPr/>
                    <a:lstStyle/>
                    <a:p>
                      <a:r>
                        <a:rPr sz="1400" b="1">
                          <a:solidFill>
                            <a:srgbClr val="FFFFFF"/>
                          </a:solidFill>
                          <a:latin typeface="Calibri"/>
                        </a:rPr>
                        <a:t>moved it beyond the noise (screen, gap ± error)</a:t>
                      </a:r>
                    </a:p>
                  </a:txBody>
                  <a:tcPr marL="91440" marR="91440">
                    <a:solidFill>
                      <a:srgbClr val="261C33"/>
                    </a:solidFill>
                  </a:tcPr>
                </a:tc>
                <a:tc>
                  <a:txBody>
                    <a:bodyPr/>
                    <a:lstStyle/>
                    <a:p>
                      <a:r>
                        <a:rPr sz="1400" b="1">
                          <a:solidFill>
                            <a:srgbClr val="FFFFFF"/>
                          </a:solidFill>
                          <a:latin typeface="Calibri"/>
                        </a:rPr>
                        <a:t>did nothing</a:t>
                      </a:r>
                    </a:p>
                  </a:txBody>
                  <a:tcPr marL="91440" marR="91440">
                    <a:solidFill>
                      <a:srgbClr val="261C33"/>
                    </a:solidFill>
                  </a:tcPr>
                </a:tc>
              </a:tr>
              <a:tr h="384048">
                <a:tc>
                  <a:txBody>
                    <a:bodyPr/>
                    <a:lstStyle/>
                    <a:p>
                      <a:r>
                        <a:rPr sz="1400" b="1">
                          <a:solidFill>
                            <a:srgbClr val="261C33"/>
                          </a:solidFill>
                          <a:latin typeface="Calibri"/>
                        </a:rPr>
                        <a:t>Logistic regression</a:t>
                      </a:r>
                    </a:p>
                  </a:txBody>
                  <a:tcPr marL="91440" marR="91440">
                    <a:solidFill>
                      <a:srgbClr val="F3EFF6"/>
                    </a:solidFill>
                  </a:tcPr>
                </a:tc>
                <a:tc>
                  <a:txBody>
                    <a:bodyPr/>
                    <a:lstStyle/>
                    <a:p>
                      <a:r>
                        <a:rPr sz="1400" b="0">
                          <a:solidFill>
                            <a:srgbClr val="261C33"/>
                          </a:solidFill>
                          <a:latin typeface="Calibri"/>
                        </a:rPr>
                        <a:t>nothing; only C, which the search already finds</a:t>
                      </a:r>
                    </a:p>
                  </a:txBody>
                  <a:tcPr marL="91440" marR="91440">
                    <a:solidFill>
                      <a:srgbClr val="F3EFF6"/>
                    </a:solidFill>
                  </a:tcPr>
                </a:tc>
                <a:tc>
                  <a:txBody>
                    <a:bodyPr/>
                    <a:lstStyle/>
                    <a:p>
                      <a:r>
                        <a:rPr sz="1400" b="0">
                          <a:solidFill>
                            <a:srgbClr val="261C33"/>
                          </a:solidFill>
                          <a:latin typeface="Calibri"/>
                        </a:rPr>
                        <a:t>L1, elastic net, log, quantile, grouped or dropped categoricals</a:t>
                      </a:r>
                    </a:p>
                  </a:txBody>
                  <a:tcPr marL="91440" marR="91440">
                    <a:solidFill>
                      <a:srgbClr val="F3EFF6"/>
                    </a:solidFill>
                  </a:tcPr>
                </a:tc>
              </a:tr>
              <a:tr h="384048">
                <a:tc>
                  <a:txBody>
                    <a:bodyPr/>
                    <a:lstStyle/>
                    <a:p>
                      <a:r>
                        <a:rPr sz="1400" b="1">
                          <a:solidFill>
                            <a:srgbClr val="261C33"/>
                          </a:solidFill>
                          <a:latin typeface="Calibri"/>
                        </a:rPr>
                        <a:t>LDA, QDA</a:t>
                      </a:r>
                    </a:p>
                  </a:txBody>
                  <a:tcPr marL="91440" marR="91440">
                    <a:solidFill>
                      <a:srgbClr val="FFFFFF"/>
                    </a:solidFill>
                  </a:tcPr>
                </a:tc>
                <a:tc>
                  <a:txBody>
                    <a:bodyPr/>
                    <a:lstStyle/>
                    <a:p>
                      <a:r>
                        <a:rPr sz="1400" b="0">
                          <a:solidFill>
                            <a:srgbClr val="261C33"/>
                          </a:solidFill>
                          <a:latin typeface="Calibri"/>
                        </a:rPr>
                        <a:t>fewer parameters: shrinkage +0.012 ± 0.008, QDA on 4 features +0.015 ± 0.009</a:t>
                      </a:r>
                    </a:p>
                  </a:txBody>
                  <a:tcPr marL="91440" marR="91440">
                    <a:solidFill>
                      <a:srgbClr val="FFFFFF"/>
                    </a:solidFill>
                  </a:tcPr>
                </a:tc>
                <a:tc>
                  <a:txBody>
                    <a:bodyPr/>
                    <a:lstStyle/>
                    <a:p>
                      <a:r>
                        <a:rPr sz="1400" b="0">
                          <a:solidFill>
                            <a:srgbClr val="261C33"/>
                          </a:solidFill>
                          <a:latin typeface="Calibri"/>
                        </a:rPr>
                        <a:t>QDA without the categoricals</a:t>
                      </a:r>
                    </a:p>
                  </a:txBody>
                  <a:tcPr marL="91440" marR="91440">
                    <a:solidFill>
                      <a:srgbClr val="FFFFFF"/>
                    </a:solidFill>
                  </a:tcPr>
                </a:tc>
              </a:tr>
              <a:tr h="384048">
                <a:tc>
                  <a:txBody>
                    <a:bodyPr/>
                    <a:lstStyle/>
                    <a:p>
                      <a:r>
                        <a:rPr sz="1400" b="1">
                          <a:solidFill>
                            <a:srgbClr val="261C33"/>
                          </a:solidFill>
                          <a:latin typeface="Calibri"/>
                        </a:rPr>
                        <a:t>kNN</a:t>
                      </a:r>
                    </a:p>
                  </a:txBody>
                  <a:tcPr marL="91440" marR="91440">
                    <a:solidFill>
                      <a:srgbClr val="F3EFF6"/>
                    </a:solidFill>
                  </a:tcPr>
                </a:tc>
                <a:tc>
                  <a:txBody>
                    <a:bodyPr/>
                    <a:lstStyle/>
                    <a:p>
                      <a:r>
                        <a:rPr sz="1400" b="0">
                          <a:solidFill>
                            <a:srgbClr val="261C33"/>
                          </a:solidFill>
                          <a:latin typeface="Calibri"/>
                        </a:rPr>
                        <a:t>4 strong features only +0.020 ± 0.018 (promoted); robust scaling -0.043 ± 0.017</a:t>
                      </a:r>
                    </a:p>
                  </a:txBody>
                  <a:tcPr marL="91440" marR="91440">
                    <a:solidFill>
                      <a:srgbClr val="F3EFF6"/>
                    </a:solidFill>
                  </a:tcPr>
                </a:tc>
                <a:tc>
                  <a:txBody>
                    <a:bodyPr/>
                    <a:lstStyle/>
                    <a:p>
                      <a:r>
                        <a:rPr sz="1400" b="0">
                          <a:solidFill>
                            <a:srgbClr val="261C33"/>
                          </a:solidFill>
                          <a:latin typeface="Calibri"/>
                        </a:rPr>
                        <a:t>log, Manhattan</a:t>
                      </a:r>
                    </a:p>
                  </a:txBody>
                  <a:tcPr marL="91440" marR="91440">
                    <a:solidFill>
                      <a:srgbClr val="F3EFF6"/>
                    </a:solidFill>
                  </a:tcPr>
                </a:tc>
              </a:tr>
              <a:tr h="384048">
                <a:tc>
                  <a:txBody>
                    <a:bodyPr/>
                    <a:lstStyle/>
                    <a:p>
                      <a:r>
                        <a:rPr sz="1400" b="1">
                          <a:solidFill>
                            <a:srgbClr val="261C33"/>
                          </a:solidFill>
                          <a:latin typeface="Calibri"/>
                        </a:rPr>
                        <a:t>SVM</a:t>
                      </a:r>
                    </a:p>
                  </a:txBody>
                  <a:tcPr marL="91440" marR="91440">
                    <a:solidFill>
                      <a:srgbClr val="FFFFFF"/>
                    </a:solidFill>
                  </a:tcPr>
                </a:tc>
                <a:tc>
                  <a:txBody>
                    <a:bodyPr/>
                    <a:lstStyle/>
                    <a:p>
                      <a:r>
                        <a:rPr sz="1400" b="0">
                          <a:solidFill>
                            <a:srgbClr val="261C33"/>
                          </a:solidFill>
                          <a:latin typeface="Calibri"/>
                        </a:rPr>
                        <a:t>robust scaling -0.048 ± 0.015</a:t>
                      </a:r>
                    </a:p>
                  </a:txBody>
                  <a:tcPr marL="91440" marR="91440">
                    <a:solidFill>
                      <a:srgbClr val="FFFFFF"/>
                    </a:solidFill>
                  </a:tcPr>
                </a:tc>
                <a:tc>
                  <a:txBody>
                    <a:bodyPr/>
                    <a:lstStyle/>
                    <a:p>
                      <a:r>
                        <a:rPr sz="1400" b="0">
                          <a:solidFill>
                            <a:srgbClr val="261C33"/>
                          </a:solidFill>
                          <a:latin typeface="Calibri"/>
                        </a:rPr>
                        <a:t>polynomial kernel, log, 4 features against its own base</a:t>
                      </a:r>
                    </a:p>
                  </a:txBody>
                  <a:tcPr marL="91440" marR="91440">
                    <a:solidFill>
                      <a:srgbClr val="FFFFFF"/>
                    </a:solidFill>
                  </a:tcPr>
                </a:tc>
              </a:tr>
              <a:tr h="384048">
                <a:tc>
                  <a:txBody>
                    <a:bodyPr/>
                    <a:lstStyle/>
                    <a:p>
                      <a:r>
                        <a:rPr sz="1400" b="1">
                          <a:solidFill>
                            <a:srgbClr val="261C33"/>
                          </a:solidFill>
                          <a:latin typeface="Calibri"/>
                        </a:rPr>
                        <a:t>Trees</a:t>
                      </a:r>
                    </a:p>
                  </a:txBody>
                  <a:tcPr marL="91440" marR="91440">
                    <a:solidFill>
                      <a:srgbClr val="F3EFF6"/>
                    </a:solidFill>
                  </a:tcPr>
                </a:tc>
                <a:tc>
                  <a:txBody>
                    <a:bodyPr/>
                    <a:lstStyle/>
                    <a:p>
                      <a:r>
                        <a:rPr sz="1400" b="0">
                          <a:solidFill>
                            <a:srgbClr val="261C33"/>
                          </a:solidFill>
                          <a:latin typeface="Calibri"/>
                        </a:rPr>
                        <a:t>averaging: bagging +0.027 ± 0.015 over one tree, the forest +0.0095 ± 0.0066 over bagging</a:t>
                      </a:r>
                    </a:p>
                  </a:txBody>
                  <a:tcPr marL="91440" marR="91440">
                    <a:solidFill>
                      <a:srgbClr val="F3EFF6"/>
                    </a:solidFill>
                  </a:tcPr>
                </a:tc>
                <a:tc>
                  <a:txBody>
                    <a:bodyPr/>
                    <a:lstStyle/>
                    <a:p>
                      <a:r>
                        <a:rPr sz="1400" b="0">
                          <a:solidFill>
                            <a:srgbClr val="261C33"/>
                          </a:solidFill>
                          <a:latin typeface="Calibri"/>
                        </a:rPr>
                        <a:t>fewer features, grouped levels, depth limits, slower boosting</a:t>
                      </a:r>
                    </a:p>
                  </a:txBody>
                  <a:tcPr marL="91440" marR="91440">
                    <a:solidFill>
                      <a:srgbClr val="F3EFF6"/>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(2) Which features matter, across six methods</a:t>
            </a:r>
          </a:p>
        </p:txBody>
      </p:sp>
      <p:sp>
        <p:nvSpPr>
          <p:cNvPr id="3" name="TextBox 2"/>
          <p:cNvSpPr txBox="1"/>
          <p:nvPr/>
        </p:nvSpPr>
        <p:spPr>
          <a:xfrm>
            <a:off x="548640" y="1371600"/>
            <a:ext cx="4389120" cy="4937760"/>
          </a:xfrm>
          <a:prstGeom prst="rect">
            <a:avLst/>
          </a:prstGeom>
          <a:noFill/>
        </p:spPr>
        <p:txBody>
          <a:bodyPr wrap="square" lIns="0" rIns="0">
            <a:spAutoFit/>
          </a:bodyPr>
          <a:lstStyle/>
          <a:p>
            <a:pPr marL="256032" indent="-256032">
              <a:spcAft>
                <a:spcPts val="1000"/>
              </a:spcAft>
              <a:buChar char="•"/>
            </a:pPr>
            <a:r>
              <a:rPr sz="1600" b="0">
                <a:solidFill>
                  <a:srgbClr val="261C33"/>
                </a:solidFill>
                <a:latin typeface="Calibri"/>
              </a:rPr>
              <a:t>Drop in held-out accuracy when one feature is shuffled, each method tuned inside each of 10 splits</a:t>
            </a:r>
          </a:p>
          <a:p>
            <a:pPr marL="256032" indent="-256032">
              <a:spcAft>
                <a:spcPts val="1000"/>
              </a:spcAft>
              <a:buChar char="•"/>
            </a:pPr>
            <a:r>
              <a:rPr sz="1600" b="0">
                <a:solidFill>
                  <a:srgbClr val="261C33"/>
                </a:solidFill>
                <a:latin typeface="Calibri"/>
              </a:rPr>
              <a:t>Speechiness is first for all six, worth 0.09 to 0.11 to every one of them</a:t>
            </a:r>
          </a:p>
          <a:p>
            <a:pPr marL="256032" indent="-256032">
              <a:spcAft>
                <a:spcPts val="1000"/>
              </a:spcAft>
              <a:buChar char="•"/>
            </a:pPr>
            <a:r>
              <a:rPr sz="1600" b="0">
                <a:solidFill>
                  <a:srgbClr val="261C33"/>
                </a:solidFill>
                <a:latin typeface="Calibri"/>
              </a:rPr>
              <a:t>Acousticness is second-tier for all six; loudness and energy too, but they are twins, so methods split the credit</a:t>
            </a:r>
          </a:p>
          <a:p>
            <a:pPr marL="256032" indent="-256032">
              <a:spcAft>
                <a:spcPts val="1000"/>
              </a:spcAft>
              <a:buChar char="•"/>
            </a:pPr>
            <a:r>
              <a:rPr sz="1600" b="0">
                <a:solidFill>
                  <a:srgbClr val="261C33"/>
                </a:solidFill>
                <a:latin typeface="Calibri"/>
              </a:rPr>
              <a:t>Tempo, key, mode, meter and valence are worth nothing to any method</a:t>
            </a:r>
          </a:p>
          <a:p>
            <a:pPr marL="256032" indent="-256032">
              <a:spcAft>
                <a:spcPts val="1000"/>
              </a:spcAft>
              <a:buChar char="•"/>
            </a:pPr>
            <a:r>
              <a:rPr sz="1600" b="0">
                <a:solidFill>
                  <a:srgbClr val="261C33"/>
                </a:solidFill>
                <a:latin typeface="Calibri"/>
              </a:rPr>
              <a:t>Weak features matter only to kNN, which is being misled by them, not informed</a:t>
            </a:r>
          </a:p>
        </p:txBody>
      </p:sp>
      <p:pic>
        <p:nvPicPr>
          <p:cNvPr id="4" name="Picture 3" descr="permutation-importance.png"/>
          <p:cNvPicPr>
            <a:picLocks noChangeAspect="1"/>
          </p:cNvPicPr>
          <p:nvPr/>
        </p:nvPicPr>
        <p:blipFill>
          <a:blip r:embed="rId2"/>
          <a:stretch>
            <a:fillRect/>
          </a:stretch>
        </p:blipFill>
        <p:spPr>
          <a:xfrm>
            <a:off x="5212080" y="1788262"/>
            <a:ext cx="6430975" cy="428731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(2) How parameters were tuned, and the rule written first</a:t>
            </a:r>
          </a:p>
        </p:txBody>
      </p:sp>
      <p:sp>
        <p:nvSpPr>
          <p:cNvPr id="3" name="Rounded Rectangle 2"/>
          <p:cNvSpPr/>
          <p:nvPr/>
        </p:nvSpPr>
        <p:spPr>
          <a:xfrm>
            <a:off x="548640" y="1371600"/>
            <a:ext cx="3484778"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3027578" cy="1143000"/>
          </a:xfrm>
          <a:prstGeom prst="rect">
            <a:avLst/>
          </a:prstGeom>
          <a:noFill/>
        </p:spPr>
        <p:txBody>
          <a:bodyPr wrap="square" lIns="0" rIns="0">
            <a:spAutoFit/>
          </a:bodyPr>
          <a:lstStyle/>
          <a:p>
            <a:r>
              <a:rPr sz="3400" b="1">
                <a:solidFill>
                  <a:srgbClr val="C98A12"/>
                </a:solidFill>
                <a:latin typeface="Cambria"/>
              </a:rPr>
              <a:t>25</a:t>
            </a:r>
          </a:p>
          <a:p>
            <a:r>
              <a:rPr sz="1300" b="0">
                <a:solidFill>
                  <a:srgbClr val="6B5E78"/>
                </a:solidFill>
                <a:latin typeface="Calibri"/>
              </a:rPr>
              <a:t>outer splits: 5-fold stratified CV, repeated 5 times, seed 65</a:t>
            </a:r>
          </a:p>
        </p:txBody>
      </p:sp>
      <p:sp>
        <p:nvSpPr>
          <p:cNvPr id="5" name="Rounded Rectangle 4"/>
          <p:cNvSpPr/>
          <p:nvPr/>
        </p:nvSpPr>
        <p:spPr>
          <a:xfrm>
            <a:off x="4353458" y="1371600"/>
            <a:ext cx="3484778"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82058" y="1481328"/>
            <a:ext cx="3027578" cy="1143000"/>
          </a:xfrm>
          <a:prstGeom prst="rect">
            <a:avLst/>
          </a:prstGeom>
          <a:noFill/>
        </p:spPr>
        <p:txBody>
          <a:bodyPr wrap="square" lIns="0" rIns="0">
            <a:spAutoFit/>
          </a:bodyPr>
          <a:lstStyle/>
          <a:p>
            <a:r>
              <a:rPr sz="3400" b="1">
                <a:solidFill>
                  <a:srgbClr val="C98A12"/>
                </a:solidFill>
                <a:latin typeface="Cambria"/>
              </a:rPr>
              <a:t>5</a:t>
            </a:r>
          </a:p>
          <a:p>
            <a:r>
              <a:rPr sz="1300" b="0">
                <a:solidFill>
                  <a:srgbClr val="6B5E78"/>
                </a:solidFill>
                <a:latin typeface="Calibri"/>
              </a:rPr>
              <a:t>inner folds: grid search inside each outer training part only</a:t>
            </a:r>
          </a:p>
        </p:txBody>
      </p:sp>
      <p:sp>
        <p:nvSpPr>
          <p:cNvPr id="7" name="Rounded Rectangle 6"/>
          <p:cNvSpPr/>
          <p:nvPr/>
        </p:nvSpPr>
        <p:spPr>
          <a:xfrm>
            <a:off x="8158276" y="1371600"/>
            <a:ext cx="3484778"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6876" y="1481328"/>
            <a:ext cx="3027578" cy="1143000"/>
          </a:xfrm>
          <a:prstGeom prst="rect">
            <a:avLst/>
          </a:prstGeom>
          <a:noFill/>
        </p:spPr>
        <p:txBody>
          <a:bodyPr wrap="square" lIns="0" rIns="0">
            <a:spAutoFit/>
          </a:bodyPr>
          <a:lstStyle/>
          <a:p>
            <a:r>
              <a:rPr sz="3400" b="1">
                <a:solidFill>
                  <a:srgbClr val="C98A12"/>
                </a:solidFill>
                <a:latin typeface="Cambria"/>
              </a:rPr>
              <a:t>1</a:t>
            </a:r>
          </a:p>
          <a:p>
            <a:r>
              <a:rPr sz="1300" b="0">
                <a:solidFill>
                  <a:srgbClr val="6B5E78"/>
                </a:solidFill>
                <a:latin typeface="Calibri"/>
              </a:rPr>
              <a:t>decision rule, committed before any model was fitted</a:t>
            </a:r>
          </a:p>
        </p:txBody>
      </p:sp>
      <p:sp>
        <p:nvSpPr>
          <p:cNvPr id="9" name="TextBox 8"/>
          <p:cNvSpPr txBox="1"/>
          <p:nvPr/>
        </p:nvSpPr>
        <p:spPr>
          <a:xfrm>
            <a:off x="548640" y="3017520"/>
            <a:ext cx="11094415" cy="3291840"/>
          </a:xfrm>
          <a:prstGeom prst="rect">
            <a:avLst/>
          </a:prstGeom>
          <a:noFill/>
        </p:spPr>
        <p:txBody>
          <a:bodyPr wrap="square" lIns="0" rIns="0">
            <a:spAutoFit/>
          </a:bodyPr>
          <a:lstStyle/>
          <a:p>
            <a:pPr marL="256032" indent="-256032">
              <a:spcAft>
                <a:spcPts val="1000"/>
              </a:spcAft>
              <a:buChar char="•"/>
            </a:pPr>
            <a:r>
              <a:rPr sz="1800" b="0">
                <a:solidFill>
                  <a:srgbClr val="261C33"/>
                </a:solidFill>
                <a:latin typeface="Calibri"/>
              </a:rPr>
              <a:t>Accuracy decides, since the leaderboard scores accuracy; balanced accuracy and ROC AUC are reported beside it</a:t>
            </a:r>
          </a:p>
          <a:p>
            <a:pPr marL="256032" indent="-256032">
              <a:spcAft>
                <a:spcPts val="1000"/>
              </a:spcAft>
              <a:buChar char="•"/>
            </a:pPr>
            <a:r>
              <a:rPr sz="1800" b="0">
                <a:solidFill>
                  <a:srgbClr val="261C33"/>
                </a:solidFill>
                <a:latin typeface="Calibri"/>
              </a:rPr>
              <a:t>Every method sees the same 25 splits, so comparisons are paired</a:t>
            </a:r>
          </a:p>
          <a:p>
            <a:pPr marL="256032" indent="-256032">
              <a:spcAft>
                <a:spcPts val="1000"/>
              </a:spcAft>
              <a:buChar char="•"/>
            </a:pPr>
            <a:r>
              <a:rPr sz="1800" b="0">
                <a:solidFill>
                  <a:srgbClr val="261C33"/>
                </a:solidFill>
                <a:latin typeface="Calibri"/>
              </a:rPr>
              <a:t>Errors use the Nadeau and Bengio correction, because the 25 splits share most of their data</a:t>
            </a:r>
          </a:p>
          <a:p>
            <a:pPr marL="256032" indent="-256032">
              <a:spcAft>
                <a:spcPts val="1000"/>
              </a:spcAft>
              <a:buChar char="•"/>
            </a:pPr>
            <a:r>
              <a:rPr sz="1800" b="0">
                <a:solidFill>
                  <a:srgbClr val="261C33"/>
                </a:solidFill>
                <a:latin typeface="Calibri"/>
              </a:rPr>
              <a:t>The rule: of the methods within one corrected error of the best, take the one with the fewest tuned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(3) Evaluation: the boxes overlap, the pairs do not</a:t>
            </a:r>
          </a:p>
        </p:txBody>
      </p:sp>
      <p:sp>
        <p:nvSpPr>
          <p:cNvPr id="3" name="TextBox 2"/>
          <p:cNvSpPr txBox="1"/>
          <p:nvPr/>
        </p:nvSpPr>
        <p:spPr>
          <a:xfrm>
            <a:off x="548640" y="1371600"/>
            <a:ext cx="4389120" cy="4937760"/>
          </a:xfrm>
          <a:prstGeom prst="rect">
            <a:avLst/>
          </a:prstGeom>
          <a:noFill/>
        </p:spPr>
        <p:txBody>
          <a:bodyPr wrap="square" lIns="0" rIns="0">
            <a:spAutoFit/>
          </a:bodyPr>
          <a:lstStyle/>
          <a:p>
            <a:pPr marL="256032" indent="-256032">
              <a:spcAft>
                <a:spcPts val="1000"/>
              </a:spcAft>
              <a:buChar char="•"/>
            </a:pPr>
            <a:r>
              <a:rPr sz="1600" b="0">
                <a:solidFill>
                  <a:srgbClr val="261C33"/>
                </a:solidFill>
                <a:latin typeface="Calibri"/>
              </a:rPr>
              <a:t>Each box is one method's 25 per-split accuracies, the triangle its mean</a:t>
            </a:r>
          </a:p>
          <a:p>
            <a:pPr marL="256032" indent="-256032">
              <a:spcAft>
                <a:spcPts val="1000"/>
              </a:spcAft>
              <a:buChar char="•"/>
            </a:pPr>
            <a:r>
              <a:rPr sz="1600" b="0">
                <a:solidFill>
                  <a:srgbClr val="261C33"/>
                </a:solidFill>
                <a:latin typeface="Calibri"/>
              </a:rPr>
              <a:t>From rf down to LDA the boxes overlap almost entirely</a:t>
            </a:r>
          </a:p>
          <a:p>
            <a:pPr marL="256032" indent="-256032">
              <a:spcAft>
                <a:spcPts val="1000"/>
              </a:spcAft>
              <a:buChar char="•"/>
            </a:pPr>
            <a:r>
              <a:rPr sz="1600" b="0">
                <a:solidFill>
                  <a:srgbClr val="261C33"/>
                </a:solidFill>
                <a:latin typeface="Calibri"/>
              </a:rPr>
              <a:t>Most of the spread is which songs land in a fold, and every method shares that</a:t>
            </a:r>
          </a:p>
          <a:p>
            <a:pPr marL="256032" indent="-256032">
              <a:spcAft>
                <a:spcPts val="1000"/>
              </a:spcAft>
              <a:buChar char="•"/>
            </a:pPr>
            <a:r>
              <a:rPr sz="1600" b="0">
                <a:solidFill>
                  <a:srgbClr val="261C33"/>
                </a:solidFill>
                <a:latin typeface="Calibri"/>
              </a:rPr>
              <a:t>So methods are compared on their per-split differences, not their boxes</a:t>
            </a:r>
          </a:p>
        </p:txBody>
      </p:sp>
      <p:pic>
        <p:nvPicPr>
          <p:cNvPr id="4" name="Picture 3" descr="03-accuracy-by-split.png"/>
          <p:cNvPicPr>
            <a:picLocks noChangeAspect="1"/>
          </p:cNvPicPr>
          <p:nvPr/>
        </p:nvPicPr>
        <p:blipFill>
          <a:blip r:embed="rId2"/>
          <a:stretch>
            <a:fillRect/>
          </a:stretch>
        </p:blipFill>
        <p:spPr>
          <a:xfrm>
            <a:off x="5212080" y="1520304"/>
            <a:ext cx="6430975" cy="482323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(3) Paired against the best method</a:t>
            </a:r>
          </a:p>
        </p:txBody>
      </p:sp>
      <p:graphicFrame>
        <p:nvGraphicFramePr>
          <p:cNvPr id="3" name="Table 2"/>
          <p:cNvGraphicFramePr>
            <a:graphicFrameLocks noGrp="1"/>
          </p:cNvGraphicFramePr>
          <p:nvPr/>
        </p:nvGraphicFramePr>
        <p:xfrm>
          <a:off x="548640" y="1371600"/>
          <a:ext cx="11094412" cy="4224528"/>
        </p:xfrm>
        <a:graphic>
          <a:graphicData uri="http://schemas.openxmlformats.org/drawingml/2006/table">
            <a:tbl>
              <a:tblPr firstRow="1" bandRow="1">
                <a:tableStyleId>{5C22544A-7EE6-4342-B048-85BDC9FD1C3A}</a:tableStyleId>
              </a:tblPr>
              <a:tblGrid>
                <a:gridCol w="3011341"/>
                <a:gridCol w="1267933"/>
                <a:gridCol w="1426424"/>
                <a:gridCol w="2377374"/>
                <a:gridCol w="950949"/>
                <a:gridCol w="2060391"/>
              </a:tblGrid>
              <a:tr h="384048">
                <a:tc>
                  <a:txBody>
                    <a:bodyPr/>
                    <a:lstStyle/>
                    <a:p>
                      <a:r>
                        <a:rPr sz="1400" b="1">
                          <a:solidFill>
                            <a:srgbClr val="FFFFFF"/>
                          </a:solidFill>
                          <a:latin typeface="Calibri"/>
                        </a:rPr>
                        <a:t>method</a:t>
                      </a:r>
                    </a:p>
                  </a:txBody>
                  <a:tcPr marL="91440" marR="91440">
                    <a:solidFill>
                      <a:srgbClr val="261C33"/>
                    </a:solidFill>
                  </a:tcPr>
                </a:tc>
                <a:tc>
                  <a:txBody>
                    <a:bodyPr/>
                    <a:lstStyle/>
                    <a:p>
                      <a:r>
                        <a:rPr sz="1400" b="1">
                          <a:solidFill>
                            <a:srgbClr val="FFFFFF"/>
                          </a:solidFill>
                          <a:latin typeface="Calibri"/>
                        </a:rPr>
                        <a:t>accuracy</a:t>
                      </a:r>
                    </a:p>
                  </a:txBody>
                  <a:tcPr marL="91440" marR="91440">
                    <a:solidFill>
                      <a:srgbClr val="261C33"/>
                    </a:solidFill>
                  </a:tcPr>
                </a:tc>
                <a:tc>
                  <a:txBody>
                    <a:bodyPr/>
                    <a:lstStyle/>
                    <a:p>
                      <a:r>
                        <a:rPr sz="1400" b="1">
                          <a:solidFill>
                            <a:srgbClr val="FFFFFF"/>
                          </a:solidFill>
                          <a:latin typeface="Calibri"/>
                        </a:rPr>
                        <a:t>gap to rf</a:t>
                      </a:r>
                    </a:p>
                  </a:txBody>
                  <a:tcPr marL="91440" marR="91440">
                    <a:solidFill>
                      <a:srgbClr val="261C33"/>
                    </a:solidFill>
                  </a:tcPr>
                </a:tc>
                <a:tc>
                  <a:txBody>
                    <a:bodyPr/>
                    <a:lstStyle/>
                    <a:p>
                      <a:r>
                        <a:rPr sz="1400" b="1">
                          <a:solidFill>
                            <a:srgbClr val="FFFFFF"/>
                          </a:solidFill>
                          <a:latin typeface="Calibri"/>
                        </a:rPr>
                        <a:t>corrected error</a:t>
                      </a:r>
                    </a:p>
                  </a:txBody>
                  <a:tcPr marL="91440" marR="91440">
                    <a:solidFill>
                      <a:srgbClr val="261C33"/>
                    </a:solidFill>
                  </a:tcPr>
                </a:tc>
                <a:tc>
                  <a:txBody>
                    <a:bodyPr/>
                    <a:lstStyle/>
                    <a:p>
                      <a:r>
                        <a:rPr sz="1400" b="1">
                          <a:solidFill>
                            <a:srgbClr val="FFFFFF"/>
                          </a:solidFill>
                          <a:latin typeface="Calibri"/>
                        </a:rPr>
                        <a:t>p</a:t>
                      </a:r>
                    </a:p>
                  </a:txBody>
                  <a:tcPr marL="91440" marR="91440">
                    <a:solidFill>
                      <a:srgbClr val="261C33"/>
                    </a:solidFill>
                  </a:tcPr>
                </a:tc>
                <a:tc>
                  <a:txBody>
                    <a:bodyPr/>
                    <a:lstStyle/>
                    <a:p>
                      <a:r>
                        <a:rPr sz="1400" b="1">
                          <a:solidFill>
                            <a:srgbClr val="FFFFFF"/>
                          </a:solidFill>
                          <a:latin typeface="Calibri"/>
                        </a:rPr>
                        <a:t>rf wins of 25</a:t>
                      </a:r>
                    </a:p>
                  </a:txBody>
                  <a:tcPr marL="91440" marR="91440">
                    <a:solidFill>
                      <a:srgbClr val="261C33"/>
                    </a:solidFill>
                  </a:tcPr>
                </a:tc>
              </a:tr>
              <a:tr h="384048">
                <a:tc>
                  <a:txBody>
                    <a:bodyPr/>
                    <a:lstStyle/>
                    <a:p>
                      <a:r>
                        <a:rPr sz="1400" b="1">
                          <a:solidFill>
                            <a:srgbClr val="261C33"/>
                          </a:solidFill>
                          <a:latin typeface="Calibri"/>
                        </a:rPr>
                        <a:t>Random forest</a:t>
                      </a:r>
                    </a:p>
                  </a:txBody>
                  <a:tcPr marL="91440" marR="91440">
                    <a:solidFill>
                      <a:srgbClr val="F3EFF6"/>
                    </a:solidFill>
                  </a:tcPr>
                </a:tc>
                <a:tc>
                  <a:txBody>
                    <a:bodyPr/>
                    <a:lstStyle/>
                    <a:p>
                      <a:r>
                        <a:rPr sz="1400" b="0">
                          <a:solidFill>
                            <a:srgbClr val="261C33"/>
                          </a:solidFill>
                          <a:latin typeface="Calibri"/>
                        </a:rPr>
                        <a:t>0.830</a:t>
                      </a:r>
                    </a:p>
                  </a:txBody>
                  <a:tcPr marL="91440" marR="91440">
                    <a:solidFill>
                      <a:srgbClr val="F3EFF6"/>
                    </a:solidFill>
                  </a:tcPr>
                </a:tc>
                <a:tc>
                  <a:txBody>
                    <a:bodyPr/>
                    <a:lstStyle/>
                    <a:p/>
                  </a:txBody>
                  <a:tcPr marL="91440" marR="91440">
                    <a:solidFill>
                      <a:srgbClr val="F3EFF6"/>
                    </a:solidFill>
                  </a:tcPr>
                </a:tc>
                <a:tc>
                  <a:txBody>
                    <a:bodyPr/>
                    <a:lstStyle/>
                    <a:p/>
                  </a:txBody>
                  <a:tcPr marL="91440" marR="91440">
                    <a:solidFill>
                      <a:srgbClr val="F3EFF6"/>
                    </a:solidFill>
                  </a:tcPr>
                </a:tc>
                <a:tc>
                  <a:txBody>
                    <a:bodyPr/>
                    <a:lstStyle/>
                    <a:p/>
                  </a:txBody>
                  <a:tcPr marL="91440" marR="91440">
                    <a:solidFill>
                      <a:srgbClr val="F3EFF6"/>
                    </a:solidFill>
                  </a:tcPr>
                </a:tc>
                <a:tc>
                  <a:txBody>
                    <a:bodyPr/>
                    <a:lstStyle/>
                    <a:p/>
                  </a:txBody>
                  <a:tcPr marL="91440" marR="91440">
                    <a:solidFill>
                      <a:srgbClr val="F3EFF6"/>
                    </a:solidFill>
                  </a:tcPr>
                </a:tc>
              </a:tr>
              <a:tr h="384048">
                <a:tc>
                  <a:txBody>
                    <a:bodyPr/>
                    <a:lstStyle/>
                    <a:p>
                      <a:r>
                        <a:rPr sz="1400" b="1">
                          <a:solidFill>
                            <a:srgbClr val="261C33"/>
                          </a:solidFill>
                          <a:latin typeface="Calibri"/>
                        </a:rPr>
                        <a:t>kNN, 4 features</a:t>
                      </a:r>
                    </a:p>
                  </a:txBody>
                  <a:tcPr marL="91440" marR="91440">
                    <a:solidFill>
                      <a:srgbClr val="FFFFFF"/>
                    </a:solidFill>
                  </a:tcPr>
                </a:tc>
                <a:tc>
                  <a:txBody>
                    <a:bodyPr/>
                    <a:lstStyle/>
                    <a:p>
                      <a:r>
                        <a:rPr sz="1400" b="0">
                          <a:solidFill>
                            <a:srgbClr val="261C33"/>
                          </a:solidFill>
                          <a:latin typeface="Calibri"/>
                        </a:rPr>
                        <a:t>0.826</a:t>
                      </a:r>
                    </a:p>
                  </a:txBody>
                  <a:tcPr marL="91440" marR="91440">
                    <a:solidFill>
                      <a:srgbClr val="FFFFFF"/>
                    </a:solidFill>
                  </a:tcPr>
                </a:tc>
                <a:tc>
                  <a:txBody>
                    <a:bodyPr/>
                    <a:lstStyle/>
                    <a:p>
                      <a:r>
                        <a:rPr sz="1400" b="0">
                          <a:solidFill>
                            <a:srgbClr val="261C33"/>
                          </a:solidFill>
                          <a:latin typeface="Calibri"/>
                        </a:rPr>
                        <a:t>-0.005</a:t>
                      </a:r>
                    </a:p>
                  </a:txBody>
                  <a:tcPr marL="91440" marR="91440">
                    <a:solidFill>
                      <a:srgbClr val="FFFFFF"/>
                    </a:solidFill>
                  </a:tcPr>
                </a:tc>
                <a:tc>
                  <a:txBody>
                    <a:bodyPr/>
                    <a:lstStyle/>
                    <a:p>
                      <a:r>
                        <a:rPr sz="1400" b="0">
                          <a:solidFill>
                            <a:srgbClr val="261C33"/>
                          </a:solidFill>
                          <a:latin typeface="Calibri"/>
                        </a:rPr>
                        <a:t>0.014</a:t>
                      </a:r>
                    </a:p>
                  </a:txBody>
                  <a:tcPr marL="91440" marR="91440">
                    <a:solidFill>
                      <a:srgbClr val="FFFFFF"/>
                    </a:solidFill>
                  </a:tcPr>
                </a:tc>
                <a:tc>
                  <a:txBody>
                    <a:bodyPr/>
                    <a:lstStyle/>
                    <a:p>
                      <a:r>
                        <a:rPr sz="1400" b="0">
                          <a:solidFill>
                            <a:srgbClr val="261C33"/>
                          </a:solidFill>
                          <a:latin typeface="Calibri"/>
                        </a:rPr>
                        <a:t>0.75</a:t>
                      </a:r>
                    </a:p>
                  </a:txBody>
                  <a:tcPr marL="91440" marR="91440">
                    <a:solidFill>
                      <a:srgbClr val="FFFFFF"/>
                    </a:solidFill>
                  </a:tcPr>
                </a:tc>
                <a:tc>
                  <a:txBody>
                    <a:bodyPr/>
                    <a:lstStyle/>
                    <a:p>
                      <a:r>
                        <a:rPr sz="1400" b="0">
                          <a:solidFill>
                            <a:srgbClr val="261C33"/>
                          </a:solidFill>
                          <a:latin typeface="Calibri"/>
                        </a:rPr>
                        <a:t>14</a:t>
                      </a:r>
                    </a:p>
                  </a:txBody>
                  <a:tcPr marL="91440" marR="91440">
                    <a:solidFill>
                      <a:srgbClr val="FFFFFF"/>
                    </a:solidFill>
                  </a:tcPr>
                </a:tc>
              </a:tr>
              <a:tr h="384048">
                <a:tc>
                  <a:txBody>
                    <a:bodyPr/>
                    <a:lstStyle/>
                    <a:p>
                      <a:r>
                        <a:rPr sz="1400" b="1">
                          <a:solidFill>
                            <a:srgbClr val="261C33"/>
                          </a:solidFill>
                          <a:latin typeface="Calibri"/>
                        </a:rPr>
                        <a:t>Bagging</a:t>
                      </a:r>
                    </a:p>
                  </a:txBody>
                  <a:tcPr marL="91440" marR="91440">
                    <a:solidFill>
                      <a:srgbClr val="F3EFF6"/>
                    </a:solidFill>
                  </a:tcPr>
                </a:tc>
                <a:tc>
                  <a:txBody>
                    <a:bodyPr/>
                    <a:lstStyle/>
                    <a:p>
                      <a:r>
                        <a:rPr sz="1400" b="0">
                          <a:solidFill>
                            <a:srgbClr val="261C33"/>
                          </a:solidFill>
                          <a:latin typeface="Calibri"/>
                        </a:rPr>
                        <a:t>0.820</a:t>
                      </a:r>
                    </a:p>
                  </a:txBody>
                  <a:tcPr marL="91440" marR="91440">
                    <a:solidFill>
                      <a:srgbClr val="F3EFF6"/>
                    </a:solidFill>
                  </a:tcPr>
                </a:tc>
                <a:tc>
                  <a:txBody>
                    <a:bodyPr/>
                    <a:lstStyle/>
                    <a:p>
                      <a:r>
                        <a:rPr sz="1400" b="0">
                          <a:solidFill>
                            <a:srgbClr val="261C33"/>
                          </a:solidFill>
                          <a:latin typeface="Calibri"/>
                        </a:rPr>
                        <a:t>-0.011</a:t>
                      </a:r>
                    </a:p>
                  </a:txBody>
                  <a:tcPr marL="91440" marR="91440">
                    <a:solidFill>
                      <a:srgbClr val="F3EFF6"/>
                    </a:solidFill>
                  </a:tcPr>
                </a:tc>
                <a:tc>
                  <a:txBody>
                    <a:bodyPr/>
                    <a:lstStyle/>
                    <a:p>
                      <a:r>
                        <a:rPr sz="1400" b="0">
                          <a:solidFill>
                            <a:srgbClr val="261C33"/>
                          </a:solidFill>
                          <a:latin typeface="Calibri"/>
                        </a:rPr>
                        <a:t>0.007</a:t>
                      </a:r>
                    </a:p>
                  </a:txBody>
                  <a:tcPr marL="91440" marR="91440">
                    <a:solidFill>
                      <a:srgbClr val="F3EFF6"/>
                    </a:solidFill>
                  </a:tcPr>
                </a:tc>
                <a:tc>
                  <a:txBody>
                    <a:bodyPr/>
                    <a:lstStyle/>
                    <a:p>
                      <a:r>
                        <a:rPr sz="1400" b="0">
                          <a:solidFill>
                            <a:srgbClr val="261C33"/>
                          </a:solidFill>
                          <a:latin typeface="Calibri"/>
                        </a:rPr>
                        <a:t>0.15</a:t>
                      </a:r>
                    </a:p>
                  </a:txBody>
                  <a:tcPr marL="91440" marR="91440">
                    <a:solidFill>
                      <a:srgbClr val="F3EFF6"/>
                    </a:solidFill>
                  </a:tcPr>
                </a:tc>
                <a:tc>
                  <a:txBody>
                    <a:bodyPr/>
                    <a:lstStyle/>
                    <a:p>
                      <a:r>
                        <a:rPr sz="1400" b="0">
                          <a:solidFill>
                            <a:srgbClr val="261C33"/>
                          </a:solidFill>
                          <a:latin typeface="Calibri"/>
                        </a:rPr>
                        <a:t>18</a:t>
                      </a:r>
                    </a:p>
                  </a:txBody>
                  <a:tcPr marL="91440" marR="91440">
                    <a:solidFill>
                      <a:srgbClr val="F3EFF6"/>
                    </a:solidFill>
                  </a:tcPr>
                </a:tc>
              </a:tr>
              <a:tr h="384048">
                <a:tc>
                  <a:txBody>
                    <a:bodyPr/>
                    <a:lstStyle/>
                    <a:p>
                      <a:r>
                        <a:rPr sz="1400" b="1">
                          <a:solidFill>
                            <a:srgbClr val="261C33"/>
                          </a:solidFill>
                          <a:latin typeface="Calibri"/>
                        </a:rPr>
                        <a:t>Gradient boosting</a:t>
                      </a:r>
                    </a:p>
                  </a:txBody>
                  <a:tcPr marL="91440" marR="91440">
                    <a:solidFill>
                      <a:srgbClr val="FFFFFF"/>
                    </a:solidFill>
                  </a:tcPr>
                </a:tc>
                <a:tc>
                  <a:txBody>
                    <a:bodyPr/>
                    <a:lstStyle/>
                    <a:p>
                      <a:r>
                        <a:rPr sz="1400" b="0">
                          <a:solidFill>
                            <a:srgbClr val="261C33"/>
                          </a:solidFill>
                          <a:latin typeface="Calibri"/>
                        </a:rPr>
                        <a:t>0.819</a:t>
                      </a:r>
                    </a:p>
                  </a:txBody>
                  <a:tcPr marL="91440" marR="91440">
                    <a:solidFill>
                      <a:srgbClr val="FFFFFF"/>
                    </a:solidFill>
                  </a:tcPr>
                </a:tc>
                <a:tc>
                  <a:txBody>
                    <a:bodyPr/>
                    <a:lstStyle/>
                    <a:p>
                      <a:r>
                        <a:rPr sz="1400" b="0">
                          <a:solidFill>
                            <a:srgbClr val="261C33"/>
                          </a:solidFill>
                          <a:latin typeface="Calibri"/>
                        </a:rPr>
                        <a:t>-0.011</a:t>
                      </a:r>
                    </a:p>
                  </a:txBody>
                  <a:tcPr marL="91440" marR="91440">
                    <a:solidFill>
                      <a:srgbClr val="FFFFFF"/>
                    </a:solidFill>
                  </a:tcPr>
                </a:tc>
                <a:tc>
                  <a:txBody>
                    <a:bodyPr/>
                    <a:lstStyle/>
                    <a:p>
                      <a:r>
                        <a:rPr sz="1400" b="0">
                          <a:solidFill>
                            <a:srgbClr val="261C33"/>
                          </a:solidFill>
                          <a:latin typeface="Calibri"/>
                        </a:rPr>
                        <a:t>0.009</a:t>
                      </a:r>
                    </a:p>
                  </a:txBody>
                  <a:tcPr marL="91440" marR="91440">
                    <a:solidFill>
                      <a:srgbClr val="FFFFFF"/>
                    </a:solidFill>
                  </a:tcPr>
                </a:tc>
                <a:tc>
                  <a:txBody>
                    <a:bodyPr/>
                    <a:lstStyle/>
                    <a:p>
                      <a:r>
                        <a:rPr sz="1400" b="0">
                          <a:solidFill>
                            <a:srgbClr val="261C33"/>
                          </a:solidFill>
                          <a:latin typeface="Calibri"/>
                        </a:rPr>
                        <a:t>0.24</a:t>
                      </a:r>
                    </a:p>
                  </a:txBody>
                  <a:tcPr marL="91440" marR="91440">
                    <a:solidFill>
                      <a:srgbClr val="FFFFFF"/>
                    </a:solidFill>
                  </a:tcPr>
                </a:tc>
                <a:tc>
                  <a:txBody>
                    <a:bodyPr/>
                    <a:lstStyle/>
                    <a:p>
                      <a:r>
                        <a:rPr sz="1400" b="0">
                          <a:solidFill>
                            <a:srgbClr val="261C33"/>
                          </a:solidFill>
                          <a:latin typeface="Calibri"/>
                        </a:rPr>
                        <a:t>19</a:t>
                      </a:r>
                    </a:p>
                  </a:txBody>
                  <a:tcPr marL="91440" marR="91440">
                    <a:solidFill>
                      <a:srgbClr val="FFFFFF"/>
                    </a:solidFill>
                  </a:tcPr>
                </a:tc>
              </a:tr>
              <a:tr h="384048">
                <a:tc>
                  <a:txBody>
                    <a:bodyPr/>
                    <a:lstStyle/>
                    <a:p>
                      <a:r>
                        <a:rPr sz="1400" b="1">
                          <a:solidFill>
                            <a:srgbClr val="261C33"/>
                          </a:solidFill>
                          <a:latin typeface="Calibri"/>
                        </a:rPr>
                        <a:t>Logistic regression</a:t>
                      </a:r>
                    </a:p>
                  </a:txBody>
                  <a:tcPr marL="91440" marR="91440">
                    <a:solidFill>
                      <a:srgbClr val="F3EFF6"/>
                    </a:solidFill>
                  </a:tcPr>
                </a:tc>
                <a:tc>
                  <a:txBody>
                    <a:bodyPr/>
                    <a:lstStyle/>
                    <a:p>
                      <a:r>
                        <a:rPr sz="1400" b="0">
                          <a:solidFill>
                            <a:srgbClr val="261C33"/>
                          </a:solidFill>
                          <a:latin typeface="Calibri"/>
                        </a:rPr>
                        <a:t>0.814</a:t>
                      </a:r>
                    </a:p>
                  </a:txBody>
                  <a:tcPr marL="91440" marR="91440">
                    <a:solidFill>
                      <a:srgbClr val="F3EFF6"/>
                    </a:solidFill>
                  </a:tcPr>
                </a:tc>
                <a:tc>
                  <a:txBody>
                    <a:bodyPr/>
                    <a:lstStyle/>
                    <a:p>
                      <a:r>
                        <a:rPr sz="1400" b="0">
                          <a:solidFill>
                            <a:srgbClr val="261C33"/>
                          </a:solidFill>
                          <a:latin typeface="Calibri"/>
                        </a:rPr>
                        <a:t>-0.016</a:t>
                      </a:r>
                    </a:p>
                  </a:txBody>
                  <a:tcPr marL="91440" marR="91440">
                    <a:solidFill>
                      <a:srgbClr val="F3EFF6"/>
                    </a:solidFill>
                  </a:tcPr>
                </a:tc>
                <a:tc>
                  <a:txBody>
                    <a:bodyPr/>
                    <a:lstStyle/>
                    <a:p>
                      <a:r>
                        <a:rPr sz="1400" b="0">
                          <a:solidFill>
                            <a:srgbClr val="261C33"/>
                          </a:solidFill>
                          <a:latin typeface="Calibri"/>
                        </a:rPr>
                        <a:t>0.015</a:t>
                      </a:r>
                    </a:p>
                  </a:txBody>
                  <a:tcPr marL="91440" marR="91440">
                    <a:solidFill>
                      <a:srgbClr val="F3EFF6"/>
                    </a:solidFill>
                  </a:tcPr>
                </a:tc>
                <a:tc>
                  <a:txBody>
                    <a:bodyPr/>
                    <a:lstStyle/>
                    <a:p>
                      <a:r>
                        <a:rPr sz="1400" b="0">
                          <a:solidFill>
                            <a:srgbClr val="261C33"/>
                          </a:solidFill>
                          <a:latin typeface="Calibri"/>
                        </a:rPr>
                        <a:t>0.29</a:t>
                      </a:r>
                    </a:p>
                  </a:txBody>
                  <a:tcPr marL="91440" marR="91440">
                    <a:solidFill>
                      <a:srgbClr val="F3EFF6"/>
                    </a:solidFill>
                  </a:tcPr>
                </a:tc>
                <a:tc>
                  <a:txBody>
                    <a:bodyPr/>
                    <a:lstStyle/>
                    <a:p>
                      <a:r>
                        <a:rPr sz="1400" b="0">
                          <a:solidFill>
                            <a:srgbClr val="261C33"/>
                          </a:solidFill>
                          <a:latin typeface="Calibri"/>
                        </a:rPr>
                        <a:t>18</a:t>
                      </a:r>
                    </a:p>
                  </a:txBody>
                  <a:tcPr marL="91440" marR="91440">
                    <a:solidFill>
                      <a:srgbClr val="F3EFF6"/>
                    </a:solidFill>
                  </a:tcPr>
                </a:tc>
              </a:tr>
              <a:tr h="384048">
                <a:tc>
                  <a:txBody>
                    <a:bodyPr/>
                    <a:lstStyle/>
                    <a:p>
                      <a:r>
                        <a:rPr sz="1400" b="1">
                          <a:solidFill>
                            <a:srgbClr val="261C33"/>
                          </a:solidFill>
                          <a:latin typeface="Calibri"/>
                        </a:rPr>
                        <a:t>RBF SVM</a:t>
                      </a:r>
                    </a:p>
                  </a:txBody>
                  <a:tcPr marL="91440" marR="91440">
                    <a:solidFill>
                      <a:srgbClr val="FFFFFF"/>
                    </a:solidFill>
                  </a:tcPr>
                </a:tc>
                <a:tc>
                  <a:txBody>
                    <a:bodyPr/>
                    <a:lstStyle/>
                    <a:p>
                      <a:r>
                        <a:rPr sz="1400" b="0">
                          <a:solidFill>
                            <a:srgbClr val="261C33"/>
                          </a:solidFill>
                          <a:latin typeface="Calibri"/>
                        </a:rPr>
                        <a:t>0.813</a:t>
                      </a:r>
                    </a:p>
                  </a:txBody>
                  <a:tcPr marL="91440" marR="91440">
                    <a:solidFill>
                      <a:srgbClr val="FFFFFF"/>
                    </a:solidFill>
                  </a:tcPr>
                </a:tc>
                <a:tc>
                  <a:txBody>
                    <a:bodyPr/>
                    <a:lstStyle/>
                    <a:p>
                      <a:r>
                        <a:rPr sz="1400" b="0">
                          <a:solidFill>
                            <a:srgbClr val="261C33"/>
                          </a:solidFill>
                          <a:latin typeface="Calibri"/>
                        </a:rPr>
                        <a:t>-0.017</a:t>
                      </a:r>
                    </a:p>
                  </a:txBody>
                  <a:tcPr marL="91440" marR="91440">
                    <a:solidFill>
                      <a:srgbClr val="FFFFFF"/>
                    </a:solidFill>
                  </a:tcPr>
                </a:tc>
                <a:tc>
                  <a:txBody>
                    <a:bodyPr/>
                    <a:lstStyle/>
                    <a:p>
                      <a:r>
                        <a:rPr sz="1400" b="0">
                          <a:solidFill>
                            <a:srgbClr val="261C33"/>
                          </a:solidFill>
                          <a:latin typeface="Calibri"/>
                        </a:rPr>
                        <a:t>0.015</a:t>
                      </a:r>
                    </a:p>
                  </a:txBody>
                  <a:tcPr marL="91440" marR="91440">
                    <a:solidFill>
                      <a:srgbClr val="FFFFFF"/>
                    </a:solidFill>
                  </a:tcPr>
                </a:tc>
                <a:tc>
                  <a:txBody>
                    <a:bodyPr/>
                    <a:lstStyle/>
                    <a:p>
                      <a:r>
                        <a:rPr sz="1400" b="0">
                          <a:solidFill>
                            <a:srgbClr val="261C33"/>
                          </a:solidFill>
                          <a:latin typeface="Calibri"/>
                        </a:rPr>
                        <a:t>0.28</a:t>
                      </a:r>
                    </a:p>
                  </a:txBody>
                  <a:tcPr marL="91440" marR="91440">
                    <a:solidFill>
                      <a:srgbClr val="FFFFFF"/>
                    </a:solidFill>
                  </a:tcPr>
                </a:tc>
                <a:tc>
                  <a:txBody>
                    <a:bodyPr/>
                    <a:lstStyle/>
                    <a:p>
                      <a:r>
                        <a:rPr sz="1400" b="0">
                          <a:solidFill>
                            <a:srgbClr val="261C33"/>
                          </a:solidFill>
                          <a:latin typeface="Calibri"/>
                        </a:rPr>
                        <a:t>17</a:t>
                      </a:r>
                    </a:p>
                  </a:txBody>
                  <a:tcPr marL="91440" marR="91440">
                    <a:solidFill>
                      <a:srgbClr val="FFFFFF"/>
                    </a:solidFill>
                  </a:tcPr>
                </a:tc>
              </a:tr>
              <a:tr h="384048">
                <a:tc>
                  <a:txBody>
                    <a:bodyPr/>
                    <a:lstStyle/>
                    <a:p>
                      <a:r>
                        <a:rPr sz="1400" b="1">
                          <a:solidFill>
                            <a:srgbClr val="261C33"/>
                          </a:solidFill>
                          <a:latin typeface="Calibri"/>
                        </a:rPr>
                        <a:t>LDA</a:t>
                      </a:r>
                    </a:p>
                  </a:txBody>
                  <a:tcPr marL="91440" marR="91440">
                    <a:solidFill>
                      <a:srgbClr val="F3EFF6"/>
                    </a:solidFill>
                  </a:tcPr>
                </a:tc>
                <a:tc>
                  <a:txBody>
                    <a:bodyPr/>
                    <a:lstStyle/>
                    <a:p>
                      <a:r>
                        <a:rPr sz="1400" b="0">
                          <a:solidFill>
                            <a:srgbClr val="261C33"/>
                          </a:solidFill>
                          <a:latin typeface="Calibri"/>
                        </a:rPr>
                        <a:t>0.799</a:t>
                      </a:r>
                    </a:p>
                  </a:txBody>
                  <a:tcPr marL="91440" marR="91440">
                    <a:solidFill>
                      <a:srgbClr val="F3EFF6"/>
                    </a:solidFill>
                  </a:tcPr>
                </a:tc>
                <a:tc>
                  <a:txBody>
                    <a:bodyPr/>
                    <a:lstStyle/>
                    <a:p>
                      <a:r>
                        <a:rPr sz="1400" b="0">
                          <a:solidFill>
                            <a:srgbClr val="261C33"/>
                          </a:solidFill>
                          <a:latin typeface="Calibri"/>
                        </a:rPr>
                        <a:t>-0.031</a:t>
                      </a:r>
                    </a:p>
                  </a:txBody>
                  <a:tcPr marL="91440" marR="91440">
                    <a:solidFill>
                      <a:srgbClr val="F3EFF6"/>
                    </a:solidFill>
                  </a:tcPr>
                </a:tc>
                <a:tc>
                  <a:txBody>
                    <a:bodyPr/>
                    <a:lstStyle/>
                    <a:p>
                      <a:r>
                        <a:rPr sz="1400" b="0">
                          <a:solidFill>
                            <a:srgbClr val="261C33"/>
                          </a:solidFill>
                          <a:latin typeface="Calibri"/>
                        </a:rPr>
                        <a:t>0.014</a:t>
                      </a:r>
                    </a:p>
                  </a:txBody>
                  <a:tcPr marL="91440" marR="91440">
                    <a:solidFill>
                      <a:srgbClr val="F3EFF6"/>
                    </a:solidFill>
                  </a:tcPr>
                </a:tc>
                <a:tc>
                  <a:txBody>
                    <a:bodyPr/>
                    <a:lstStyle/>
                    <a:p>
                      <a:r>
                        <a:rPr sz="1400" b="0">
                          <a:solidFill>
                            <a:srgbClr val="261C33"/>
                          </a:solidFill>
                          <a:latin typeface="Calibri"/>
                        </a:rPr>
                        <a:t>0.04</a:t>
                      </a:r>
                    </a:p>
                  </a:txBody>
                  <a:tcPr marL="91440" marR="91440">
                    <a:solidFill>
                      <a:srgbClr val="F3EFF6"/>
                    </a:solidFill>
                  </a:tcPr>
                </a:tc>
                <a:tc>
                  <a:txBody>
                    <a:bodyPr/>
                    <a:lstStyle/>
                    <a:p>
                      <a:r>
                        <a:rPr sz="1400" b="0">
                          <a:solidFill>
                            <a:srgbClr val="261C33"/>
                          </a:solidFill>
                          <a:latin typeface="Calibri"/>
                        </a:rPr>
                        <a:t>19</a:t>
                      </a:r>
                    </a:p>
                  </a:txBody>
                  <a:tcPr marL="91440" marR="91440">
                    <a:solidFill>
                      <a:srgbClr val="F3EFF6"/>
                    </a:solidFill>
                  </a:tcPr>
                </a:tc>
              </a:tr>
              <a:tr h="384048">
                <a:tc>
                  <a:txBody>
                    <a:bodyPr/>
                    <a:lstStyle/>
                    <a:p>
                      <a:r>
                        <a:rPr sz="1400" b="1">
                          <a:solidFill>
                            <a:srgbClr val="261C33"/>
                          </a:solidFill>
                          <a:latin typeface="Calibri"/>
                        </a:rPr>
                        <a:t>kNN</a:t>
                      </a:r>
                    </a:p>
                  </a:txBody>
                  <a:tcPr marL="91440" marR="91440">
                    <a:solidFill>
                      <a:srgbClr val="FFFFFF"/>
                    </a:solidFill>
                  </a:tcPr>
                </a:tc>
                <a:tc>
                  <a:txBody>
                    <a:bodyPr/>
                    <a:lstStyle/>
                    <a:p>
                      <a:r>
                        <a:rPr sz="1400" b="0">
                          <a:solidFill>
                            <a:srgbClr val="261C33"/>
                          </a:solidFill>
                          <a:latin typeface="Calibri"/>
                        </a:rPr>
                        <a:t>0.795</a:t>
                      </a:r>
                    </a:p>
                  </a:txBody>
                  <a:tcPr marL="91440" marR="91440">
                    <a:solidFill>
                      <a:srgbClr val="FFFFFF"/>
                    </a:solidFill>
                  </a:tcPr>
                </a:tc>
                <a:tc>
                  <a:txBody>
                    <a:bodyPr/>
                    <a:lstStyle/>
                    <a:p>
                      <a:r>
                        <a:rPr sz="1400" b="0">
                          <a:solidFill>
                            <a:srgbClr val="261C33"/>
                          </a:solidFill>
                          <a:latin typeface="Calibri"/>
                        </a:rPr>
                        <a:t>-0.035</a:t>
                      </a:r>
                    </a:p>
                  </a:txBody>
                  <a:tcPr marL="91440" marR="91440">
                    <a:solidFill>
                      <a:srgbClr val="FFFFFF"/>
                    </a:solidFill>
                  </a:tcPr>
                </a:tc>
                <a:tc>
                  <a:txBody>
                    <a:bodyPr/>
                    <a:lstStyle/>
                    <a:p>
                      <a:r>
                        <a:rPr sz="1400" b="0">
                          <a:solidFill>
                            <a:srgbClr val="261C33"/>
                          </a:solidFill>
                          <a:latin typeface="Calibri"/>
                        </a:rPr>
                        <a:t>0.014</a:t>
                      </a:r>
                    </a:p>
                  </a:txBody>
                  <a:tcPr marL="91440" marR="91440">
                    <a:solidFill>
                      <a:srgbClr val="FFFFFF"/>
                    </a:solidFill>
                  </a:tcPr>
                </a:tc>
                <a:tc>
                  <a:txBody>
                    <a:bodyPr/>
                    <a:lstStyle/>
                    <a:p>
                      <a:r>
                        <a:rPr sz="1400" b="0">
                          <a:solidFill>
                            <a:srgbClr val="261C33"/>
                          </a:solidFill>
                          <a:latin typeface="Calibri"/>
                        </a:rPr>
                        <a:t>0.02</a:t>
                      </a:r>
                    </a:p>
                  </a:txBody>
                  <a:tcPr marL="91440" marR="91440">
                    <a:solidFill>
                      <a:srgbClr val="FFFFFF"/>
                    </a:solidFill>
                  </a:tcPr>
                </a:tc>
                <a:tc>
                  <a:txBody>
                    <a:bodyPr/>
                    <a:lstStyle/>
                    <a:p>
                      <a:r>
                        <a:rPr sz="1400" b="0">
                          <a:solidFill>
                            <a:srgbClr val="261C33"/>
                          </a:solidFill>
                          <a:latin typeface="Calibri"/>
                        </a:rPr>
                        <a:t>22</a:t>
                      </a:r>
                    </a:p>
                  </a:txBody>
                  <a:tcPr marL="91440" marR="91440">
                    <a:solidFill>
                      <a:srgbClr val="FFFFFF"/>
                    </a:solidFill>
                  </a:tcPr>
                </a:tc>
              </a:tr>
              <a:tr h="384048">
                <a:tc>
                  <a:txBody>
                    <a:bodyPr/>
                    <a:lstStyle/>
                    <a:p>
                      <a:r>
                        <a:rPr sz="1400" b="1">
                          <a:solidFill>
                            <a:srgbClr val="261C33"/>
                          </a:solidFill>
                          <a:latin typeface="Calibri"/>
                        </a:rPr>
                        <a:t>Decision tree</a:t>
                      </a:r>
                    </a:p>
                  </a:txBody>
                  <a:tcPr marL="91440" marR="91440">
                    <a:solidFill>
                      <a:srgbClr val="F3EFF6"/>
                    </a:solidFill>
                  </a:tcPr>
                </a:tc>
                <a:tc>
                  <a:txBody>
                    <a:bodyPr/>
                    <a:lstStyle/>
                    <a:p>
                      <a:r>
                        <a:rPr sz="1400" b="0">
                          <a:solidFill>
                            <a:srgbClr val="261C33"/>
                          </a:solidFill>
                          <a:latin typeface="Calibri"/>
                        </a:rPr>
                        <a:t>0.790</a:t>
                      </a:r>
                    </a:p>
                  </a:txBody>
                  <a:tcPr marL="91440" marR="91440">
                    <a:solidFill>
                      <a:srgbClr val="F3EFF6"/>
                    </a:solidFill>
                  </a:tcPr>
                </a:tc>
                <a:tc>
                  <a:txBody>
                    <a:bodyPr/>
                    <a:lstStyle/>
                    <a:p>
                      <a:r>
                        <a:rPr sz="1400" b="0">
                          <a:solidFill>
                            <a:srgbClr val="261C33"/>
                          </a:solidFill>
                          <a:latin typeface="Calibri"/>
                        </a:rPr>
                        <a:t>-0.041</a:t>
                      </a:r>
                    </a:p>
                  </a:txBody>
                  <a:tcPr marL="91440" marR="91440">
                    <a:solidFill>
                      <a:srgbClr val="F3EFF6"/>
                    </a:solidFill>
                  </a:tcPr>
                </a:tc>
                <a:tc>
                  <a:txBody>
                    <a:bodyPr/>
                    <a:lstStyle/>
                    <a:p>
                      <a:r>
                        <a:rPr sz="1400" b="0">
                          <a:solidFill>
                            <a:srgbClr val="261C33"/>
                          </a:solidFill>
                          <a:latin typeface="Calibri"/>
                        </a:rPr>
                        <a:t>0.017</a:t>
                      </a:r>
                    </a:p>
                  </a:txBody>
                  <a:tcPr marL="91440" marR="91440">
                    <a:solidFill>
                      <a:srgbClr val="F3EFF6"/>
                    </a:solidFill>
                  </a:tcPr>
                </a:tc>
                <a:tc>
                  <a:txBody>
                    <a:bodyPr/>
                    <a:lstStyle/>
                    <a:p>
                      <a:r>
                        <a:rPr sz="1400" b="0">
                          <a:solidFill>
                            <a:srgbClr val="261C33"/>
                          </a:solidFill>
                          <a:latin typeface="Calibri"/>
                        </a:rPr>
                        <a:t>0.03</a:t>
                      </a:r>
                    </a:p>
                  </a:txBody>
                  <a:tcPr marL="91440" marR="91440">
                    <a:solidFill>
                      <a:srgbClr val="F3EFF6"/>
                    </a:solidFill>
                  </a:tcPr>
                </a:tc>
                <a:tc>
                  <a:txBody>
                    <a:bodyPr/>
                    <a:lstStyle/>
                    <a:p>
                      <a:r>
                        <a:rPr sz="1400" b="0">
                          <a:solidFill>
                            <a:srgbClr val="261C33"/>
                          </a:solidFill>
                          <a:latin typeface="Calibri"/>
                        </a:rPr>
                        <a:t>22</a:t>
                      </a:r>
                    </a:p>
                  </a:txBody>
                  <a:tcPr marL="91440" marR="91440">
                    <a:solidFill>
                      <a:srgbClr val="F3EFF6"/>
                    </a:solidFill>
                  </a:tcPr>
                </a:tc>
              </a:tr>
              <a:tr h="384048">
                <a:tc>
                  <a:txBody>
                    <a:bodyPr/>
                    <a:lstStyle/>
                    <a:p>
                      <a:r>
                        <a:rPr sz="1400" b="1">
                          <a:solidFill>
                            <a:srgbClr val="261C33"/>
                          </a:solidFill>
                          <a:latin typeface="Calibri"/>
                        </a:rPr>
                        <a:t>QDA</a:t>
                      </a:r>
                    </a:p>
                  </a:txBody>
                  <a:tcPr marL="91440" marR="91440">
                    <a:solidFill>
                      <a:srgbClr val="FFFFFF"/>
                    </a:solidFill>
                  </a:tcPr>
                </a:tc>
                <a:tc>
                  <a:txBody>
                    <a:bodyPr/>
                    <a:lstStyle/>
                    <a:p>
                      <a:r>
                        <a:rPr sz="1400" b="0">
                          <a:solidFill>
                            <a:srgbClr val="261C33"/>
                          </a:solidFill>
                          <a:latin typeface="Calibri"/>
                        </a:rPr>
                        <a:t>0.783</a:t>
                      </a:r>
                    </a:p>
                  </a:txBody>
                  <a:tcPr marL="91440" marR="91440">
                    <a:solidFill>
                      <a:srgbClr val="FFFFFF"/>
                    </a:solidFill>
                  </a:tcPr>
                </a:tc>
                <a:tc>
                  <a:txBody>
                    <a:bodyPr/>
                    <a:lstStyle/>
                    <a:p>
                      <a:r>
                        <a:rPr sz="1400" b="0">
                          <a:solidFill>
                            <a:srgbClr val="261C33"/>
                          </a:solidFill>
                          <a:latin typeface="Calibri"/>
                        </a:rPr>
                        <a:t>-0.047</a:t>
                      </a:r>
                    </a:p>
                  </a:txBody>
                  <a:tcPr marL="91440" marR="91440">
                    <a:solidFill>
                      <a:srgbClr val="FFFFFF"/>
                    </a:solidFill>
                  </a:tcPr>
                </a:tc>
                <a:tc>
                  <a:txBody>
                    <a:bodyPr/>
                    <a:lstStyle/>
                    <a:p>
                      <a:r>
                        <a:rPr sz="1400" b="0">
                          <a:solidFill>
                            <a:srgbClr val="261C33"/>
                          </a:solidFill>
                          <a:latin typeface="Calibri"/>
                        </a:rPr>
                        <a:t>0.020</a:t>
                      </a:r>
                    </a:p>
                  </a:txBody>
                  <a:tcPr marL="91440" marR="91440">
                    <a:solidFill>
                      <a:srgbClr val="FFFFFF"/>
                    </a:solidFill>
                  </a:tcPr>
                </a:tc>
                <a:tc>
                  <a:txBody>
                    <a:bodyPr/>
                    <a:lstStyle/>
                    <a:p>
                      <a:r>
                        <a:rPr sz="1400" b="0">
                          <a:solidFill>
                            <a:srgbClr val="261C33"/>
                          </a:solidFill>
                          <a:latin typeface="Calibri"/>
                        </a:rPr>
                        <a:t>0.02</a:t>
                      </a:r>
                    </a:p>
                  </a:txBody>
                  <a:tcPr marL="91440" marR="91440">
                    <a:solidFill>
                      <a:srgbClr val="FFFFFF"/>
                    </a:solidFill>
                  </a:tcPr>
                </a:tc>
                <a:tc>
                  <a:txBody>
                    <a:bodyPr/>
                    <a:lstStyle/>
                    <a:p>
                      <a:r>
                        <a:rPr sz="1400" b="0">
                          <a:solidFill>
                            <a:srgbClr val="261C33"/>
                          </a:solidFill>
                          <a:latin typeface="Calibri"/>
                        </a:rPr>
                        <a:t>22</a:t>
                      </a:r>
                    </a:p>
                  </a:txBody>
                  <a:tcPr marL="91440" marR="91440">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(3) The decision rule under its neighbours</a:t>
            </a:r>
          </a:p>
        </p:txBody>
      </p:sp>
      <p:graphicFrame>
        <p:nvGraphicFramePr>
          <p:cNvPr id="3" name="Table 2"/>
          <p:cNvGraphicFramePr>
            <a:graphicFrameLocks noGrp="1"/>
          </p:cNvGraphicFramePr>
          <p:nvPr/>
        </p:nvGraphicFramePr>
        <p:xfrm>
          <a:off x="548640" y="1371600"/>
          <a:ext cx="11094413" cy="2304288"/>
        </p:xfrm>
        <a:graphic>
          <a:graphicData uri="http://schemas.openxmlformats.org/drawingml/2006/table">
            <a:tbl>
              <a:tblPr firstRow="1" bandRow="1">
                <a:tableStyleId>{5C22544A-7EE6-4342-B048-85BDC9FD1C3A}</a:tableStyleId>
              </a:tblPr>
              <a:tblGrid>
                <a:gridCol w="5601063"/>
                <a:gridCol w="3446808"/>
                <a:gridCol w="2046542"/>
              </a:tblGrid>
              <a:tr h="384048">
                <a:tc>
                  <a:txBody>
                    <a:bodyPr/>
                    <a:lstStyle/>
                    <a:p>
                      <a:r>
                        <a:rPr sz="1400" b="1">
                          <a:solidFill>
                            <a:srgbClr val="FFFFFF"/>
                          </a:solidFill>
                          <a:latin typeface="Calibri"/>
                        </a:rPr>
                        <a:t>rule</a:t>
                      </a:r>
                    </a:p>
                  </a:txBody>
                  <a:tcPr marL="91440" marR="91440">
                    <a:solidFill>
                      <a:srgbClr val="261C33"/>
                    </a:solidFill>
                  </a:tcPr>
                </a:tc>
                <a:tc>
                  <a:txBody>
                    <a:bodyPr/>
                    <a:lstStyle/>
                    <a:p>
                      <a:r>
                        <a:rPr sz="1400" b="1">
                          <a:solidFill>
                            <a:srgbClr val="FFFFFF"/>
                          </a:solidFill>
                          <a:latin typeface="Calibri"/>
                        </a:rPr>
                        <a:t>qualifying</a:t>
                      </a:r>
                    </a:p>
                  </a:txBody>
                  <a:tcPr marL="91440" marR="91440">
                    <a:solidFill>
                      <a:srgbClr val="261C33"/>
                    </a:solidFill>
                  </a:tcPr>
                </a:tc>
                <a:tc>
                  <a:txBody>
                    <a:bodyPr/>
                    <a:lstStyle/>
                    <a:p>
                      <a:r>
                        <a:rPr sz="1400" b="1">
                          <a:solidFill>
                            <a:srgbClr val="FFFFFF"/>
                          </a:solidFill>
                          <a:latin typeface="Calibri"/>
                        </a:rPr>
                        <a:t>chosen</a:t>
                      </a:r>
                    </a:p>
                  </a:txBody>
                  <a:tcPr marL="91440" marR="91440">
                    <a:solidFill>
                      <a:srgbClr val="261C33"/>
                    </a:solidFill>
                  </a:tcPr>
                </a:tc>
              </a:tr>
              <a:tr h="384048">
                <a:tc>
                  <a:txBody>
                    <a:bodyPr/>
                    <a:lstStyle/>
                    <a:p>
                      <a:r>
                        <a:rPr sz="1400" b="1">
                          <a:solidFill>
                            <a:srgbClr val="261C33"/>
                          </a:solidFill>
                          <a:latin typeface="Calibri"/>
                        </a:rPr>
                        <a:t>within 1 corrected error of the best (written first)</a:t>
                      </a:r>
                    </a:p>
                  </a:txBody>
                  <a:tcPr marL="91440" marR="91440">
                    <a:solidFill>
                      <a:srgbClr val="F3EFF6"/>
                    </a:solidFill>
                  </a:tcPr>
                </a:tc>
                <a:tc>
                  <a:txBody>
                    <a:bodyPr/>
                    <a:lstStyle/>
                    <a:p>
                      <a:r>
                        <a:rPr sz="1400" b="0">
                          <a:solidFill>
                            <a:srgbClr val="261C33"/>
                          </a:solidFill>
                          <a:latin typeface="Calibri"/>
                        </a:rPr>
                        <a:t>kNN on 4 features, random forest</a:t>
                      </a:r>
                    </a:p>
                  </a:txBody>
                  <a:tcPr marL="91440" marR="91440">
                    <a:solidFill>
                      <a:srgbClr val="F3EFF6"/>
                    </a:solidFill>
                  </a:tcPr>
                </a:tc>
                <a:tc>
                  <a:txBody>
                    <a:bodyPr/>
                    <a:lstStyle/>
                    <a:p>
                      <a:r>
                        <a:rPr sz="1400" b="0">
                          <a:solidFill>
                            <a:srgbClr val="261C33"/>
                          </a:solidFill>
                          <a:latin typeface="Calibri"/>
                        </a:rPr>
                        <a:t>kNN on 4 features</a:t>
                      </a:r>
                    </a:p>
                  </a:txBody>
                  <a:tcPr marL="91440" marR="91440">
                    <a:solidFill>
                      <a:srgbClr val="F3EFF6"/>
                    </a:solidFill>
                  </a:tcPr>
                </a:tc>
              </a:tr>
              <a:tr h="384048">
                <a:tc>
                  <a:txBody>
                    <a:bodyPr/>
                    <a:lstStyle/>
                    <a:p>
                      <a:r>
                        <a:rPr sz="1400" b="1">
                          <a:solidFill>
                            <a:srgbClr val="261C33"/>
                          </a:solidFill>
                          <a:latin typeface="Calibri"/>
                        </a:rPr>
                        <a:t>within the rope, gap under one point</a:t>
                      </a:r>
                    </a:p>
                  </a:txBody>
                  <a:tcPr marL="91440" marR="91440">
                    <a:solidFill>
                      <a:srgbClr val="FFFFFF"/>
                    </a:solidFill>
                  </a:tcPr>
                </a:tc>
                <a:tc>
                  <a:txBody>
                    <a:bodyPr/>
                    <a:lstStyle/>
                    <a:p>
                      <a:r>
                        <a:rPr sz="1400" b="0">
                          <a:solidFill>
                            <a:srgbClr val="261C33"/>
                          </a:solidFill>
                          <a:latin typeface="Calibri"/>
                        </a:rPr>
                        <a:t>kNN on 4 features, random forest</a:t>
                      </a:r>
                    </a:p>
                  </a:txBody>
                  <a:tcPr marL="91440" marR="91440">
                    <a:solidFill>
                      <a:srgbClr val="FFFFFF"/>
                    </a:solidFill>
                  </a:tcPr>
                </a:tc>
                <a:tc>
                  <a:txBody>
                    <a:bodyPr/>
                    <a:lstStyle/>
                    <a:p>
                      <a:r>
                        <a:rPr sz="1400" b="0">
                          <a:solidFill>
                            <a:srgbClr val="261C33"/>
                          </a:solidFill>
                          <a:latin typeface="Calibri"/>
                        </a:rPr>
                        <a:t>kNN on 4 features</a:t>
                      </a:r>
                    </a:p>
                  </a:txBody>
                  <a:tcPr marL="91440" marR="91440">
                    <a:solidFill>
                      <a:srgbClr val="FFFFFF"/>
                    </a:solidFill>
                  </a:tcPr>
                </a:tc>
              </a:tr>
              <a:tr h="384048">
                <a:tc>
                  <a:txBody>
                    <a:bodyPr/>
                    <a:lstStyle/>
                    <a:p>
                      <a:r>
                        <a:rPr sz="1400" b="1">
                          <a:solidFill>
                            <a:srgbClr val="261C33"/>
                          </a:solidFill>
                          <a:latin typeface="Calibri"/>
                        </a:rPr>
                        <a:t>within 2 corrected errors</a:t>
                      </a:r>
                    </a:p>
                  </a:txBody>
                  <a:tcPr marL="91440" marR="91440">
                    <a:solidFill>
                      <a:srgbClr val="F3EFF6"/>
                    </a:solidFill>
                  </a:tcPr>
                </a:tc>
                <a:tc>
                  <a:txBody>
                    <a:bodyPr/>
                    <a:lstStyle/>
                    <a:p>
                      <a:r>
                        <a:rPr sz="1400" b="0">
                          <a:solidFill>
                            <a:srgbClr val="261C33"/>
                          </a:solidFill>
                          <a:latin typeface="Calibri"/>
                        </a:rPr>
                        <a:t>8 methods</a:t>
                      </a:r>
                    </a:p>
                  </a:txBody>
                  <a:tcPr marL="91440" marR="91440">
                    <a:solidFill>
                      <a:srgbClr val="F3EFF6"/>
                    </a:solidFill>
                  </a:tcPr>
                </a:tc>
                <a:tc>
                  <a:txBody>
                    <a:bodyPr/>
                    <a:lstStyle/>
                    <a:p>
                      <a:r>
                        <a:rPr sz="1400" b="0">
                          <a:solidFill>
                            <a:srgbClr val="261C33"/>
                          </a:solidFill>
                          <a:latin typeface="Calibri"/>
                        </a:rPr>
                        <a:t>logistic regression</a:t>
                      </a:r>
                    </a:p>
                  </a:txBody>
                  <a:tcPr marL="91440" marR="91440">
                    <a:solidFill>
                      <a:srgbClr val="F3EFF6"/>
                    </a:solidFill>
                  </a:tcPr>
                </a:tc>
              </a:tr>
              <a:tr h="384048">
                <a:tc>
                  <a:txBody>
                    <a:bodyPr/>
                    <a:lstStyle/>
                    <a:p>
                      <a:r>
                        <a:rPr sz="1400" b="1">
                          <a:solidFill>
                            <a:srgbClr val="261C33"/>
                          </a:solidFill>
                          <a:latin typeface="Calibri"/>
                        </a:rPr>
                        <a:t>t-test not significant at 5%</a:t>
                      </a:r>
                    </a:p>
                  </a:txBody>
                  <a:tcPr marL="91440" marR="91440">
                    <a:solidFill>
                      <a:srgbClr val="FFFFFF"/>
                    </a:solidFill>
                  </a:tcPr>
                </a:tc>
                <a:tc>
                  <a:txBody>
                    <a:bodyPr/>
                    <a:lstStyle/>
                    <a:p>
                      <a:r>
                        <a:rPr sz="1400" b="0">
                          <a:solidFill>
                            <a:srgbClr val="261C33"/>
                          </a:solidFill>
                          <a:latin typeface="Calibri"/>
                        </a:rPr>
                        <a:t>the same 8</a:t>
                      </a:r>
                    </a:p>
                  </a:txBody>
                  <a:tcPr marL="91440" marR="91440">
                    <a:solidFill>
                      <a:srgbClr val="FFFFFF"/>
                    </a:solidFill>
                  </a:tcPr>
                </a:tc>
                <a:tc>
                  <a:txBody>
                    <a:bodyPr/>
                    <a:lstStyle/>
                    <a:p>
                      <a:r>
                        <a:rPr sz="1400" b="0">
                          <a:solidFill>
                            <a:srgbClr val="261C33"/>
                          </a:solidFill>
                          <a:latin typeface="Calibri"/>
                        </a:rPr>
                        <a:t>logistic regression</a:t>
                      </a:r>
                    </a:p>
                  </a:txBody>
                  <a:tcPr marL="91440" marR="91440">
                    <a:solidFill>
                      <a:srgbClr val="FFFFFF"/>
                    </a:solidFill>
                  </a:tcPr>
                </a:tc>
              </a:tr>
              <a:tr h="384048">
                <a:tc>
                  <a:txBody>
                    <a:bodyPr/>
                    <a:lstStyle/>
                    <a:p>
                      <a:r>
                        <a:rPr sz="1400" b="1">
                          <a:solidFill>
                            <a:srgbClr val="261C33"/>
                          </a:solidFill>
                          <a:latin typeface="Calibri"/>
                        </a:rPr>
                        <a:t>best mean, no band</a:t>
                      </a:r>
                    </a:p>
                  </a:txBody>
                  <a:tcPr marL="91440" marR="91440">
                    <a:solidFill>
                      <a:srgbClr val="F3EFF6"/>
                    </a:solidFill>
                  </a:tcPr>
                </a:tc>
                <a:tc>
                  <a:txBody>
                    <a:bodyPr/>
                    <a:lstStyle/>
                    <a:p>
                      <a:r>
                        <a:rPr sz="1400" b="0">
                          <a:solidFill>
                            <a:srgbClr val="261C33"/>
                          </a:solidFill>
                          <a:latin typeface="Calibri"/>
                        </a:rPr>
                        <a:t>random forest</a:t>
                      </a:r>
                    </a:p>
                  </a:txBody>
                  <a:tcPr marL="91440" marR="91440">
                    <a:solidFill>
                      <a:srgbClr val="F3EFF6"/>
                    </a:solidFill>
                  </a:tcPr>
                </a:tc>
                <a:tc>
                  <a:txBody>
                    <a:bodyPr/>
                    <a:lstStyle/>
                    <a:p>
                      <a:r>
                        <a:rPr sz="1400" b="0">
                          <a:solidFill>
                            <a:srgbClr val="261C33"/>
                          </a:solidFill>
                          <a:latin typeface="Calibri"/>
                        </a:rPr>
                        <a:t>random forest</a:t>
                      </a:r>
                    </a:p>
                  </a:txBody>
                  <a:tcPr marL="91440" marR="91440">
                    <a:solidFill>
                      <a:srgbClr val="F3EFF6"/>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(4) Conclusion: two models level at the top, read as bias and variance</a:t>
            </a:r>
          </a:p>
        </p:txBody>
      </p:sp>
      <p:sp>
        <p:nvSpPr>
          <p:cNvPr id="3" name="Rounded Rectangle 2"/>
          <p:cNvSpPr/>
          <p:nvPr/>
        </p:nvSpPr>
        <p:spPr>
          <a:xfrm>
            <a:off x="548640" y="1371600"/>
            <a:ext cx="3840480"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3383280" cy="1143000"/>
          </a:xfrm>
          <a:prstGeom prst="rect">
            <a:avLst/>
          </a:prstGeom>
          <a:noFill/>
        </p:spPr>
        <p:txBody>
          <a:bodyPr wrap="square" lIns="0" rIns="0">
            <a:spAutoFit/>
          </a:bodyPr>
          <a:lstStyle/>
          <a:p>
            <a:r>
              <a:rPr sz="3400" b="1">
                <a:solidFill>
                  <a:srgbClr val="C98A12"/>
                </a:solidFill>
                <a:latin typeface="Cambria"/>
              </a:rPr>
              <a:t>0.830</a:t>
            </a:r>
          </a:p>
          <a:p>
            <a:r>
              <a:rPr sz="1300" b="0">
                <a:solidFill>
                  <a:srgbClr val="6B5E78"/>
                </a:solidFill>
                <a:latin typeface="Calibri"/>
              </a:rPr>
              <a:t>random forest</a:t>
            </a:r>
          </a:p>
        </p:txBody>
      </p:sp>
      <p:sp>
        <p:nvSpPr>
          <p:cNvPr id="5" name="Rounded Rectangle 4"/>
          <p:cNvSpPr/>
          <p:nvPr/>
        </p:nvSpPr>
        <p:spPr>
          <a:xfrm>
            <a:off x="4709160" y="1371600"/>
            <a:ext cx="3840480"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481328"/>
            <a:ext cx="3383280" cy="1143000"/>
          </a:xfrm>
          <a:prstGeom prst="rect">
            <a:avLst/>
          </a:prstGeom>
          <a:noFill/>
        </p:spPr>
        <p:txBody>
          <a:bodyPr wrap="square" lIns="0" rIns="0">
            <a:spAutoFit/>
          </a:bodyPr>
          <a:lstStyle/>
          <a:p>
            <a:r>
              <a:rPr sz="3400" b="1">
                <a:solidFill>
                  <a:srgbClr val="C98A12"/>
                </a:solidFill>
                <a:latin typeface="Cambria"/>
              </a:rPr>
              <a:t>0.826</a:t>
            </a:r>
          </a:p>
          <a:p>
            <a:r>
              <a:rPr sz="1300" b="0">
                <a:solidFill>
                  <a:srgbClr val="6B5E78"/>
                </a:solidFill>
                <a:latin typeface="Calibri"/>
              </a:rPr>
              <a:t>kNN on speechiness, loudness, acousticness, energy</a:t>
            </a:r>
          </a:p>
        </p:txBody>
      </p:sp>
      <p:sp>
        <p:nvSpPr>
          <p:cNvPr id="7" name="TextBox 6"/>
          <p:cNvSpPr txBox="1"/>
          <p:nvPr/>
        </p:nvSpPr>
        <p:spPr>
          <a:xfrm>
            <a:off x="548640" y="3017520"/>
            <a:ext cx="11094415" cy="3291840"/>
          </a:xfrm>
          <a:prstGeom prst="rect">
            <a:avLst/>
          </a:prstGeom>
          <a:noFill/>
        </p:spPr>
        <p:txBody>
          <a:bodyPr wrap="square" lIns="0" rIns="0">
            <a:spAutoFit/>
          </a:bodyPr>
          <a:lstStyle/>
          <a:p>
            <a:pPr marL="256032" indent="-256032">
              <a:spcAft>
                <a:spcPts val="1000"/>
              </a:spcAft>
              <a:buChar char="•"/>
            </a:pPr>
            <a:r>
              <a:rPr sz="1800" b="0">
                <a:solidFill>
                  <a:srgbClr val="261C33"/>
                </a:solidFill>
                <a:latin typeface="Calibri"/>
              </a:rPr>
              <a:t>A line captures the main axis, loud versus acoustic, and nothing we turned moved logistic regression past 0.815</a:t>
            </a:r>
          </a:p>
          <a:p>
            <a:pPr marL="256032" indent="-256032">
              <a:spcAft>
                <a:spcPts val="1000"/>
              </a:spcAft>
              <a:buChar char="•"/>
            </a:pPr>
            <a:r>
              <a:rPr sz="1800" b="0">
                <a:solidFill>
                  <a:srgbClr val="261C33"/>
                </a:solidFill>
                <a:latin typeface="Calibri"/>
              </a:rPr>
              <a:t>Trees find the thresholds a line misses, and pay in variance; averaging 300 of them, with random feature subsets, pays it down</a:t>
            </a:r>
          </a:p>
          <a:p>
            <a:pPr marL="256032" indent="-256032">
              <a:spcAft>
                <a:spcPts val="1000"/>
              </a:spcAft>
              <a:buChar char="•"/>
            </a:pPr>
            <a:r>
              <a:rPr sz="1800" b="0">
                <a:solidFill>
                  <a:srgbClr val="261C33"/>
                </a:solidFill>
                <a:latin typeface="Calibri"/>
              </a:rPr>
              <a:t>kNN was last of the real methods until its distance was measured in the four features that matter; then its search settled and it gained three points</a:t>
            </a:r>
          </a:p>
          <a:p>
            <a:pPr marL="256032" indent="-256032">
              <a:spcAft>
                <a:spcPts val="1000"/>
              </a:spcAft>
              <a:buChar char="•"/>
            </a:pPr>
            <a:r>
              <a:rPr sz="1800" b="0">
                <a:solidFill>
                  <a:srgbClr val="261C33"/>
                </a:solidFill>
                <a:latin typeface="Calibri"/>
              </a:rPr>
              <a:t>On the 15 splits the variant screen never saw, the four-feature kNN is 0.001 behind the forest</a:t>
            </a:r>
          </a:p>
          <a:p>
            <a:pPr marL="256032" indent="-256032">
              <a:spcAft>
                <a:spcPts val="1000"/>
              </a:spcAft>
              <a:buChar char="•"/>
            </a:pPr>
            <a:r>
              <a:rPr sz="1800" b="0">
                <a:solidFill>
                  <a:srgbClr val="261C33"/>
                </a:solidFill>
                <a:latin typeface="Calibri"/>
              </a:rPr>
              <a:t>The forest ranks songs better (ROC AUC 0.907 against 0.879); the rule decides on accuracy, as the leaderboard does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(4) How sure: a small edge, honestly sized</a:t>
            </a:r>
          </a:p>
        </p:txBody>
      </p:sp>
      <p:sp>
        <p:nvSpPr>
          <p:cNvPr id="3" name="Rounded Rectangle 2"/>
          <p:cNvSpPr/>
          <p:nvPr/>
        </p:nvSpPr>
        <p:spPr>
          <a:xfrm>
            <a:off x="548640" y="1371600"/>
            <a:ext cx="3840480"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3383280" cy="1143000"/>
          </a:xfrm>
          <a:prstGeom prst="rect">
            <a:avLst/>
          </a:prstGeom>
          <a:noFill/>
        </p:spPr>
        <p:txBody>
          <a:bodyPr wrap="square" lIns="0" rIns="0">
            <a:spAutoFit/>
          </a:bodyPr>
          <a:lstStyle/>
          <a:p>
            <a:r>
              <a:rPr sz="3400" b="1">
                <a:solidFill>
                  <a:srgbClr val="C98A12"/>
                </a:solidFill>
                <a:latin typeface="Cambria"/>
              </a:rPr>
              <a:t>~1</a:t>
            </a:r>
          </a:p>
          <a:p>
            <a:r>
              <a:rPr sz="1300" b="0">
                <a:solidFill>
                  <a:srgbClr val="6B5E78"/>
                </a:solidFill>
                <a:latin typeface="Calibri"/>
              </a:rPr>
              <a:t>song in 200: the forest's expected edge over the four-feature kNN</a:t>
            </a:r>
          </a:p>
        </p:txBody>
      </p:sp>
      <p:sp>
        <p:nvSpPr>
          <p:cNvPr id="5" name="Rounded Rectangle 4"/>
          <p:cNvSpPr/>
          <p:nvPr/>
        </p:nvSpPr>
        <p:spPr>
          <a:xfrm>
            <a:off x="4709160" y="1371600"/>
            <a:ext cx="3840480"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37760" y="1481328"/>
            <a:ext cx="3383280" cy="1143000"/>
          </a:xfrm>
          <a:prstGeom prst="rect">
            <a:avLst/>
          </a:prstGeom>
          <a:noFill/>
        </p:spPr>
        <p:txBody>
          <a:bodyPr wrap="square" lIns="0" rIns="0">
            <a:spAutoFit/>
          </a:bodyPr>
          <a:lstStyle/>
          <a:p>
            <a:r>
              <a:rPr sz="3400" b="1">
                <a:solidFill>
                  <a:srgbClr val="C98A12"/>
                </a:solidFill>
                <a:latin typeface="Cambria"/>
              </a:rPr>
              <a:t>0.80 to 0.86</a:t>
            </a:r>
          </a:p>
          <a:p>
            <a:r>
              <a:rPr sz="1300" b="0">
                <a:solidFill>
                  <a:srgbClr val="6B5E78"/>
                </a:solidFill>
                <a:latin typeface="Calibri"/>
              </a:rPr>
              <a:t>what to expect on the 200 hidden songs</a:t>
            </a:r>
          </a:p>
        </p:txBody>
      </p:sp>
      <p:sp>
        <p:nvSpPr>
          <p:cNvPr id="7" name="TextBox 6"/>
          <p:cNvSpPr txBox="1"/>
          <p:nvPr/>
        </p:nvSpPr>
        <p:spPr>
          <a:xfrm>
            <a:off x="548640" y="3017520"/>
            <a:ext cx="11094415" cy="3291840"/>
          </a:xfrm>
          <a:prstGeom prst="rect">
            <a:avLst/>
          </a:prstGeom>
          <a:noFill/>
        </p:spPr>
        <p:txBody>
          <a:bodyPr wrap="square" lIns="0" rIns="0">
            <a:spAutoFit/>
          </a:bodyPr>
          <a:lstStyle/>
          <a:p>
            <a:pPr marL="256032" indent="-256032">
              <a:spcAft>
                <a:spcPts val="1000"/>
              </a:spcAft>
              <a:buChar char="•"/>
            </a:pPr>
            <a:r>
              <a:rPr sz="1800" b="0">
                <a:solidFill>
                  <a:srgbClr val="261C33"/>
                </a:solidFill>
                <a:latin typeface="Calibri"/>
              </a:rPr>
              <a:t>The two are within a point of each other with probability about one half, and the forest wins 14 of the 25 splits</a:t>
            </a:r>
          </a:p>
          <a:p>
            <a:pPr marL="256032" indent="-256032">
              <a:spcAft>
                <a:spcPts val="1000"/>
              </a:spcAft>
              <a:buChar char="•"/>
            </a:pPr>
            <a:r>
              <a:rPr sz="1800" b="0">
                <a:solidFill>
                  <a:srgbClr val="261C33"/>
                </a:solidFill>
                <a:latin typeface="Calibri"/>
              </a:rPr>
              <a:t>A looser rule, "not significantly worse at 5%", would hold eight methods and pick logistic regression</a:t>
            </a:r>
          </a:p>
          <a:p>
            <a:pPr marL="256032" indent="-256032">
              <a:spcAft>
                <a:spcPts val="1000"/>
              </a:spcAft>
              <a:buChar char="•"/>
            </a:pPr>
            <a:r>
              <a:rPr sz="1800" b="0">
                <a:solidFill>
                  <a:srgbClr val="261C33"/>
                </a:solidFill>
                <a:latin typeface="Calibri"/>
              </a:rPr>
              <a:t>The strictness was fixed before the numbers, which is what makes this a choice and not a sweep</a:t>
            </a:r>
          </a:p>
          <a:p>
            <a:pPr marL="256032" indent="-256032">
              <a:spcAft>
                <a:spcPts val="1000"/>
              </a:spcAft>
              <a:buChar char="•"/>
            </a:pPr>
            <a:r>
              <a:rPr sz="1800" b="0">
                <a:solidFill>
                  <a:srgbClr val="261C33"/>
                </a:solidFill>
                <a:latin typeface="Calibri"/>
              </a:rPr>
              <a:t>The variant was picked on 10 of the 25 splits; the other 15 agree with them, so the promotion did not manufacture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Production: one refit, one read of the test file</a:t>
            </a:r>
          </a:p>
        </p:txBody>
      </p:sp>
      <p:sp>
        <p:nvSpPr>
          <p:cNvPr id="3" name="Rounded Rectangle 2"/>
          <p:cNvSpPr/>
          <p:nvPr/>
        </p:nvSpPr>
        <p:spPr>
          <a:xfrm>
            <a:off x="548640" y="1371600"/>
            <a:ext cx="3840480" cy="1325880"/>
          </a:xfrm>
          <a:prstGeom prst="roundRect">
            <a:avLst>
              <a:gd name="adj" fmla="val 8000"/>
            </a:avLst>
          </a:prstGeom>
          <a:solidFill>
            <a:srgbClr val="F3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3383280" cy="1143000"/>
          </a:xfrm>
          <a:prstGeom prst="rect">
            <a:avLst/>
          </a:prstGeom>
          <a:noFill/>
        </p:spPr>
        <p:txBody>
          <a:bodyPr wrap="square" lIns="0" rIns="0">
            <a:spAutoFit/>
          </a:bodyPr>
          <a:lstStyle/>
          <a:p>
            <a:r>
              <a:rPr sz="3400" b="1">
                <a:solidFill>
                  <a:srgbClr val="C98A12"/>
                </a:solidFill>
                <a:latin typeface="Cambria"/>
              </a:rPr>
              <a:t>200</a:t>
            </a:r>
          </a:p>
          <a:p>
            <a:r>
              <a:rPr sz="1300" b="0">
                <a:solidFill>
                  <a:srgbClr val="6B5E78"/>
                </a:solidFill>
                <a:latin typeface="Calibri"/>
              </a:rPr>
              <a:t>songs predicted by the random forest, 123 liked</a:t>
            </a:r>
          </a:p>
        </p:txBody>
      </p:sp>
      <p:sp>
        <p:nvSpPr>
          <p:cNvPr id="5" name="TextBox 4"/>
          <p:cNvSpPr txBox="1"/>
          <p:nvPr/>
        </p:nvSpPr>
        <p:spPr>
          <a:xfrm>
            <a:off x="548640" y="3017520"/>
            <a:ext cx="11094415" cy="3291840"/>
          </a:xfrm>
          <a:prstGeom prst="rect">
            <a:avLst/>
          </a:prstGeom>
          <a:noFill/>
        </p:spPr>
        <p:txBody>
          <a:bodyPr wrap="square" lIns="0" rIns="0">
            <a:spAutoFit/>
          </a:bodyPr>
          <a:lstStyle/>
          <a:p>
            <a:pPr marL="256032" indent="-256032">
              <a:spcAft>
                <a:spcPts val="1000"/>
              </a:spcAft>
              <a:buChar char="•"/>
            </a:pPr>
            <a:r>
              <a:rPr sz="1800" b="0">
                <a:solidFill>
                  <a:srgbClr val="261C33"/>
                </a:solidFill>
                <a:latin typeface="Calibri"/>
              </a:rPr>
              <a:t>The submitted string was made by the forest on 2026-10-01, before the variants; the four-feature kNN joined the comparison after it</a:t>
            </a:r>
          </a:p>
          <a:p>
            <a:pPr marL="256032" indent="-256032">
              <a:spcAft>
                <a:spcPts val="1000"/>
              </a:spcAft>
              <a:buChar char="•"/>
            </a:pPr>
            <a:r>
              <a:rPr sz="1800" b="0">
                <a:solidFill>
                  <a:srgbClr val="261C33"/>
                </a:solidFill>
                <a:latin typeface="Calibri"/>
              </a:rPr>
              <a:t>Refit on all 736 songs with the same grid search: 300 trees, 25% of features per split, at least 3 songs per leaf</a:t>
            </a:r>
          </a:p>
          <a:p>
            <a:pPr marL="256032" indent="-256032">
              <a:spcAft>
                <a:spcPts val="1000"/>
              </a:spcAft>
              <a:buChar char="•"/>
            </a:pPr>
            <a:r>
              <a:rPr sz="1800" b="0">
                <a:solidFill>
                  <a:srgbClr val="261C33"/>
                </a:solidFill>
                <a:latin typeface="Calibri"/>
              </a:rPr>
              <a:t>songs_to_classify.csv read once, by this model, after the decision</a:t>
            </a:r>
          </a:p>
          <a:p>
            <a:pPr marL="256032" indent="-256032">
              <a:spcAft>
                <a:spcPts val="1000"/>
              </a:spcAft>
              <a:buChar char="•"/>
            </a:pPr>
            <a:r>
              <a:rPr sz="1800" b="0">
                <a:solidFill>
                  <a:srgbClr val="261C33"/>
                </a:solidFill>
                <a:latin typeface="Calibri"/>
              </a:rPr>
              <a:t>The string is in results/submission-2026-10-01.txt, one character per test song in file order</a:t>
            </a:r>
          </a:p>
          <a:p>
            <a:pPr marL="256032" indent="-256032">
              <a:spcAft>
                <a:spcPts val="1000"/>
              </a:spcAft>
              <a:buChar char="•"/>
            </a:pPr>
            <a:r>
              <a:rPr sz="1800" b="0">
                <a:solidFill>
                  <a:srgbClr val="261C33"/>
                </a:solidFill>
                <a:latin typeface="Calibri"/>
              </a:rPr>
              <a:t>4 test songs also appear in the training file; the forest predicts their known labels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lIns="0" rIns="0" anchor="t">
            <a:spAutoFit/>
          </a:bodyPr>
          <a:lstStyle/>
          <a:p>
            <a:r>
              <a:rPr sz="3200" b="1">
                <a:solidFill>
                  <a:srgbClr val="261C33"/>
                </a:solidFill>
                <a:latin typeface="Cambria"/>
              </a:rPr>
              <a:t>The code: a small package, thin notebooks</a:t>
            </a:r>
          </a:p>
        </p:txBody>
      </p:sp>
      <p:sp>
        <p:nvSpPr>
          <p:cNvPr id="3" name="TextBox 2"/>
          <p:cNvSpPr txBox="1"/>
          <p:nvPr/>
        </p:nvSpPr>
        <p:spPr>
          <a:xfrm>
            <a:off x="548640" y="1371600"/>
            <a:ext cx="11094415" cy="4937760"/>
          </a:xfrm>
          <a:prstGeom prst="rect">
            <a:avLst/>
          </a:prstGeom>
          <a:noFill/>
        </p:spPr>
        <p:txBody>
          <a:bodyPr wrap="square" lIns="0" rIns="0">
            <a:spAutoFit/>
          </a:bodyPr>
          <a:lstStyle/>
          <a:p>
            <a:pPr marL="256032" indent="-256032">
              <a:spcAft>
                <a:spcPts val="1000"/>
              </a:spcAft>
              <a:buChar char="•"/>
            </a:pPr>
            <a:r>
              <a:rPr sz="1900" b="0">
                <a:solidFill>
                  <a:srgbClr val="261C33"/>
                </a:solidFill>
                <a:latin typeface="Courier New"/>
              </a:rPr>
              <a:t>src/songtaste/</a:t>
            </a:r>
            <a:r>
              <a:rPr sz="1900" b="0">
                <a:solidFill>
                  <a:srgbClr val="261C33"/>
                </a:solidFill>
                <a:latin typeface="Calibri"/>
              </a:rPr>
              <a:t> holds the mechanism as one module per stage (data contract, features, protocol, comparison, prediction), each standing on scikit-learn, pandera and seaborn rather than code of my own, and </a:t>
            </a:r>
            <a:r>
              <a:rPr sz="1900" b="0">
                <a:solidFill>
                  <a:srgbClr val="261C33"/>
                </a:solidFill>
                <a:latin typeface="Courier New"/>
              </a:rPr>
              <a:t>tests/</a:t>
            </a:r>
            <a:r>
              <a:rPr sz="1900" b="0">
                <a:solidFill>
                  <a:srgbClr val="261C33"/>
                </a:solidFill>
                <a:latin typeface="Calibri"/>
              </a:rPr>
              <a:t> checks the contract, the protocol, the rule and the string.</a:t>
            </a:r>
          </a:p>
          <a:p>
            <a:pPr marL="256032" indent="-256032">
              <a:spcAft>
                <a:spcPts val="1000"/>
              </a:spcAft>
              <a:buChar char="•"/>
            </a:pPr>
            <a:r>
              <a:rPr sz="1900" b="0">
                <a:solidFill>
                  <a:srgbClr val="261C33"/>
                </a:solidFill>
                <a:latin typeface="Calibri"/>
              </a:rPr>
              <a:t>The notebooks are where I looked at things and </a:t>
            </a:r>
            <a:r>
              <a:rPr sz="1900" b="0">
                <a:solidFill>
                  <a:srgbClr val="261C33"/>
                </a:solidFill>
                <a:latin typeface="Courier New"/>
              </a:rPr>
              <a:t>results/</a:t>
            </a:r>
            <a:r>
              <a:rPr sz="1900" b="0">
                <a:solidFill>
                  <a:srgbClr val="261C33"/>
                </a:solidFill>
                <a:latin typeface="Calibri"/>
              </a:rPr>
              <a:t> is where every number in these slides is written down, so </a:t>
            </a:r>
            <a:r>
              <a:rPr sz="1900" b="0">
                <a:solidFill>
                  <a:srgbClr val="261C33"/>
                </a:solidFill>
                <a:latin typeface="Courier New"/>
              </a:rPr>
              <a:t>uv sync &amp;&amp; make data &amp;&amp; make test &amp;&amp; make sweep &amp;&amp; make synthesis &amp;&amp; make predict</a:t>
            </a:r>
            <a:r>
              <a:rPr sz="1900" b="0">
                <a:solidFill>
                  <a:srgbClr val="261C33"/>
                </a:solidFill>
                <a:latin typeface="Calibri"/>
              </a:rPr>
              <a:t> reproduces all of it.</a:t>
            </a:r>
          </a:p>
          <a:p>
            <a:pPr marL="256032" indent="-256032">
              <a:spcAft>
                <a:spcPts val="1000"/>
              </a:spcAft>
              <a:buChar char="•"/>
            </a:pPr>
            <a:r>
              <a:rPr sz="1900" b="0">
                <a:solidFill>
                  <a:srgbClr val="261C33"/>
                </a:solidFill>
                <a:latin typeface="Calibri"/>
              </a:rPr>
              <a:t>AI use, per the lab's policy: the package, tests and first drafts of the written results and these slides were produced with Claude (Anthropic) coding agents, working from a plan and a design I set and approved.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