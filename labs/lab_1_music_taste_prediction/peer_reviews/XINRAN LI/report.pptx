
<file path=[Content_Types].xml><?xml version="1.0" encoding="utf-8"?>
<Types xmlns="http://schemas.openxmlformats.org/package/2006/content-types">
  <Default Extension="jp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>
  <p:sldMasterIdLst>
    <p:sldMasterId id="2147483648" r:id="rId1"/>
  </p:sldMasterIdLst>
  <p:notesMasterIdLst>
    <p:notesMasterId r:id="rId14"/>
  </p:notes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</p:sldIdLst>
  <p:sldSz cx="12192000" cy="6858000"/>
  <p:notesSz cx="6858000" cy="9144000"/>
  <p:defaultTextStyle/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11"/>
    <p:restoredTop sz="94624"/>
  </p:normalViewPr>
  <p:slideViewPr>
    <p:cSldViewPr snapToGrid="0">
      <p:cViewPr varScale="1">
        <p:scale>
          <a:sx n="111" d="100"/>
          <a:sy n="111" d="100"/>
        </p:scale>
        <p:origin x="656" y="200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tableStyles" Target="tableStyles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theme" Target="theme/theme1.xml"/><Relationship Id="rId2" Type="http://schemas.openxmlformats.org/officeDocument/2006/relationships/slide" Target="slides/slide1.xml"/><Relationship Id="rId16" Type="http://schemas.openxmlformats.org/officeDocument/2006/relationships/viewProps" Target="viewProp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presProps" Target="presProps.xml"/><Relationship Id="rId10" Type="http://schemas.openxmlformats.org/officeDocument/2006/relationships/slide" Target="slides/slide9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notesMaster" Target="notesMasters/notesMaster1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notesStyle/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1.xml"/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2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peaker notes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algn="l"/>
            <a:r>
              <a:rPr lang="en-US" sz="1400" b="0">
                <a:solidFill>
                  <a:srgbClr val="173346"/>
                </a:solidFill>
                <a:latin typeface="Arial"/>
                <a:ea typeface="PingFang SC"/>
                <a:cs typeface="Arial"/>
              </a:rPr>
              <a:t>任务：根据歌曲特征预测听众喜欢或不喜欢。数据和结果来自本作业的CSV及 results/results.json。</a:t>
            </a:r>
            <a:endParaRPr lang="en-US" sz="1400"/>
          </a:p>
        </p:txBody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peaker notes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algn="l"/>
            <a:r>
              <a:rPr lang="en-US" sz="1400" b="0">
                <a:solidFill>
                  <a:srgbClr val="173346"/>
                </a:solidFill>
                <a:latin typeface="Arial"/>
                <a:ea typeface="PingFang SC"/>
                <a:cs typeface="Arial"/>
              </a:rPr>
              <a:t>14条冗余记录具有完全相同的输入特征，且标签一致。先去重再划分，避免完全重复记录跨训练和验证。没有歌曲ID，不能证明所有特征不同的记录一定来自不同歌曲。</a:t>
            </a:r>
            <a:endParaRPr lang="en-US" sz="1400"/>
          </a:p>
        </p:txBody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peaker notes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algn="l"/>
            <a:r>
              <a:rPr lang="en-US" sz="1400" b="0">
                <a:solidFill>
                  <a:srgbClr val="173346"/>
                </a:solidFill>
                <a:latin typeface="Arial"/>
                <a:ea typeface="PingFang SC"/>
                <a:cs typeface="Arial"/>
              </a:rPr>
              <a:t>所有13个特征保留。类别编码不具有普通数值距离含义。标准化只对逻辑回归、kNN和SVM使用。训练数据没有缺失值，当前代码没有中位数填补。duration以毫秒为单位。极端值缺少错误证据，因此保留。</a:t>
            </a:r>
            <a:endParaRPr lang="en-US" sz="1400"/>
          </a:p>
        </p:txBody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peaker notes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algn="l"/>
            <a:r>
              <a:rPr lang="en-US" sz="1400" b="0">
                <a:solidFill>
                  <a:srgbClr val="173346"/>
                </a:solidFill>
                <a:latin typeface="Arial"/>
                <a:ea typeface="PingFang SC"/>
                <a:cs typeface="Arial"/>
              </a:rPr>
              <a:t>736条记录分层划分为588开发集和148留出集。所有模型共享五折。标准化和类别编码在每折训练部分学习。根据开发集CV平均准确率选择，不用留出集反复调参。seed=42保证复现，没有特殊统计含义。</a:t>
            </a:r>
            <a:endParaRPr lang="en-US" sz="1400"/>
          </a:p>
        </p:txBody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peaker notes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algn="l"/>
            <a:r>
              <a:rPr lang="en-US" sz="1400" b="0">
                <a:solidFill>
                  <a:srgbClr val="173346"/>
                </a:solidFill>
                <a:latin typeface="Arial"/>
                <a:ea typeface="PingFang SC"/>
                <a:cs typeface="Arial"/>
              </a:rPr>
              <a:t>逻辑回归把加权特征映射到喜欢概率。kNN寻找特征接近的训练记录，用标签投票。距离加权让较近邻居权重更大。两者标准化数值列，并对类别列独热编码。官方文档：https://scikit-learn.org/stable/supervised_learning.html</a:t>
            </a:r>
            <a:endParaRPr lang="en-US" sz="1400"/>
          </a:p>
        </p:txBody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peaker notes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algn="l"/>
            <a:r>
              <a:rPr lang="en-US" sz="1400" b="0">
                <a:solidFill>
                  <a:srgbClr val="173346"/>
                </a:solidFill>
                <a:latin typeface="Arial"/>
                <a:ea typeface="PingFang SC"/>
                <a:cs typeface="Arial"/>
              </a:rPr>
              <a:t>SVM寻找间隔较大的分类边界，支持向量决定边界。RBF核可实现非线性边界。C越大，对错误或间隔违反的惩罚通常越强。gamma越大，相似度影响越局部，可能更容易过拟合。官方文档：https://scikit-learn.org/stable/modules/svm.html</a:t>
            </a:r>
            <a:endParaRPr lang="en-US" sz="1400"/>
          </a:p>
        </p:txBody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peaker notes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algn="l"/>
            <a:r>
              <a:rPr lang="en-US" sz="1400" b="0">
                <a:solidFill>
                  <a:srgbClr val="173346"/>
                </a:solidFill>
                <a:latin typeface="Arial"/>
                <a:ea typeface="PingFang SC"/>
                <a:cs typeface="Arial"/>
              </a:rPr>
              <a:t>随机森林在bootstrap样本上训练不同树，每次分裂随机选择候选特征，最后综合概率。梯度提升依次添加树以减少损失。两种方法均编码类别，但不需要标准化数值。官方文档：https://scikit-learn.org/stable/modules/ensemble.html</a:t>
            </a:r>
            <a:endParaRPr lang="en-US" sz="1400"/>
          </a:p>
        </p:txBody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peaker notes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algn="l"/>
            <a:r>
              <a:rPr lang="en-US" sz="1400" b="0">
                <a:solidFill>
                  <a:srgbClr val="173346"/>
                </a:solidFill>
                <a:latin typeface="Arial"/>
                <a:ea typeface="PingFang SC"/>
                <a:cs typeface="Arial"/>
              </a:rPr>
              <a:t>45组参数乘5折得到225次验证训练，不包含GridSearchCV最后的全开发集重新拟合。模型名后的参数均为实际尝试的范围。官方文档：https://scikit-learn.org/stable/modules/grid_search.html</a:t>
            </a:r>
            <a:endParaRPr lang="en-US" sz="1400"/>
          </a:p>
        </p:txBody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peaker notes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algn="l"/>
            <a:r>
              <a:rPr lang="en-US" sz="1400" b="0">
                <a:solidFill>
                  <a:srgbClr val="173346"/>
                </a:solidFill>
                <a:latin typeface="Arial"/>
                <a:ea typeface="PingFang SC"/>
                <a:cs typeface="Arial"/>
              </a:rPr>
              <a:t>横条长度读取results/results.json中五折平均准确率，共同尺度0–100%。柱形和文字可分别编辑，不依赖原生图表插件。右列Fold SD为折间标准差，单位百分点，不是置信区间。随机森林83.33%，梯度提升83.00%，差约0.33个百分点，不能证明有显著优势。调参分数可能乐观。</a:t>
            </a:r>
            <a:endParaRPr lang="en-US" sz="1400"/>
          </a:p>
        </p:txBody>
      </p:sp>
    </p:spTree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peaker notes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algn="l"/>
            <a:r>
              <a:rPr lang="en-US" sz="1400" b="0">
                <a:solidFill>
                  <a:srgbClr val="173346"/>
                </a:solidFill>
                <a:latin typeface="Arial"/>
                <a:ea typeface="PingFang SC"/>
                <a:cs typeface="Arial"/>
              </a:rPr>
              <a:t>本页是未参与选择的留出集结果。120/148=81.08%。不喜欢召回率41/59，喜欢召回率79/89，两者平均为平衡准确率。F1是喜欢类精确率和召回率的调和平均。AUC是分数排序能力。148条记录且只有一次划分，未来性能估计存在不确定性。</a:t>
            </a:r>
            <a:endParaRPr lang="en-US" sz="1400"/>
          </a:p>
        </p:txBody>
      </p:sp>
    </p:spTree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peaker notes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algn="l"/>
            <a:r>
              <a:rPr lang="en-US" sz="1400" b="0">
                <a:solidFill>
                  <a:srgbClr val="173346"/>
                </a:solidFill>
                <a:latin typeface="Arial"/>
                <a:ea typeface="PingFang SC"/>
                <a:cs typeface="Arial"/>
              </a:rPr>
              <a:t>冻结随机森林参数：150棵树、最大深度8、叶节点至少3样本。clone创建未拟合副本，然后使用全部736条记录训练。按原始CSV顺序生成200个0/1，无空格。预测128喜欢72不喜欢。用户自行在排行榜提交。未知标签没有用于调参。</a:t>
            </a:r>
            <a:endParaRPr lang="en-US" sz="1400"/>
          </a:p>
        </p:txBody>
      </p:sp>
    </p:spTree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peaker notes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algn="l"/>
            <a:r>
              <a:rPr lang="en-US" sz="1400" b="0">
                <a:solidFill>
                  <a:srgbClr val="173346"/>
                </a:solidFill>
                <a:latin typeface="Arial"/>
                <a:ea typeface="PingFang SC"/>
                <a:cs typeface="Arial"/>
              </a:rPr>
              <a:t>最佳仅指此次模型和参数范围。样本小，一次留出划分，领先模型分数差小。数据不含歌手ID，无法按歌手分组。排行榜准确率未知。按lab1.pdf第7节公开AI使用，学生需亲自理解并整理。参考原作业、CSV、scikit-learn官方文档。</a:t>
            </a:r>
            <a:endParaRPr lang="en-US" sz="1400"/>
          </a:p>
        </p:txBody>
      </p:sp>
    </p:spTree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2" Type="http://schemas.openxmlformats.org/officeDocument/2006/relationships/theme" Target="../theme/theme1.xml"/><Relationship Id="rId1" Type="http://schemas.openxmlformats.org/officeDocument/2006/relationships/slideLayout" Target="../slideLayouts/slideLayout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 name="Minimal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txStyles>
    <p:titleStyle/>
    <p:bodyStyle/>
    <p:otherStyle/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jpg"/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1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1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1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1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1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1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1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1.xml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1.xml"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1.xml"/><Relationship Id="rId1" Type="http://schemas.openxmlformats.org/officeDocument/2006/relationships/slideLayout" Target="../slideLayouts/slideLayout1.xml"/></Relationships>
</file>

<file path=ppt/slides/_rels/slide1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2.xml"/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2"/>
          <p:cNvSpPr txBox="1"/>
          <p:nvPr/>
        </p:nvSpPr>
        <p:spPr>
          <a:xfrm>
            <a:off x="609600" y="431800"/>
            <a:ext cx="10972800" cy="88900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/>
          <a:lstStyle/>
          <a:p>
            <a:pPr algn="l"/>
            <a:r>
              <a:rPr lang="en-US" sz="3200" b="1">
                <a:solidFill>
                  <a:srgbClr val="173346"/>
                </a:solidFill>
                <a:latin typeface="Arial"/>
                <a:ea typeface="PingFang SC"/>
                <a:cs typeface="Arial"/>
              </a:rPr>
              <a:t>Music preference classification</a:t>
            </a:r>
            <a:endParaRPr lang="en-US" sz="3200"/>
          </a:p>
        </p:txBody>
      </p:sp>
      <p:sp>
        <p:nvSpPr>
          <p:cNvPr id="3" name="Text 3"/>
          <p:cNvSpPr txBox="1"/>
          <p:nvPr/>
        </p:nvSpPr>
        <p:spPr>
          <a:xfrm>
            <a:off x="11201400" y="6388100"/>
            <a:ext cx="381000" cy="22860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/>
          <a:lstStyle/>
          <a:p>
            <a:pPr algn="l"/>
            <a:r>
              <a:rPr lang="en-US" sz="1100" b="0">
                <a:solidFill>
                  <a:srgbClr val="52636D"/>
                </a:solidFill>
                <a:latin typeface="Arial"/>
                <a:ea typeface="PingFang SC"/>
                <a:cs typeface="Arial"/>
              </a:rPr>
              <a:t>01</a:t>
            </a:r>
            <a:endParaRPr lang="en-US" sz="1100"/>
          </a:p>
        </p:txBody>
      </p:sp>
      <p:sp>
        <p:nvSpPr>
          <p:cNvPr id="4" name="Text 4"/>
          <p:cNvSpPr txBox="1"/>
          <p:nvPr/>
        </p:nvSpPr>
        <p:spPr>
          <a:xfrm>
            <a:off x="609600" y="2057400"/>
            <a:ext cx="10795000" cy="96520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/>
          <a:lstStyle/>
          <a:p>
            <a:pPr algn="l"/>
            <a:r>
              <a:rPr lang="en-US" sz="3500" b="0">
                <a:solidFill>
                  <a:srgbClr val="147D92"/>
                </a:solidFill>
                <a:latin typeface="Arial"/>
                <a:ea typeface="PingFang SC"/>
                <a:cs typeface="Arial"/>
              </a:rPr>
              <a:t>A comparison of five classification models</a:t>
            </a:r>
            <a:endParaRPr lang="en-US" sz="3500"/>
          </a:p>
        </p:txBody>
      </p:sp>
      <p:sp>
        <p:nvSpPr>
          <p:cNvPr id="5" name="Text 5"/>
          <p:cNvSpPr txBox="1"/>
          <p:nvPr/>
        </p:nvSpPr>
        <p:spPr>
          <a:xfrm>
            <a:off x="609600" y="3644900"/>
            <a:ext cx="10795000" cy="76200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/>
          <a:lstStyle/>
          <a:p>
            <a:pPr algn="l"/>
            <a:r>
              <a:rPr lang="en-US" sz="2400" b="0">
                <a:solidFill>
                  <a:srgbClr val="173346"/>
                </a:solidFill>
                <a:latin typeface="Arial"/>
                <a:ea typeface="PingFang SC"/>
                <a:cs typeface="Arial"/>
              </a:rPr>
              <a:t>750 labeled rows     13 features     200 target songs</a:t>
            </a:r>
            <a:endParaRPr lang="en-US" sz="2400"/>
          </a:p>
        </p:txBody>
      </p:sp>
      <p:sp>
        <p:nvSpPr>
          <p:cNvPr id="6" name="Text 6"/>
          <p:cNvSpPr txBox="1"/>
          <p:nvPr/>
        </p:nvSpPr>
        <p:spPr>
          <a:xfrm>
            <a:off x="609600" y="5041900"/>
            <a:ext cx="10795000" cy="78740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/>
          <a:lstStyle/>
          <a:p>
            <a:pPr algn="l"/>
            <a:r>
              <a:rPr lang="en-US" sz="2000" b="0">
                <a:solidFill>
                  <a:srgbClr val="52636D"/>
                </a:solidFill>
                <a:latin typeface="Arial"/>
                <a:ea typeface="PingFang SC"/>
                <a:cs typeface="Arial"/>
              </a:rPr>
              <a:t>Lab 1</a:t>
            </a:r>
            <a:endParaRPr lang="en-US" sz="2000"/>
          </a:p>
          <a:p>
            <a:pPr algn="l"/>
            <a:r>
              <a:rPr lang="en-US" sz="2000" b="0">
                <a:solidFill>
                  <a:srgbClr val="52636D"/>
                </a:solidFill>
                <a:latin typeface="Arial"/>
                <a:ea typeface="PingFang SC"/>
                <a:cs typeface="Arial"/>
              </a:rPr>
              <a:t>Presenter: XINRAN LI</a:t>
            </a:r>
            <a:endParaRPr lang="en-US" sz="200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2"/>
          <p:cNvSpPr txBox="1"/>
          <p:nvPr/>
        </p:nvSpPr>
        <p:spPr>
          <a:xfrm>
            <a:off x="609600" y="431800"/>
            <a:ext cx="10972800" cy="88900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/>
          <a:lstStyle/>
          <a:p>
            <a:pPr algn="l"/>
            <a:r>
              <a:rPr lang="en-US" sz="3200" b="1">
                <a:solidFill>
                  <a:srgbClr val="173346"/>
                </a:solidFill>
                <a:latin typeface="Arial"/>
                <a:ea typeface="PingFang SC"/>
                <a:cs typeface="Arial"/>
              </a:rPr>
              <a:t>Dataset inspection</a:t>
            </a:r>
            <a:endParaRPr lang="en-US" sz="3200"/>
          </a:p>
        </p:txBody>
      </p:sp>
      <p:sp>
        <p:nvSpPr>
          <p:cNvPr id="3" name="Text 3"/>
          <p:cNvSpPr txBox="1"/>
          <p:nvPr/>
        </p:nvSpPr>
        <p:spPr>
          <a:xfrm>
            <a:off x="11201400" y="6388100"/>
            <a:ext cx="381000" cy="22860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/>
          <a:lstStyle/>
          <a:p>
            <a:pPr algn="l"/>
            <a:r>
              <a:rPr lang="en-US" sz="1100" b="0">
                <a:solidFill>
                  <a:srgbClr val="52636D"/>
                </a:solidFill>
                <a:latin typeface="Arial"/>
                <a:ea typeface="PingFang SC"/>
                <a:cs typeface="Arial"/>
              </a:rPr>
              <a:t>02</a:t>
            </a:r>
            <a:endParaRPr lang="en-US" sz="1100"/>
          </a:p>
        </p:txBody>
      </p:sp>
      <p:sp>
        <p:nvSpPr>
          <p:cNvPr id="4" name="Text 4"/>
          <p:cNvSpPr txBox="1"/>
          <p:nvPr/>
        </p:nvSpPr>
        <p:spPr>
          <a:xfrm>
            <a:off x="609600" y="1397000"/>
            <a:ext cx="10922000" cy="50800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/>
          <a:lstStyle/>
          <a:p>
            <a:pPr algn="l"/>
            <a:r>
              <a:rPr lang="en-US" sz="2300" b="1">
                <a:solidFill>
                  <a:srgbClr val="147D92"/>
                </a:solidFill>
                <a:latin typeface="Arial"/>
                <a:ea typeface="PingFang SC"/>
                <a:cs typeface="Arial"/>
              </a:rPr>
              <a:t>736 records after removing 14 duplicate feature rows</a:t>
            </a:r>
            <a:endParaRPr lang="en-US" sz="2300"/>
          </a:p>
        </p:txBody>
      </p:sp>
      <p:sp>
        <p:nvSpPr>
          <p:cNvPr id="5" name="Text 5"/>
          <p:cNvSpPr txBox="1"/>
          <p:nvPr/>
        </p:nvSpPr>
        <p:spPr>
          <a:xfrm>
            <a:off x="609600" y="1955800"/>
            <a:ext cx="10922000" cy="48260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/>
          <a:lstStyle/>
          <a:p>
            <a:pPr algn="l"/>
            <a:r>
              <a:rPr lang="en-US" sz="2100" b="0">
                <a:solidFill>
                  <a:srgbClr val="173346"/>
                </a:solidFill>
                <a:latin typeface="Arial"/>
                <a:ea typeface="PingFang SC"/>
                <a:cs typeface="Arial"/>
              </a:rPr>
              <a:t>443 likes / 293 dislikes     No missing or nonfinite values</a:t>
            </a:r>
            <a:endParaRPr lang="en-US" sz="2100"/>
          </a:p>
        </p:txBody>
      </p:sp>
      <p:pic>
        <p:nvPicPr>
          <p:cNvPr id="6" name="Data distributions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370852" y="2603500"/>
            <a:ext cx="9450294" cy="3213099"/>
          </a:xfrm>
          <a:prstGeom prst="rect">
            <a:avLst/>
          </a:prstGeom>
        </p:spPr>
      </p:pic>
      <p:sp>
        <p:nvSpPr>
          <p:cNvPr id="7" name="Text 7"/>
          <p:cNvSpPr txBox="1"/>
          <p:nvPr/>
        </p:nvSpPr>
        <p:spPr>
          <a:xfrm>
            <a:off x="609600" y="5981700"/>
            <a:ext cx="10795000" cy="33020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/>
          <a:lstStyle/>
          <a:p>
            <a:pPr algn="l"/>
            <a:r>
              <a:rPr lang="en-US" sz="1800" b="0">
                <a:solidFill>
                  <a:srgbClr val="52636D"/>
                </a:solidFill>
                <a:latin typeface="Arial"/>
                <a:ea typeface="PingFang SC"/>
                <a:cs typeface="Arial"/>
              </a:rPr>
              <a:t>The two classes overlap in energy and instrumentalness.</a:t>
            </a:r>
            <a:endParaRPr lang="en-US" sz="180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2"/>
          <p:cNvSpPr txBox="1"/>
          <p:nvPr/>
        </p:nvSpPr>
        <p:spPr>
          <a:xfrm>
            <a:off x="609600" y="431800"/>
            <a:ext cx="10972800" cy="88900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/>
          <a:lstStyle/>
          <a:p>
            <a:pPr algn="l"/>
            <a:r>
              <a:rPr lang="en-US" sz="3200" b="1">
                <a:solidFill>
                  <a:srgbClr val="173346"/>
                </a:solidFill>
                <a:latin typeface="Arial"/>
                <a:ea typeface="PingFang SC"/>
                <a:cs typeface="Arial"/>
              </a:rPr>
              <a:t>Features and preprocessing</a:t>
            </a:r>
            <a:endParaRPr lang="en-US" sz="3200"/>
          </a:p>
        </p:txBody>
      </p:sp>
      <p:sp>
        <p:nvSpPr>
          <p:cNvPr id="3" name="Text 3"/>
          <p:cNvSpPr txBox="1"/>
          <p:nvPr/>
        </p:nvSpPr>
        <p:spPr>
          <a:xfrm>
            <a:off x="11201400" y="6388100"/>
            <a:ext cx="381000" cy="22860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/>
          <a:lstStyle/>
          <a:p>
            <a:pPr algn="l"/>
            <a:r>
              <a:rPr lang="en-US" sz="1100" b="0">
                <a:solidFill>
                  <a:srgbClr val="52636D"/>
                </a:solidFill>
                <a:latin typeface="Arial"/>
                <a:ea typeface="PingFang SC"/>
                <a:cs typeface="Arial"/>
              </a:rPr>
              <a:t>03</a:t>
            </a:r>
            <a:endParaRPr lang="en-US" sz="1100"/>
          </a:p>
        </p:txBody>
      </p:sp>
      <p:sp>
        <p:nvSpPr>
          <p:cNvPr id="4" name="Table row 1"/>
          <p:cNvSpPr/>
          <p:nvPr/>
        </p:nvSpPr>
        <p:spPr>
          <a:xfrm>
            <a:off x="609600" y="1524000"/>
            <a:ext cx="10972800" cy="558800"/>
          </a:xfrm>
          <a:prstGeom prst="rect">
            <a:avLst/>
          </a:prstGeom>
          <a:solidFill>
            <a:srgbClr val="173346"/>
          </a:solidFill>
          <a:ln>
            <a:noFill/>
          </a:ln>
        </p:spPr>
        <p:txBody>
          <a:bodyPr/>
          <a:lstStyle/>
          <a:p>
            <a:endParaRPr lang="zh-CN" altLang="en-US"/>
          </a:p>
        </p:txBody>
      </p:sp>
      <p:sp>
        <p:nvSpPr>
          <p:cNvPr id="5" name="Text 5"/>
          <p:cNvSpPr txBox="1"/>
          <p:nvPr/>
        </p:nvSpPr>
        <p:spPr>
          <a:xfrm>
            <a:off x="736600" y="1640839"/>
            <a:ext cx="3048000" cy="37846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/>
          <a:lstStyle/>
          <a:p>
            <a:pPr algn="l"/>
            <a:r>
              <a:rPr lang="en-US" sz="1800" b="1">
                <a:solidFill>
                  <a:srgbClr val="FFFFFF"/>
                </a:solidFill>
                <a:latin typeface="Arial"/>
                <a:ea typeface="PingFang SC"/>
                <a:cs typeface="Arial"/>
              </a:rPr>
              <a:t>Inputs</a:t>
            </a:r>
            <a:endParaRPr lang="en-US" sz="1800"/>
          </a:p>
        </p:txBody>
      </p:sp>
      <p:sp>
        <p:nvSpPr>
          <p:cNvPr id="6" name="Text 6"/>
          <p:cNvSpPr txBox="1"/>
          <p:nvPr/>
        </p:nvSpPr>
        <p:spPr>
          <a:xfrm>
            <a:off x="4038600" y="1640839"/>
            <a:ext cx="7416800" cy="37846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/>
          <a:lstStyle/>
          <a:p>
            <a:pPr algn="l"/>
            <a:r>
              <a:rPr lang="en-US" sz="1800" b="1">
                <a:solidFill>
                  <a:srgbClr val="FFFFFF"/>
                </a:solidFill>
                <a:latin typeface="Arial"/>
                <a:ea typeface="PingFang SC"/>
                <a:cs typeface="Arial"/>
              </a:rPr>
              <a:t>Treatment and motivation</a:t>
            </a:r>
            <a:endParaRPr lang="en-US" sz="1800"/>
          </a:p>
        </p:txBody>
      </p:sp>
      <p:sp>
        <p:nvSpPr>
          <p:cNvPr id="7" name="Table row 2"/>
          <p:cNvSpPr/>
          <p:nvPr/>
        </p:nvSpPr>
        <p:spPr>
          <a:xfrm>
            <a:off x="609600" y="2082800"/>
            <a:ext cx="10972800" cy="1092200"/>
          </a:xfrm>
          <a:prstGeom prst="rect">
            <a:avLst/>
          </a:prstGeom>
          <a:solidFill>
            <a:srgbClr val="EDF4F6"/>
          </a:solidFill>
          <a:ln>
            <a:noFill/>
          </a:ln>
        </p:spPr>
        <p:txBody>
          <a:bodyPr/>
          <a:lstStyle/>
          <a:p>
            <a:endParaRPr lang="zh-CN" altLang="en-US"/>
          </a:p>
        </p:txBody>
      </p:sp>
      <p:sp>
        <p:nvSpPr>
          <p:cNvPr id="8" name="Text 8"/>
          <p:cNvSpPr txBox="1"/>
          <p:nvPr/>
        </p:nvSpPr>
        <p:spPr>
          <a:xfrm>
            <a:off x="736600" y="2466340"/>
            <a:ext cx="3048000" cy="64516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/>
          <a:lstStyle/>
          <a:p>
            <a:pPr algn="l"/>
            <a:r>
              <a:rPr lang="en-US" sz="1800" b="0">
                <a:solidFill>
                  <a:srgbClr val="173346"/>
                </a:solidFill>
                <a:latin typeface="Arial"/>
                <a:ea typeface="PingFang SC"/>
                <a:cs typeface="Arial"/>
              </a:rPr>
              <a:t>10 numeric features</a:t>
            </a:r>
            <a:endParaRPr lang="en-US" sz="1800"/>
          </a:p>
        </p:txBody>
      </p:sp>
      <p:sp>
        <p:nvSpPr>
          <p:cNvPr id="9" name="Text 9"/>
          <p:cNvSpPr txBox="1"/>
          <p:nvPr/>
        </p:nvSpPr>
        <p:spPr>
          <a:xfrm>
            <a:off x="4038600" y="2329180"/>
            <a:ext cx="7416800" cy="782319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/>
          <a:lstStyle/>
          <a:p>
            <a:pPr algn="l"/>
            <a:r>
              <a:rPr lang="en-US" sz="1800" b="0">
                <a:solidFill>
                  <a:srgbClr val="173346"/>
                </a:solidFill>
                <a:latin typeface="Arial"/>
                <a:ea typeface="PingFang SC"/>
                <a:cs typeface="Arial"/>
              </a:rPr>
              <a:t>StandardScaler for logistic regression, k-NN and SVM</a:t>
            </a:r>
            <a:endParaRPr lang="en-US" sz="1800"/>
          </a:p>
          <a:p>
            <a:pPr algn="l"/>
            <a:r>
              <a:rPr lang="en-US" sz="1800" b="0">
                <a:solidFill>
                  <a:srgbClr val="173346"/>
                </a:solidFill>
                <a:latin typeface="Arial"/>
                <a:ea typeface="PingFang SC"/>
                <a:cs typeface="Arial"/>
              </a:rPr>
              <a:t>Original scale for random forest and gradient boosting</a:t>
            </a:r>
            <a:endParaRPr lang="en-US" sz="1800"/>
          </a:p>
        </p:txBody>
      </p:sp>
      <p:sp>
        <p:nvSpPr>
          <p:cNvPr id="10" name="Table row 3"/>
          <p:cNvSpPr/>
          <p:nvPr/>
        </p:nvSpPr>
        <p:spPr>
          <a:xfrm>
            <a:off x="609600" y="3175000"/>
            <a:ext cx="10972800" cy="10922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txBody>
          <a:bodyPr/>
          <a:lstStyle/>
          <a:p>
            <a:endParaRPr lang="zh-CN" altLang="en-US"/>
          </a:p>
        </p:txBody>
      </p:sp>
      <p:sp>
        <p:nvSpPr>
          <p:cNvPr id="11" name="Text 11"/>
          <p:cNvSpPr txBox="1"/>
          <p:nvPr/>
        </p:nvSpPr>
        <p:spPr>
          <a:xfrm>
            <a:off x="736600" y="3558540"/>
            <a:ext cx="3048000" cy="64516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/>
          <a:lstStyle/>
          <a:p>
            <a:pPr algn="l"/>
            <a:r>
              <a:rPr lang="en-US" sz="1800" b="0">
                <a:solidFill>
                  <a:srgbClr val="173346"/>
                </a:solidFill>
                <a:latin typeface="Arial"/>
                <a:ea typeface="PingFang SC"/>
                <a:cs typeface="Arial"/>
              </a:rPr>
              <a:t>key, mode, time_signature</a:t>
            </a:r>
            <a:endParaRPr lang="en-US" sz="1800"/>
          </a:p>
        </p:txBody>
      </p:sp>
      <p:sp>
        <p:nvSpPr>
          <p:cNvPr id="12" name="Text 12"/>
          <p:cNvSpPr txBox="1"/>
          <p:nvPr/>
        </p:nvSpPr>
        <p:spPr>
          <a:xfrm>
            <a:off x="4038600" y="3421379"/>
            <a:ext cx="7416800" cy="78232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/>
          <a:lstStyle/>
          <a:p>
            <a:pPr algn="l"/>
            <a:r>
              <a:rPr lang="en-US" sz="1800" b="0">
                <a:solidFill>
                  <a:srgbClr val="173346"/>
                </a:solidFill>
                <a:latin typeface="Arial"/>
                <a:ea typeface="PingFang SC"/>
                <a:cs typeface="Arial"/>
              </a:rPr>
              <a:t>One-hot encoding</a:t>
            </a:r>
            <a:endParaRPr lang="en-US" sz="1800"/>
          </a:p>
          <a:p>
            <a:pPr algn="l"/>
            <a:r>
              <a:rPr lang="en-US" sz="1800" b="0">
                <a:solidFill>
                  <a:srgbClr val="173346"/>
                </a:solidFill>
                <a:latin typeface="Arial"/>
                <a:ea typeface="PingFang SC"/>
                <a:cs typeface="Arial"/>
              </a:rPr>
              <a:t>Avoid imposing numeric distances on category codes</a:t>
            </a:r>
            <a:endParaRPr lang="en-US" sz="1800"/>
          </a:p>
        </p:txBody>
      </p:sp>
      <p:sp>
        <p:nvSpPr>
          <p:cNvPr id="13" name="Table row 4"/>
          <p:cNvSpPr/>
          <p:nvPr/>
        </p:nvSpPr>
        <p:spPr>
          <a:xfrm>
            <a:off x="609600" y="4267200"/>
            <a:ext cx="10972800" cy="1092200"/>
          </a:xfrm>
          <a:prstGeom prst="rect">
            <a:avLst/>
          </a:prstGeom>
          <a:solidFill>
            <a:srgbClr val="EDF4F6"/>
          </a:solidFill>
          <a:ln>
            <a:noFill/>
          </a:ln>
        </p:spPr>
        <p:txBody>
          <a:bodyPr/>
          <a:lstStyle/>
          <a:p>
            <a:endParaRPr lang="zh-CN" altLang="en-US"/>
          </a:p>
        </p:txBody>
      </p:sp>
      <p:sp>
        <p:nvSpPr>
          <p:cNvPr id="14" name="Text 14"/>
          <p:cNvSpPr txBox="1"/>
          <p:nvPr/>
        </p:nvSpPr>
        <p:spPr>
          <a:xfrm>
            <a:off x="736600" y="4650740"/>
            <a:ext cx="3048000" cy="64516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/>
          <a:lstStyle/>
          <a:p>
            <a:pPr algn="l"/>
            <a:r>
              <a:rPr lang="en-US" sz="1800" b="0">
                <a:solidFill>
                  <a:srgbClr val="173346"/>
                </a:solidFill>
                <a:latin typeface="Arial"/>
                <a:ea typeface="PingFang SC"/>
                <a:cs typeface="Arial"/>
              </a:rPr>
              <a:t>Feature selection / outliers</a:t>
            </a:r>
            <a:endParaRPr lang="en-US" sz="1800"/>
          </a:p>
        </p:txBody>
      </p:sp>
      <p:sp>
        <p:nvSpPr>
          <p:cNvPr id="15" name="Text 15"/>
          <p:cNvSpPr txBox="1"/>
          <p:nvPr/>
        </p:nvSpPr>
        <p:spPr>
          <a:xfrm>
            <a:off x="4038600" y="4513580"/>
            <a:ext cx="7416800" cy="78232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/>
          <a:lstStyle/>
          <a:p>
            <a:pPr algn="l"/>
            <a:r>
              <a:rPr lang="en-US" sz="1800" b="0" dirty="0">
                <a:solidFill>
                  <a:srgbClr val="173346"/>
                </a:solidFill>
                <a:latin typeface="Arial"/>
                <a:ea typeface="PingFang SC"/>
                <a:cs typeface="Arial"/>
              </a:rPr>
              <a:t>Keep all 13 inputs to limit additional model search</a:t>
            </a:r>
            <a:endParaRPr lang="en-US" sz="1800" dirty="0"/>
          </a:p>
          <a:p>
            <a:pPr algn="l"/>
            <a:r>
              <a:rPr lang="en-US" sz="1800" b="0" dirty="0">
                <a:solidFill>
                  <a:srgbClr val="173346"/>
                </a:solidFill>
                <a:latin typeface="Arial"/>
                <a:ea typeface="PingFang SC"/>
                <a:cs typeface="Arial"/>
              </a:rPr>
              <a:t>Retain plausible </a:t>
            </a:r>
            <a:r>
              <a:rPr lang="en-US" sz="1800" b="0">
                <a:solidFill>
                  <a:srgbClr val="173346"/>
                </a:solidFill>
                <a:latin typeface="Arial"/>
                <a:ea typeface="PingFang SC"/>
                <a:cs typeface="Arial"/>
              </a:rPr>
              <a:t>extreme values</a:t>
            </a:r>
            <a:endParaRPr lang="en-US" sz="1800" dirty="0"/>
          </a:p>
        </p:txBody>
      </p:sp>
      <p:sp>
        <p:nvSpPr>
          <p:cNvPr id="16" name="Text 16"/>
          <p:cNvSpPr txBox="1"/>
          <p:nvPr/>
        </p:nvSpPr>
        <p:spPr>
          <a:xfrm>
            <a:off x="609600" y="5588000"/>
            <a:ext cx="10972800" cy="67310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/>
          <a:lstStyle/>
          <a:p>
            <a:pPr algn="l"/>
            <a:r>
              <a:rPr lang="en-US" sz="1700" b="0">
                <a:solidFill>
                  <a:srgbClr val="52636D"/>
                </a:solidFill>
                <a:latin typeface="Arial"/>
                <a:ea typeface="PingFang SC"/>
                <a:cs typeface="Arial"/>
              </a:rPr>
              <a:t>Numeric: acousticness, danceability, duration, energy, instrumentalness,</a:t>
            </a:r>
            <a:endParaRPr lang="en-US" sz="1700"/>
          </a:p>
          <a:p>
            <a:pPr algn="l"/>
            <a:r>
              <a:rPr lang="en-US" sz="1700" b="0">
                <a:solidFill>
                  <a:srgbClr val="52636D"/>
                </a:solidFill>
                <a:latin typeface="Arial"/>
                <a:ea typeface="PingFang SC"/>
                <a:cs typeface="Arial"/>
              </a:rPr>
              <a:t>liveness, loudness, speechiness, tempo and valence</a:t>
            </a:r>
            <a:endParaRPr lang="en-US" sz="170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2"/>
          <p:cNvSpPr txBox="1"/>
          <p:nvPr/>
        </p:nvSpPr>
        <p:spPr>
          <a:xfrm>
            <a:off x="609600" y="431800"/>
            <a:ext cx="10972800" cy="88900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/>
          <a:lstStyle/>
          <a:p>
            <a:pPr algn="l"/>
            <a:r>
              <a:rPr lang="en-US" sz="3200" b="1">
                <a:solidFill>
                  <a:srgbClr val="173346"/>
                </a:solidFill>
                <a:latin typeface="Arial"/>
                <a:ea typeface="PingFang SC"/>
                <a:cs typeface="Arial"/>
              </a:rPr>
              <a:t>Validation and model selection</a:t>
            </a:r>
            <a:endParaRPr lang="en-US" sz="3200"/>
          </a:p>
        </p:txBody>
      </p:sp>
      <p:sp>
        <p:nvSpPr>
          <p:cNvPr id="3" name="Text 3"/>
          <p:cNvSpPr txBox="1"/>
          <p:nvPr/>
        </p:nvSpPr>
        <p:spPr>
          <a:xfrm>
            <a:off x="11201400" y="6388100"/>
            <a:ext cx="381000" cy="22860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/>
          <a:lstStyle/>
          <a:p>
            <a:pPr algn="l"/>
            <a:r>
              <a:rPr lang="en-US" sz="1100" b="0">
                <a:solidFill>
                  <a:srgbClr val="52636D"/>
                </a:solidFill>
                <a:latin typeface="Arial"/>
                <a:ea typeface="PingFang SC"/>
                <a:cs typeface="Arial"/>
              </a:rPr>
              <a:t>04</a:t>
            </a:r>
            <a:endParaRPr lang="en-US" sz="1100"/>
          </a:p>
        </p:txBody>
      </p:sp>
      <p:sp>
        <p:nvSpPr>
          <p:cNvPr id="4" name="Text 4"/>
          <p:cNvSpPr txBox="1"/>
          <p:nvPr/>
        </p:nvSpPr>
        <p:spPr>
          <a:xfrm>
            <a:off x="609600" y="1485900"/>
            <a:ext cx="10972800" cy="35560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/>
          <a:lstStyle/>
          <a:p>
            <a:pPr algn="l"/>
            <a:r>
              <a:rPr lang="en-US" sz="2100" b="1">
                <a:solidFill>
                  <a:srgbClr val="147D92"/>
                </a:solidFill>
                <a:latin typeface="Arial"/>
                <a:ea typeface="PingFang SC"/>
                <a:cs typeface="Arial"/>
              </a:rPr>
              <a:t>Fixed split</a:t>
            </a:r>
            <a:endParaRPr lang="en-US" sz="2100"/>
          </a:p>
        </p:txBody>
      </p:sp>
      <p:sp>
        <p:nvSpPr>
          <p:cNvPr id="5" name="Text 5"/>
          <p:cNvSpPr txBox="1"/>
          <p:nvPr/>
        </p:nvSpPr>
        <p:spPr>
          <a:xfrm>
            <a:off x="609600" y="1905000"/>
            <a:ext cx="10972800" cy="71120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/>
          <a:lstStyle/>
          <a:p>
            <a:pPr algn="l"/>
            <a:r>
              <a:rPr lang="en-US" sz="2100" b="0">
                <a:solidFill>
                  <a:srgbClr val="173346"/>
                </a:solidFill>
                <a:latin typeface="Arial"/>
                <a:ea typeface="PingFang SC"/>
                <a:cs typeface="Arial"/>
              </a:rPr>
              <a:t>588 development records and 148 holdout records</a:t>
            </a:r>
            <a:endParaRPr lang="en-US" sz="2100"/>
          </a:p>
          <a:p>
            <a:pPr algn="l"/>
            <a:r>
              <a:rPr lang="en-US" sz="2100" b="0">
                <a:solidFill>
                  <a:srgbClr val="173346"/>
                </a:solidFill>
                <a:latin typeface="Arial"/>
                <a:ea typeface="PingFang SC"/>
                <a:cs typeface="Arial"/>
              </a:rPr>
              <a:t>Stratified sampling with random seed 42</a:t>
            </a:r>
            <a:endParaRPr lang="en-US" sz="2100"/>
          </a:p>
        </p:txBody>
      </p:sp>
      <p:sp>
        <p:nvSpPr>
          <p:cNvPr id="6" name="Text 6"/>
          <p:cNvSpPr txBox="1"/>
          <p:nvPr/>
        </p:nvSpPr>
        <p:spPr>
          <a:xfrm>
            <a:off x="609600" y="3111500"/>
            <a:ext cx="10972800" cy="35560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/>
          <a:lstStyle/>
          <a:p>
            <a:pPr algn="l"/>
            <a:r>
              <a:rPr lang="en-US" sz="2100" b="1">
                <a:solidFill>
                  <a:srgbClr val="147D92"/>
                </a:solidFill>
                <a:latin typeface="Arial"/>
                <a:ea typeface="PingFang SC"/>
                <a:cs typeface="Arial"/>
              </a:rPr>
              <a:t>Shared five-fold cross-validation</a:t>
            </a:r>
            <a:endParaRPr lang="en-US" sz="2100"/>
          </a:p>
        </p:txBody>
      </p:sp>
      <p:sp>
        <p:nvSpPr>
          <p:cNvPr id="7" name="Text 7"/>
          <p:cNvSpPr txBox="1"/>
          <p:nvPr/>
        </p:nvSpPr>
        <p:spPr>
          <a:xfrm>
            <a:off x="609600" y="3530600"/>
            <a:ext cx="10972800" cy="71120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/>
          <a:lstStyle/>
          <a:p>
            <a:pPr algn="l"/>
            <a:r>
              <a:rPr lang="en-US" sz="2100" b="0">
                <a:solidFill>
                  <a:srgbClr val="173346"/>
                </a:solidFill>
                <a:latin typeface="Arial"/>
                <a:ea typeface="PingFang SC"/>
                <a:cs typeface="Arial"/>
              </a:rPr>
              <a:t>Use the same development folds for every model and setting</a:t>
            </a:r>
            <a:endParaRPr lang="en-US" sz="2100"/>
          </a:p>
          <a:p>
            <a:pPr algn="l"/>
            <a:r>
              <a:rPr lang="en-US" sz="2100" b="0">
                <a:solidFill>
                  <a:srgbClr val="173346"/>
                </a:solidFill>
                <a:latin typeface="Arial"/>
                <a:ea typeface="PingFang SC"/>
                <a:cs typeface="Arial"/>
              </a:rPr>
              <a:t>Fit preprocessing within each fold’s training portion</a:t>
            </a:r>
            <a:endParaRPr lang="en-US" sz="2100"/>
          </a:p>
        </p:txBody>
      </p:sp>
      <p:sp>
        <p:nvSpPr>
          <p:cNvPr id="8" name="Text 8"/>
          <p:cNvSpPr txBox="1"/>
          <p:nvPr/>
        </p:nvSpPr>
        <p:spPr>
          <a:xfrm>
            <a:off x="609600" y="4737100"/>
            <a:ext cx="10972800" cy="35560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/>
          <a:lstStyle/>
          <a:p>
            <a:pPr algn="l"/>
            <a:r>
              <a:rPr lang="en-US" sz="2100" b="1">
                <a:solidFill>
                  <a:srgbClr val="147D92"/>
                </a:solidFill>
                <a:latin typeface="Arial"/>
                <a:ea typeface="PingFang SC"/>
                <a:cs typeface="Arial"/>
              </a:rPr>
              <a:t>Selection rule</a:t>
            </a:r>
            <a:endParaRPr lang="en-US" sz="2100"/>
          </a:p>
        </p:txBody>
      </p:sp>
      <p:sp>
        <p:nvSpPr>
          <p:cNvPr id="9" name="Text 9"/>
          <p:cNvSpPr txBox="1"/>
          <p:nvPr/>
        </p:nvSpPr>
        <p:spPr>
          <a:xfrm>
            <a:off x="609600" y="5156200"/>
            <a:ext cx="10972800" cy="71120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/>
          <a:lstStyle/>
          <a:p>
            <a:pPr algn="l"/>
            <a:r>
              <a:rPr lang="en-US" sz="2100" b="0">
                <a:solidFill>
                  <a:srgbClr val="173346"/>
                </a:solidFill>
                <a:latin typeface="Arial"/>
                <a:ea typeface="PingFang SC"/>
                <a:cs typeface="Arial"/>
              </a:rPr>
              <a:t>Choose the highest mean CV accuracy</a:t>
            </a:r>
            <a:endParaRPr lang="en-US" sz="2100"/>
          </a:p>
          <a:p>
            <a:pPr algn="l"/>
            <a:r>
              <a:rPr lang="en-US" sz="2100" b="0">
                <a:solidFill>
                  <a:srgbClr val="173346"/>
                </a:solidFill>
                <a:latin typeface="Arial"/>
                <a:ea typeface="PingFang SC"/>
                <a:cs typeface="Arial"/>
              </a:rPr>
              <a:t>Freeze the choice before evaluating the holdout</a:t>
            </a:r>
            <a:endParaRPr lang="en-US" sz="210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2"/>
          <p:cNvSpPr txBox="1"/>
          <p:nvPr/>
        </p:nvSpPr>
        <p:spPr>
          <a:xfrm>
            <a:off x="609600" y="431800"/>
            <a:ext cx="10972800" cy="88900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/>
          <a:lstStyle/>
          <a:p>
            <a:pPr algn="l"/>
            <a:r>
              <a:rPr lang="en-US" sz="3200" b="1">
                <a:solidFill>
                  <a:srgbClr val="173346"/>
                </a:solidFill>
                <a:latin typeface="Arial"/>
                <a:ea typeface="PingFang SC"/>
                <a:cs typeface="Arial"/>
              </a:rPr>
              <a:t>Logistic regression and k-NN</a:t>
            </a:r>
            <a:endParaRPr lang="en-US" sz="3200"/>
          </a:p>
        </p:txBody>
      </p:sp>
      <p:sp>
        <p:nvSpPr>
          <p:cNvPr id="3" name="Text 3"/>
          <p:cNvSpPr txBox="1"/>
          <p:nvPr/>
        </p:nvSpPr>
        <p:spPr>
          <a:xfrm>
            <a:off x="11201400" y="6388100"/>
            <a:ext cx="381000" cy="22860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/>
          <a:lstStyle/>
          <a:p>
            <a:pPr algn="l"/>
            <a:r>
              <a:rPr lang="en-US" sz="1100" b="0">
                <a:solidFill>
                  <a:srgbClr val="52636D"/>
                </a:solidFill>
                <a:latin typeface="Arial"/>
                <a:ea typeface="PingFang SC"/>
                <a:cs typeface="Arial"/>
              </a:rPr>
              <a:t>05</a:t>
            </a:r>
            <a:endParaRPr lang="en-US" sz="1100"/>
          </a:p>
        </p:txBody>
      </p:sp>
      <p:sp>
        <p:nvSpPr>
          <p:cNvPr id="4" name="Text 4"/>
          <p:cNvSpPr txBox="1"/>
          <p:nvPr/>
        </p:nvSpPr>
        <p:spPr>
          <a:xfrm>
            <a:off x="609600" y="1536700"/>
            <a:ext cx="10972800" cy="35560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/>
          <a:lstStyle/>
          <a:p>
            <a:pPr algn="l"/>
            <a:r>
              <a:rPr lang="en-US" sz="2100" b="1">
                <a:solidFill>
                  <a:srgbClr val="147D92"/>
                </a:solidFill>
                <a:latin typeface="Arial"/>
                <a:ea typeface="PingFang SC"/>
                <a:cs typeface="Arial"/>
              </a:rPr>
              <a:t>Logistic regression</a:t>
            </a:r>
            <a:endParaRPr lang="en-US" sz="2100"/>
          </a:p>
        </p:txBody>
      </p:sp>
      <p:sp>
        <p:nvSpPr>
          <p:cNvPr id="5" name="Text 5"/>
          <p:cNvSpPr txBox="1"/>
          <p:nvPr/>
        </p:nvSpPr>
        <p:spPr>
          <a:xfrm>
            <a:off x="609600" y="1955800"/>
            <a:ext cx="10972800" cy="111760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/>
          <a:lstStyle/>
          <a:p>
            <a:pPr algn="l"/>
            <a:r>
              <a:rPr lang="en-US" sz="2100" b="0">
                <a:solidFill>
                  <a:srgbClr val="173346"/>
                </a:solidFill>
                <a:latin typeface="Arial"/>
                <a:ea typeface="PingFang SC"/>
                <a:cs typeface="Arial"/>
              </a:rPr>
              <a:t>A weighted feature score becomes a probability through sigmoid</a:t>
            </a:r>
            <a:endParaRPr lang="en-US" sz="2100"/>
          </a:p>
          <a:p>
            <a:pPr algn="l"/>
            <a:r>
              <a:rPr lang="en-US" sz="2100" b="0">
                <a:solidFill>
                  <a:srgbClr val="173346"/>
                </a:solidFill>
                <a:latin typeface="Arial"/>
                <a:ea typeface="PingFang SC"/>
                <a:cs typeface="Arial"/>
              </a:rPr>
              <a:t>A linear boundary in the encoded feature space</a:t>
            </a:r>
            <a:endParaRPr lang="en-US" sz="2100"/>
          </a:p>
          <a:p>
            <a:pPr algn="l"/>
            <a:r>
              <a:rPr lang="en-US" sz="2100" b="0">
                <a:solidFill>
                  <a:srgbClr val="173346"/>
                </a:solidFill>
                <a:latin typeface="Arial"/>
                <a:ea typeface="PingFang SC"/>
                <a:cs typeface="Arial"/>
              </a:rPr>
              <a:t>C controls regularization strength</a:t>
            </a:r>
            <a:endParaRPr lang="en-US" sz="2100"/>
          </a:p>
        </p:txBody>
      </p:sp>
      <p:sp>
        <p:nvSpPr>
          <p:cNvPr id="6" name="Text 6"/>
          <p:cNvSpPr txBox="1"/>
          <p:nvPr/>
        </p:nvSpPr>
        <p:spPr>
          <a:xfrm>
            <a:off x="609600" y="3848100"/>
            <a:ext cx="10972800" cy="35560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/>
          <a:lstStyle/>
          <a:p>
            <a:pPr algn="l"/>
            <a:r>
              <a:rPr lang="en-US" sz="2100" b="1">
                <a:solidFill>
                  <a:srgbClr val="147D92"/>
                </a:solidFill>
                <a:latin typeface="Arial"/>
                <a:ea typeface="PingFang SC"/>
                <a:cs typeface="Arial"/>
              </a:rPr>
              <a:t>k-nearest neighbors</a:t>
            </a:r>
            <a:endParaRPr lang="en-US" sz="2100"/>
          </a:p>
        </p:txBody>
      </p:sp>
      <p:sp>
        <p:nvSpPr>
          <p:cNvPr id="7" name="Text 7"/>
          <p:cNvSpPr txBox="1"/>
          <p:nvPr/>
        </p:nvSpPr>
        <p:spPr>
          <a:xfrm>
            <a:off x="609600" y="4267200"/>
            <a:ext cx="10972800" cy="76200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/>
          <a:lstStyle/>
          <a:p>
            <a:pPr algn="l"/>
            <a:r>
              <a:rPr lang="en-US" sz="2100" b="0">
                <a:solidFill>
                  <a:srgbClr val="173346"/>
                </a:solidFill>
                <a:latin typeface="Arial"/>
                <a:ea typeface="PingFang SC"/>
                <a:cs typeface="Arial"/>
              </a:rPr>
              <a:t>Nearby training records vote with equal or distance-based weights</a:t>
            </a:r>
            <a:endParaRPr lang="en-US" sz="2100"/>
          </a:p>
          <a:p>
            <a:pPr algn="l"/>
            <a:r>
              <a:rPr lang="en-US" sz="2100" b="0">
                <a:solidFill>
                  <a:srgbClr val="173346"/>
                </a:solidFill>
                <a:latin typeface="Arial"/>
                <a:ea typeface="PingFang SC"/>
                <a:cs typeface="Arial"/>
              </a:rPr>
              <a:t>Sensitive to feature scales, irrelevant inputs and neighbor count k</a:t>
            </a:r>
            <a:endParaRPr lang="en-US" sz="2100"/>
          </a:p>
        </p:txBody>
      </p:sp>
      <p:sp>
        <p:nvSpPr>
          <p:cNvPr id="8" name="Text 8"/>
          <p:cNvSpPr txBox="1"/>
          <p:nvPr/>
        </p:nvSpPr>
        <p:spPr>
          <a:xfrm>
            <a:off x="609600" y="5664200"/>
            <a:ext cx="10972800" cy="44450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/>
          <a:lstStyle/>
          <a:p>
            <a:pPr algn="l"/>
            <a:r>
              <a:rPr lang="en-US" sz="1900" b="0">
                <a:solidFill>
                  <a:srgbClr val="52636D"/>
                </a:solidFill>
                <a:latin typeface="Arial"/>
                <a:ea typeface="PingFang SC"/>
                <a:cs typeface="Arial"/>
              </a:rPr>
              <a:t>Both methods standardize numeric inputs and encode categories.</a:t>
            </a:r>
            <a:endParaRPr lang="en-US" sz="190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2"/>
          <p:cNvSpPr txBox="1"/>
          <p:nvPr/>
        </p:nvSpPr>
        <p:spPr>
          <a:xfrm>
            <a:off x="609600" y="431800"/>
            <a:ext cx="10972800" cy="88900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/>
          <a:lstStyle/>
          <a:p>
            <a:pPr algn="l"/>
            <a:r>
              <a:rPr lang="en-US" sz="3200" b="1">
                <a:solidFill>
                  <a:srgbClr val="173346"/>
                </a:solidFill>
                <a:latin typeface="Arial"/>
                <a:ea typeface="PingFang SC"/>
                <a:cs typeface="Arial"/>
              </a:rPr>
              <a:t>Support vector machine with RBF kernel</a:t>
            </a:r>
            <a:endParaRPr lang="en-US" sz="3200"/>
          </a:p>
        </p:txBody>
      </p:sp>
      <p:sp>
        <p:nvSpPr>
          <p:cNvPr id="3" name="Text 3"/>
          <p:cNvSpPr txBox="1"/>
          <p:nvPr/>
        </p:nvSpPr>
        <p:spPr>
          <a:xfrm>
            <a:off x="11201400" y="6388100"/>
            <a:ext cx="381000" cy="22860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/>
          <a:lstStyle/>
          <a:p>
            <a:pPr algn="l"/>
            <a:r>
              <a:rPr lang="en-US" sz="1100" b="0">
                <a:solidFill>
                  <a:srgbClr val="52636D"/>
                </a:solidFill>
                <a:latin typeface="Arial"/>
                <a:ea typeface="PingFang SC"/>
                <a:cs typeface="Arial"/>
              </a:rPr>
              <a:t>06</a:t>
            </a:r>
            <a:endParaRPr lang="en-US" sz="1100"/>
          </a:p>
        </p:txBody>
      </p:sp>
      <p:sp>
        <p:nvSpPr>
          <p:cNvPr id="4" name="Text 4"/>
          <p:cNvSpPr txBox="1"/>
          <p:nvPr/>
        </p:nvSpPr>
        <p:spPr>
          <a:xfrm>
            <a:off x="609600" y="1536700"/>
            <a:ext cx="10972800" cy="35560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/>
          <a:lstStyle/>
          <a:p>
            <a:pPr algn="l"/>
            <a:r>
              <a:rPr lang="en-US" sz="2100" b="1">
                <a:solidFill>
                  <a:srgbClr val="147D92"/>
                </a:solidFill>
                <a:latin typeface="Arial"/>
                <a:ea typeface="PingFang SC"/>
                <a:cs typeface="Arial"/>
              </a:rPr>
              <a:t>Classification boundary</a:t>
            </a:r>
            <a:endParaRPr lang="en-US" sz="2100"/>
          </a:p>
        </p:txBody>
      </p:sp>
      <p:sp>
        <p:nvSpPr>
          <p:cNvPr id="5" name="Text 5"/>
          <p:cNvSpPr txBox="1"/>
          <p:nvPr/>
        </p:nvSpPr>
        <p:spPr>
          <a:xfrm>
            <a:off x="609600" y="1955800"/>
            <a:ext cx="10972800" cy="76200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/>
          <a:lstStyle/>
          <a:p>
            <a:pPr algn="l"/>
            <a:r>
              <a:rPr lang="en-US" sz="2100" b="0">
                <a:solidFill>
                  <a:srgbClr val="173346"/>
                </a:solidFill>
                <a:latin typeface="Arial"/>
                <a:ea typeface="PingFang SC"/>
                <a:cs typeface="Arial"/>
              </a:rPr>
              <a:t>Seek a large margin between classes</a:t>
            </a:r>
            <a:endParaRPr lang="en-US" sz="2100"/>
          </a:p>
          <a:p>
            <a:pPr algn="l"/>
            <a:r>
              <a:rPr lang="en-US" sz="2100" b="0">
                <a:solidFill>
                  <a:srgbClr val="173346"/>
                </a:solidFill>
                <a:latin typeface="Arial"/>
                <a:ea typeface="PingFang SC"/>
                <a:cs typeface="Arial"/>
              </a:rPr>
              <a:t>Support vectors determine the boundary</a:t>
            </a:r>
            <a:endParaRPr lang="en-US" sz="2100"/>
          </a:p>
        </p:txBody>
      </p:sp>
      <p:sp>
        <p:nvSpPr>
          <p:cNvPr id="6" name="Text 6"/>
          <p:cNvSpPr txBox="1"/>
          <p:nvPr/>
        </p:nvSpPr>
        <p:spPr>
          <a:xfrm>
            <a:off x="609600" y="3136900"/>
            <a:ext cx="10972800" cy="35560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/>
          <a:lstStyle/>
          <a:p>
            <a:pPr algn="l"/>
            <a:r>
              <a:rPr lang="en-US" sz="2100" b="1">
                <a:solidFill>
                  <a:srgbClr val="147D92"/>
                </a:solidFill>
                <a:latin typeface="Arial"/>
                <a:ea typeface="PingFang SC"/>
                <a:cs typeface="Arial"/>
              </a:rPr>
              <a:t>RBF kernel</a:t>
            </a:r>
            <a:endParaRPr lang="en-US" sz="2100"/>
          </a:p>
        </p:txBody>
      </p:sp>
      <p:sp>
        <p:nvSpPr>
          <p:cNvPr id="7" name="Text 7"/>
          <p:cNvSpPr txBox="1"/>
          <p:nvPr/>
        </p:nvSpPr>
        <p:spPr>
          <a:xfrm>
            <a:off x="609600" y="3556000"/>
            <a:ext cx="10972800" cy="76200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/>
          <a:lstStyle/>
          <a:p>
            <a:pPr algn="l"/>
            <a:r>
              <a:rPr lang="en-US" sz="2100" b="0">
                <a:solidFill>
                  <a:srgbClr val="173346"/>
                </a:solidFill>
                <a:latin typeface="Arial"/>
                <a:ea typeface="PingFang SC"/>
                <a:cs typeface="Arial"/>
              </a:rPr>
              <a:t>Capture nonlinear relationships between song features</a:t>
            </a:r>
            <a:endParaRPr lang="en-US" sz="2100"/>
          </a:p>
          <a:p>
            <a:pPr algn="l"/>
            <a:r>
              <a:rPr lang="en-US" sz="2100" b="0">
                <a:solidFill>
                  <a:srgbClr val="173346"/>
                </a:solidFill>
                <a:latin typeface="Arial"/>
                <a:ea typeface="PingFang SC"/>
                <a:cs typeface="Arial"/>
              </a:rPr>
              <a:t>Standardize numeric inputs and encode categories</a:t>
            </a:r>
            <a:endParaRPr lang="en-US" sz="2100"/>
          </a:p>
        </p:txBody>
      </p:sp>
      <p:sp>
        <p:nvSpPr>
          <p:cNvPr id="8" name="Text 8"/>
          <p:cNvSpPr txBox="1"/>
          <p:nvPr/>
        </p:nvSpPr>
        <p:spPr>
          <a:xfrm>
            <a:off x="609600" y="4737100"/>
            <a:ext cx="10972800" cy="35560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/>
          <a:lstStyle/>
          <a:p>
            <a:pPr algn="l"/>
            <a:r>
              <a:rPr lang="en-US" sz="2100" b="1">
                <a:solidFill>
                  <a:srgbClr val="147D92"/>
                </a:solidFill>
                <a:latin typeface="Arial"/>
                <a:ea typeface="PingFang SC"/>
                <a:cs typeface="Arial"/>
              </a:rPr>
              <a:t>Tuning</a:t>
            </a:r>
            <a:endParaRPr lang="en-US" sz="2100"/>
          </a:p>
        </p:txBody>
      </p:sp>
      <p:sp>
        <p:nvSpPr>
          <p:cNvPr id="9" name="Text 9"/>
          <p:cNvSpPr txBox="1"/>
          <p:nvPr/>
        </p:nvSpPr>
        <p:spPr>
          <a:xfrm>
            <a:off x="609600" y="5156200"/>
            <a:ext cx="10972800" cy="76200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/>
          <a:lstStyle/>
          <a:p>
            <a:pPr algn="l"/>
            <a:r>
              <a:rPr lang="en-US" sz="2100" b="0">
                <a:solidFill>
                  <a:srgbClr val="173346"/>
                </a:solidFill>
                <a:latin typeface="Arial"/>
                <a:ea typeface="PingFang SC"/>
                <a:cs typeface="Arial"/>
              </a:rPr>
              <a:t>C controls the penalty for margin violations</a:t>
            </a:r>
            <a:endParaRPr lang="en-US" sz="2100"/>
          </a:p>
          <a:p>
            <a:pPr algn="l"/>
            <a:r>
              <a:rPr lang="en-US" sz="2100" b="0">
                <a:solidFill>
                  <a:srgbClr val="173346"/>
                </a:solidFill>
                <a:latin typeface="Arial"/>
                <a:ea typeface="PingFang SC"/>
                <a:cs typeface="Arial"/>
              </a:rPr>
              <a:t>gamma controls how local the kernel similarity is</a:t>
            </a:r>
            <a:endParaRPr lang="en-US" sz="210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2"/>
          <p:cNvSpPr txBox="1"/>
          <p:nvPr/>
        </p:nvSpPr>
        <p:spPr>
          <a:xfrm>
            <a:off x="609600" y="431800"/>
            <a:ext cx="10972800" cy="88900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/>
          <a:lstStyle/>
          <a:p>
            <a:pPr algn="l"/>
            <a:r>
              <a:rPr lang="en-US" sz="3200" b="1">
                <a:solidFill>
                  <a:srgbClr val="173346"/>
                </a:solidFill>
                <a:latin typeface="Arial"/>
                <a:ea typeface="PingFang SC"/>
                <a:cs typeface="Arial"/>
              </a:rPr>
              <a:t>Random forest and gradient boosting</a:t>
            </a:r>
            <a:endParaRPr lang="en-US" sz="3200"/>
          </a:p>
        </p:txBody>
      </p:sp>
      <p:sp>
        <p:nvSpPr>
          <p:cNvPr id="3" name="Text 3"/>
          <p:cNvSpPr txBox="1"/>
          <p:nvPr/>
        </p:nvSpPr>
        <p:spPr>
          <a:xfrm>
            <a:off x="11201400" y="6388100"/>
            <a:ext cx="381000" cy="22860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/>
          <a:lstStyle/>
          <a:p>
            <a:pPr algn="l"/>
            <a:r>
              <a:rPr lang="en-US" sz="1100" b="0">
                <a:solidFill>
                  <a:srgbClr val="52636D"/>
                </a:solidFill>
                <a:latin typeface="Arial"/>
                <a:ea typeface="PingFang SC"/>
                <a:cs typeface="Arial"/>
              </a:rPr>
              <a:t>07</a:t>
            </a:r>
            <a:endParaRPr lang="en-US" sz="1100"/>
          </a:p>
        </p:txBody>
      </p:sp>
      <p:sp>
        <p:nvSpPr>
          <p:cNvPr id="4" name="Text 4"/>
          <p:cNvSpPr txBox="1"/>
          <p:nvPr/>
        </p:nvSpPr>
        <p:spPr>
          <a:xfrm>
            <a:off x="609600" y="1536700"/>
            <a:ext cx="10972800" cy="35560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/>
          <a:lstStyle/>
          <a:p>
            <a:pPr algn="l"/>
            <a:r>
              <a:rPr lang="en-US" sz="2100" b="1">
                <a:solidFill>
                  <a:srgbClr val="147D92"/>
                </a:solidFill>
                <a:latin typeface="Arial"/>
                <a:ea typeface="PingFang SC"/>
                <a:cs typeface="Arial"/>
              </a:rPr>
              <a:t>Random forest</a:t>
            </a:r>
            <a:endParaRPr lang="en-US" sz="2100"/>
          </a:p>
        </p:txBody>
      </p:sp>
      <p:sp>
        <p:nvSpPr>
          <p:cNvPr id="5" name="Text 5"/>
          <p:cNvSpPr txBox="1"/>
          <p:nvPr/>
        </p:nvSpPr>
        <p:spPr>
          <a:xfrm>
            <a:off x="609600" y="1955800"/>
            <a:ext cx="10972800" cy="111760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/>
          <a:lstStyle/>
          <a:p>
            <a:pPr algn="l"/>
            <a:r>
              <a:rPr lang="en-US" sz="2100" b="0">
                <a:solidFill>
                  <a:srgbClr val="173346"/>
                </a:solidFill>
                <a:latin typeface="Arial"/>
                <a:ea typeface="PingFang SC"/>
                <a:cs typeface="Arial"/>
              </a:rPr>
              <a:t>Train trees on bootstrap samples with random candidate features</a:t>
            </a:r>
            <a:endParaRPr lang="en-US" sz="2100"/>
          </a:p>
          <a:p>
            <a:pPr algn="l"/>
            <a:r>
              <a:rPr lang="en-US" sz="2100" b="0">
                <a:solidFill>
                  <a:srgbClr val="173346"/>
                </a:solidFill>
                <a:latin typeface="Arial"/>
                <a:ea typeface="PingFang SC"/>
                <a:cs typeface="Arial"/>
              </a:rPr>
              <a:t>Combine their predicted class probabilities</a:t>
            </a:r>
            <a:endParaRPr lang="en-US" sz="2100"/>
          </a:p>
          <a:p>
            <a:pPr algn="l"/>
            <a:r>
              <a:rPr lang="en-US" sz="2100" b="0">
                <a:solidFill>
                  <a:srgbClr val="173346"/>
                </a:solidFill>
                <a:latin typeface="Arial"/>
                <a:ea typeface="PingFang SC"/>
                <a:cs typeface="Arial"/>
              </a:rPr>
              <a:t>Depth and minimum leaf size limit complexity</a:t>
            </a:r>
            <a:endParaRPr lang="en-US" sz="2100"/>
          </a:p>
        </p:txBody>
      </p:sp>
      <p:sp>
        <p:nvSpPr>
          <p:cNvPr id="6" name="Text 6"/>
          <p:cNvSpPr txBox="1"/>
          <p:nvPr/>
        </p:nvSpPr>
        <p:spPr>
          <a:xfrm>
            <a:off x="609600" y="3848100"/>
            <a:ext cx="10972800" cy="35560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/>
          <a:lstStyle/>
          <a:p>
            <a:pPr algn="l"/>
            <a:r>
              <a:rPr lang="en-US" sz="2100" b="1">
                <a:solidFill>
                  <a:srgbClr val="147D92"/>
                </a:solidFill>
                <a:latin typeface="Arial"/>
                <a:ea typeface="PingFang SC"/>
                <a:cs typeface="Arial"/>
              </a:rPr>
              <a:t>Gradient boosting</a:t>
            </a:r>
            <a:endParaRPr lang="en-US" sz="2100"/>
          </a:p>
        </p:txBody>
      </p:sp>
      <p:sp>
        <p:nvSpPr>
          <p:cNvPr id="7" name="Text 7"/>
          <p:cNvSpPr txBox="1"/>
          <p:nvPr/>
        </p:nvSpPr>
        <p:spPr>
          <a:xfrm>
            <a:off x="609600" y="4267200"/>
            <a:ext cx="10972800" cy="76200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/>
          <a:lstStyle/>
          <a:p>
            <a:pPr algn="l"/>
            <a:r>
              <a:rPr lang="en-US" sz="2100" b="0">
                <a:solidFill>
                  <a:srgbClr val="173346"/>
                </a:solidFill>
                <a:latin typeface="Arial"/>
                <a:ea typeface="PingFang SC"/>
                <a:cs typeface="Arial"/>
              </a:rPr>
              <a:t>Add shallow trees sequentially to reduce prediction loss</a:t>
            </a:r>
            <a:endParaRPr lang="en-US" sz="2100"/>
          </a:p>
          <a:p>
            <a:pPr algn="l"/>
            <a:r>
              <a:rPr lang="en-US" sz="2100" b="0">
                <a:solidFill>
                  <a:srgbClr val="173346"/>
                </a:solidFill>
                <a:latin typeface="Arial"/>
                <a:ea typeface="PingFang SC"/>
                <a:cs typeface="Arial"/>
              </a:rPr>
              <a:t>Learning rate, tree count and depth work together</a:t>
            </a:r>
            <a:endParaRPr lang="en-US" sz="2100"/>
          </a:p>
        </p:txBody>
      </p:sp>
      <p:sp>
        <p:nvSpPr>
          <p:cNvPr id="8" name="Text 8"/>
          <p:cNvSpPr txBox="1"/>
          <p:nvPr/>
        </p:nvSpPr>
        <p:spPr>
          <a:xfrm>
            <a:off x="609600" y="5664200"/>
            <a:ext cx="10972800" cy="44450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/>
          <a:lstStyle/>
          <a:p>
            <a:pPr algn="l"/>
            <a:r>
              <a:rPr lang="en-US" sz="1900" b="0">
                <a:solidFill>
                  <a:srgbClr val="52636D"/>
                </a:solidFill>
                <a:latin typeface="Arial"/>
                <a:ea typeface="PingFang SC"/>
                <a:cs typeface="Arial"/>
              </a:rPr>
              <a:t>Both methods encode categories and retain numeric feature scales.</a:t>
            </a:r>
            <a:endParaRPr lang="en-US" sz="190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2"/>
          <p:cNvSpPr txBox="1"/>
          <p:nvPr/>
        </p:nvSpPr>
        <p:spPr>
          <a:xfrm>
            <a:off x="609600" y="431800"/>
            <a:ext cx="10972800" cy="88900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/>
          <a:lstStyle/>
          <a:p>
            <a:pPr algn="l"/>
            <a:r>
              <a:rPr lang="en-US" sz="3200" b="1">
                <a:solidFill>
                  <a:srgbClr val="173346"/>
                </a:solidFill>
                <a:latin typeface="Arial"/>
                <a:ea typeface="PingFang SC"/>
                <a:cs typeface="Arial"/>
              </a:rPr>
              <a:t>Hyperparameter search</a:t>
            </a:r>
            <a:endParaRPr lang="en-US" sz="3200"/>
          </a:p>
        </p:txBody>
      </p:sp>
      <p:sp>
        <p:nvSpPr>
          <p:cNvPr id="3" name="Text 3"/>
          <p:cNvSpPr txBox="1"/>
          <p:nvPr/>
        </p:nvSpPr>
        <p:spPr>
          <a:xfrm>
            <a:off x="11201400" y="6388100"/>
            <a:ext cx="381000" cy="22860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/>
          <a:lstStyle/>
          <a:p>
            <a:pPr algn="l"/>
            <a:r>
              <a:rPr lang="en-US" sz="1100" b="0">
                <a:solidFill>
                  <a:srgbClr val="52636D"/>
                </a:solidFill>
                <a:latin typeface="Arial"/>
                <a:ea typeface="PingFang SC"/>
                <a:cs typeface="Arial"/>
              </a:rPr>
              <a:t>08</a:t>
            </a:r>
            <a:endParaRPr lang="en-US" sz="1100"/>
          </a:p>
        </p:txBody>
      </p:sp>
      <p:sp>
        <p:nvSpPr>
          <p:cNvPr id="4" name="Table row 1"/>
          <p:cNvSpPr/>
          <p:nvPr/>
        </p:nvSpPr>
        <p:spPr>
          <a:xfrm>
            <a:off x="609600" y="1473200"/>
            <a:ext cx="10972800" cy="533400"/>
          </a:xfrm>
          <a:prstGeom prst="rect">
            <a:avLst/>
          </a:prstGeom>
          <a:solidFill>
            <a:srgbClr val="173346"/>
          </a:solidFill>
          <a:ln>
            <a:noFill/>
          </a:ln>
        </p:spPr>
        <p:txBody>
          <a:bodyPr/>
          <a:lstStyle/>
          <a:p>
            <a:endParaRPr lang="zh-CN" altLang="en-US"/>
          </a:p>
        </p:txBody>
      </p:sp>
      <p:sp>
        <p:nvSpPr>
          <p:cNvPr id="5" name="Text 5"/>
          <p:cNvSpPr txBox="1"/>
          <p:nvPr/>
        </p:nvSpPr>
        <p:spPr>
          <a:xfrm>
            <a:off x="736600" y="1584960"/>
            <a:ext cx="2540000" cy="35814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/>
          <a:lstStyle/>
          <a:p>
            <a:pPr algn="l"/>
            <a:r>
              <a:rPr lang="en-US" sz="1700" b="1">
                <a:solidFill>
                  <a:srgbClr val="FFFFFF"/>
                </a:solidFill>
                <a:latin typeface="Arial"/>
                <a:ea typeface="PingFang SC"/>
                <a:cs typeface="Arial"/>
              </a:rPr>
              <a:t>Model</a:t>
            </a:r>
            <a:endParaRPr lang="en-US" sz="1700"/>
          </a:p>
        </p:txBody>
      </p:sp>
      <p:sp>
        <p:nvSpPr>
          <p:cNvPr id="6" name="Text 6"/>
          <p:cNvSpPr txBox="1"/>
          <p:nvPr/>
        </p:nvSpPr>
        <p:spPr>
          <a:xfrm>
            <a:off x="3530600" y="1584960"/>
            <a:ext cx="6781800" cy="35814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/>
          <a:lstStyle/>
          <a:p>
            <a:pPr algn="l"/>
            <a:r>
              <a:rPr lang="en-US" sz="1700" b="1">
                <a:solidFill>
                  <a:srgbClr val="FFFFFF"/>
                </a:solidFill>
                <a:latin typeface="Arial"/>
                <a:ea typeface="PingFang SC"/>
                <a:cs typeface="Arial"/>
              </a:rPr>
              <a:t>Search space</a:t>
            </a:r>
            <a:endParaRPr lang="en-US" sz="1700"/>
          </a:p>
        </p:txBody>
      </p:sp>
      <p:sp>
        <p:nvSpPr>
          <p:cNvPr id="7" name="Text 7"/>
          <p:cNvSpPr txBox="1"/>
          <p:nvPr/>
        </p:nvSpPr>
        <p:spPr>
          <a:xfrm>
            <a:off x="10566400" y="1584960"/>
            <a:ext cx="889000" cy="35814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/>
          <a:lstStyle/>
          <a:p>
            <a:pPr algn="l"/>
            <a:r>
              <a:rPr lang="en-US" sz="1700" b="1">
                <a:solidFill>
                  <a:srgbClr val="FFFFFF"/>
                </a:solidFill>
                <a:latin typeface="Arial"/>
                <a:ea typeface="PingFang SC"/>
                <a:cs typeface="Arial"/>
              </a:rPr>
              <a:t>Settings</a:t>
            </a:r>
            <a:endParaRPr lang="en-US" sz="1700"/>
          </a:p>
        </p:txBody>
      </p:sp>
      <p:sp>
        <p:nvSpPr>
          <p:cNvPr id="8" name="Table row 2"/>
          <p:cNvSpPr/>
          <p:nvPr/>
        </p:nvSpPr>
        <p:spPr>
          <a:xfrm>
            <a:off x="609600" y="2006600"/>
            <a:ext cx="10972800" cy="571500"/>
          </a:xfrm>
          <a:prstGeom prst="rect">
            <a:avLst/>
          </a:prstGeom>
          <a:solidFill>
            <a:srgbClr val="EDF4F6"/>
          </a:solidFill>
          <a:ln>
            <a:noFill/>
          </a:ln>
        </p:spPr>
        <p:txBody>
          <a:bodyPr/>
          <a:lstStyle/>
          <a:p>
            <a:endParaRPr lang="zh-CN" altLang="en-US"/>
          </a:p>
        </p:txBody>
      </p:sp>
      <p:sp>
        <p:nvSpPr>
          <p:cNvPr id="9" name="Text 9"/>
          <p:cNvSpPr txBox="1"/>
          <p:nvPr/>
        </p:nvSpPr>
        <p:spPr>
          <a:xfrm>
            <a:off x="736600" y="2137410"/>
            <a:ext cx="2540000" cy="377189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/>
          <a:lstStyle/>
          <a:p>
            <a:pPr algn="l"/>
            <a:r>
              <a:rPr lang="en-US" sz="1700" b="0">
                <a:solidFill>
                  <a:srgbClr val="173346"/>
                </a:solidFill>
                <a:latin typeface="Arial"/>
                <a:ea typeface="PingFang SC"/>
                <a:cs typeface="Arial"/>
              </a:rPr>
              <a:t>Logistic regression</a:t>
            </a:r>
            <a:endParaRPr lang="en-US" sz="1700"/>
          </a:p>
        </p:txBody>
      </p:sp>
      <p:sp>
        <p:nvSpPr>
          <p:cNvPr id="10" name="Text 10"/>
          <p:cNvSpPr txBox="1"/>
          <p:nvPr/>
        </p:nvSpPr>
        <p:spPr>
          <a:xfrm>
            <a:off x="3530600" y="2137410"/>
            <a:ext cx="6781800" cy="377189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/>
          <a:lstStyle/>
          <a:p>
            <a:pPr algn="l"/>
            <a:r>
              <a:rPr lang="en-US" sz="1700" b="0">
                <a:solidFill>
                  <a:srgbClr val="173346"/>
                </a:solidFill>
                <a:latin typeface="Arial"/>
                <a:ea typeface="PingFang SC"/>
                <a:cs typeface="Arial"/>
              </a:rPr>
              <a:t>C: 0.01, 0.1, 1, 10</a:t>
            </a:r>
            <a:endParaRPr lang="en-US" sz="1700"/>
          </a:p>
        </p:txBody>
      </p:sp>
      <p:sp>
        <p:nvSpPr>
          <p:cNvPr id="11" name="Text 11"/>
          <p:cNvSpPr txBox="1"/>
          <p:nvPr/>
        </p:nvSpPr>
        <p:spPr>
          <a:xfrm>
            <a:off x="10566400" y="2137410"/>
            <a:ext cx="889000" cy="377189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/>
          <a:lstStyle/>
          <a:p>
            <a:pPr algn="l"/>
            <a:r>
              <a:rPr lang="en-US" sz="1700" b="0">
                <a:solidFill>
                  <a:srgbClr val="173346"/>
                </a:solidFill>
                <a:latin typeface="Arial"/>
                <a:ea typeface="PingFang SC"/>
                <a:cs typeface="Arial"/>
              </a:rPr>
              <a:t>4</a:t>
            </a:r>
            <a:endParaRPr lang="en-US" sz="1700"/>
          </a:p>
        </p:txBody>
      </p:sp>
      <p:sp>
        <p:nvSpPr>
          <p:cNvPr id="12" name="Table row 3"/>
          <p:cNvSpPr/>
          <p:nvPr/>
        </p:nvSpPr>
        <p:spPr>
          <a:xfrm>
            <a:off x="609600" y="2578100"/>
            <a:ext cx="10972800" cy="7747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txBody>
          <a:bodyPr/>
          <a:lstStyle/>
          <a:p>
            <a:endParaRPr lang="zh-CN" altLang="en-US"/>
          </a:p>
        </p:txBody>
      </p:sp>
      <p:sp>
        <p:nvSpPr>
          <p:cNvPr id="13" name="Text 13"/>
          <p:cNvSpPr txBox="1"/>
          <p:nvPr/>
        </p:nvSpPr>
        <p:spPr>
          <a:xfrm>
            <a:off x="736600" y="2810510"/>
            <a:ext cx="2540000" cy="478789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/>
          <a:lstStyle/>
          <a:p>
            <a:pPr algn="l"/>
            <a:r>
              <a:rPr lang="en-US" sz="1700" b="0">
                <a:solidFill>
                  <a:srgbClr val="173346"/>
                </a:solidFill>
                <a:latin typeface="Arial"/>
                <a:ea typeface="PingFang SC"/>
                <a:cs typeface="Arial"/>
              </a:rPr>
              <a:t>k-NN</a:t>
            </a:r>
            <a:endParaRPr lang="en-US" sz="1700"/>
          </a:p>
        </p:txBody>
      </p:sp>
      <p:sp>
        <p:nvSpPr>
          <p:cNvPr id="14" name="Text 14"/>
          <p:cNvSpPr txBox="1"/>
          <p:nvPr/>
        </p:nvSpPr>
        <p:spPr>
          <a:xfrm>
            <a:off x="3530600" y="2680970"/>
            <a:ext cx="6781800" cy="60833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/>
          <a:lstStyle/>
          <a:p>
            <a:pPr algn="l"/>
            <a:r>
              <a:rPr lang="en-US" sz="1700" b="0">
                <a:solidFill>
                  <a:srgbClr val="173346"/>
                </a:solidFill>
                <a:latin typeface="Arial"/>
                <a:ea typeface="PingFang SC"/>
                <a:cs typeface="Arial"/>
              </a:rPr>
              <a:t>k: 3, 5, 9, 15, 25, 41</a:t>
            </a:r>
            <a:endParaRPr lang="en-US" sz="1700"/>
          </a:p>
          <a:p>
            <a:pPr algn="l"/>
            <a:r>
              <a:rPr lang="en-US" sz="1700" b="0">
                <a:solidFill>
                  <a:srgbClr val="173346"/>
                </a:solidFill>
                <a:latin typeface="Arial"/>
                <a:ea typeface="PingFang SC"/>
                <a:cs typeface="Arial"/>
              </a:rPr>
              <a:t>Weights: uniform / distance</a:t>
            </a:r>
            <a:endParaRPr lang="en-US" sz="1700"/>
          </a:p>
        </p:txBody>
      </p:sp>
      <p:sp>
        <p:nvSpPr>
          <p:cNvPr id="15" name="Text 15"/>
          <p:cNvSpPr txBox="1"/>
          <p:nvPr/>
        </p:nvSpPr>
        <p:spPr>
          <a:xfrm>
            <a:off x="10566400" y="2810510"/>
            <a:ext cx="889000" cy="478789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/>
          <a:lstStyle/>
          <a:p>
            <a:pPr algn="l"/>
            <a:r>
              <a:rPr lang="en-US" sz="1700" b="0">
                <a:solidFill>
                  <a:srgbClr val="173346"/>
                </a:solidFill>
                <a:latin typeface="Arial"/>
                <a:ea typeface="PingFang SC"/>
                <a:cs typeface="Arial"/>
              </a:rPr>
              <a:t>12</a:t>
            </a:r>
            <a:endParaRPr lang="en-US" sz="1700"/>
          </a:p>
        </p:txBody>
      </p:sp>
      <p:sp>
        <p:nvSpPr>
          <p:cNvPr id="16" name="Table row 4"/>
          <p:cNvSpPr/>
          <p:nvPr/>
        </p:nvSpPr>
        <p:spPr>
          <a:xfrm>
            <a:off x="609600" y="3352800"/>
            <a:ext cx="10972800" cy="774700"/>
          </a:xfrm>
          <a:prstGeom prst="rect">
            <a:avLst/>
          </a:prstGeom>
          <a:solidFill>
            <a:srgbClr val="EDF4F6"/>
          </a:solidFill>
          <a:ln>
            <a:noFill/>
          </a:ln>
        </p:spPr>
        <p:txBody>
          <a:bodyPr/>
          <a:lstStyle/>
          <a:p>
            <a:endParaRPr lang="zh-CN" altLang="en-US"/>
          </a:p>
        </p:txBody>
      </p:sp>
      <p:sp>
        <p:nvSpPr>
          <p:cNvPr id="17" name="Text 17"/>
          <p:cNvSpPr txBox="1"/>
          <p:nvPr/>
        </p:nvSpPr>
        <p:spPr>
          <a:xfrm>
            <a:off x="736600" y="3585210"/>
            <a:ext cx="2540000" cy="478789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/>
          <a:lstStyle/>
          <a:p>
            <a:pPr algn="l"/>
            <a:r>
              <a:rPr lang="en-US" sz="1700" b="0">
                <a:solidFill>
                  <a:srgbClr val="173346"/>
                </a:solidFill>
                <a:latin typeface="Arial"/>
                <a:ea typeface="PingFang SC"/>
                <a:cs typeface="Arial"/>
              </a:rPr>
              <a:t>RBF SVM</a:t>
            </a:r>
            <a:endParaRPr lang="en-US" sz="1700"/>
          </a:p>
        </p:txBody>
      </p:sp>
      <p:sp>
        <p:nvSpPr>
          <p:cNvPr id="18" name="Text 18"/>
          <p:cNvSpPr txBox="1"/>
          <p:nvPr/>
        </p:nvSpPr>
        <p:spPr>
          <a:xfrm>
            <a:off x="3530600" y="3455670"/>
            <a:ext cx="6781800" cy="608329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/>
          <a:lstStyle/>
          <a:p>
            <a:pPr algn="l"/>
            <a:r>
              <a:rPr lang="en-US" sz="1700" b="0">
                <a:solidFill>
                  <a:srgbClr val="173346"/>
                </a:solidFill>
                <a:latin typeface="Arial"/>
                <a:ea typeface="PingFang SC"/>
                <a:cs typeface="Arial"/>
              </a:rPr>
              <a:t>C: 0.1, 1, 10, 100</a:t>
            </a:r>
            <a:endParaRPr lang="en-US" sz="1700"/>
          </a:p>
          <a:p>
            <a:pPr algn="l"/>
            <a:r>
              <a:rPr lang="en-US" sz="1700" b="0">
                <a:solidFill>
                  <a:srgbClr val="173346"/>
                </a:solidFill>
                <a:latin typeface="Arial"/>
                <a:ea typeface="PingFang SC"/>
                <a:cs typeface="Arial"/>
              </a:rPr>
              <a:t>gamma: scale, 0.01, 0.1</a:t>
            </a:r>
            <a:endParaRPr lang="en-US" sz="1700"/>
          </a:p>
        </p:txBody>
      </p:sp>
      <p:sp>
        <p:nvSpPr>
          <p:cNvPr id="19" name="Text 19"/>
          <p:cNvSpPr txBox="1"/>
          <p:nvPr/>
        </p:nvSpPr>
        <p:spPr>
          <a:xfrm>
            <a:off x="10566400" y="3585210"/>
            <a:ext cx="889000" cy="478789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/>
          <a:lstStyle/>
          <a:p>
            <a:pPr algn="l"/>
            <a:r>
              <a:rPr lang="en-US" sz="1700" b="0">
                <a:solidFill>
                  <a:srgbClr val="173346"/>
                </a:solidFill>
                <a:latin typeface="Arial"/>
                <a:ea typeface="PingFang SC"/>
                <a:cs typeface="Arial"/>
              </a:rPr>
              <a:t>12</a:t>
            </a:r>
            <a:endParaRPr lang="en-US" sz="1700"/>
          </a:p>
        </p:txBody>
      </p:sp>
      <p:sp>
        <p:nvSpPr>
          <p:cNvPr id="20" name="Table row 5"/>
          <p:cNvSpPr/>
          <p:nvPr/>
        </p:nvSpPr>
        <p:spPr>
          <a:xfrm>
            <a:off x="609600" y="4127500"/>
            <a:ext cx="10972800" cy="7747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txBody>
          <a:bodyPr/>
          <a:lstStyle/>
          <a:p>
            <a:endParaRPr lang="zh-CN" altLang="en-US"/>
          </a:p>
        </p:txBody>
      </p:sp>
      <p:sp>
        <p:nvSpPr>
          <p:cNvPr id="21" name="Text 21"/>
          <p:cNvSpPr txBox="1"/>
          <p:nvPr/>
        </p:nvSpPr>
        <p:spPr>
          <a:xfrm>
            <a:off x="736600" y="4359910"/>
            <a:ext cx="2540000" cy="478789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/>
          <a:lstStyle/>
          <a:p>
            <a:pPr algn="l"/>
            <a:r>
              <a:rPr lang="en-US" sz="1700" b="0">
                <a:solidFill>
                  <a:srgbClr val="173346"/>
                </a:solidFill>
                <a:latin typeface="Arial"/>
                <a:ea typeface="PingFang SC"/>
                <a:cs typeface="Arial"/>
              </a:rPr>
              <a:t>Random forest</a:t>
            </a:r>
            <a:endParaRPr lang="en-US" sz="1700"/>
          </a:p>
        </p:txBody>
      </p:sp>
      <p:sp>
        <p:nvSpPr>
          <p:cNvPr id="22" name="Text 22"/>
          <p:cNvSpPr txBox="1"/>
          <p:nvPr/>
        </p:nvSpPr>
        <p:spPr>
          <a:xfrm>
            <a:off x="3530600" y="4230370"/>
            <a:ext cx="6781800" cy="608329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/>
          <a:lstStyle/>
          <a:p>
            <a:pPr algn="l"/>
            <a:r>
              <a:rPr lang="en-US" sz="1700" b="0">
                <a:solidFill>
                  <a:srgbClr val="173346"/>
                </a:solidFill>
                <a:latin typeface="Arial"/>
                <a:ea typeface="PingFang SC"/>
                <a:cs typeface="Arial"/>
              </a:rPr>
              <a:t>150 trees. Depth: 4, 8, unrestricted</a:t>
            </a:r>
            <a:endParaRPr lang="en-US" sz="1700"/>
          </a:p>
          <a:p>
            <a:pPr algn="l"/>
            <a:r>
              <a:rPr lang="en-US" sz="1700" b="0">
                <a:solidFill>
                  <a:srgbClr val="173346"/>
                </a:solidFill>
                <a:latin typeface="Arial"/>
                <a:ea typeface="PingFang SC"/>
                <a:cs typeface="Arial"/>
              </a:rPr>
              <a:t>Minimum leaf size: 1, 3, 8</a:t>
            </a:r>
            <a:endParaRPr lang="en-US" sz="1700"/>
          </a:p>
        </p:txBody>
      </p:sp>
      <p:sp>
        <p:nvSpPr>
          <p:cNvPr id="23" name="Text 23"/>
          <p:cNvSpPr txBox="1"/>
          <p:nvPr/>
        </p:nvSpPr>
        <p:spPr>
          <a:xfrm>
            <a:off x="10566400" y="4359910"/>
            <a:ext cx="889000" cy="478789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/>
          <a:lstStyle/>
          <a:p>
            <a:pPr algn="l"/>
            <a:r>
              <a:rPr lang="en-US" sz="1700" b="0">
                <a:solidFill>
                  <a:srgbClr val="173346"/>
                </a:solidFill>
                <a:latin typeface="Arial"/>
                <a:ea typeface="PingFang SC"/>
                <a:cs typeface="Arial"/>
              </a:rPr>
              <a:t>9</a:t>
            </a:r>
            <a:endParaRPr lang="en-US" sz="1700"/>
          </a:p>
        </p:txBody>
      </p:sp>
      <p:sp>
        <p:nvSpPr>
          <p:cNvPr id="24" name="Table row 6"/>
          <p:cNvSpPr/>
          <p:nvPr/>
        </p:nvSpPr>
        <p:spPr>
          <a:xfrm>
            <a:off x="609600" y="4902200"/>
            <a:ext cx="10972800" cy="774700"/>
          </a:xfrm>
          <a:prstGeom prst="rect">
            <a:avLst/>
          </a:prstGeom>
          <a:solidFill>
            <a:srgbClr val="EDF4F6"/>
          </a:solidFill>
          <a:ln>
            <a:noFill/>
          </a:ln>
        </p:spPr>
        <p:txBody>
          <a:bodyPr/>
          <a:lstStyle/>
          <a:p>
            <a:endParaRPr lang="zh-CN" altLang="en-US"/>
          </a:p>
        </p:txBody>
      </p:sp>
      <p:sp>
        <p:nvSpPr>
          <p:cNvPr id="25" name="Text 25"/>
          <p:cNvSpPr txBox="1"/>
          <p:nvPr/>
        </p:nvSpPr>
        <p:spPr>
          <a:xfrm>
            <a:off x="736600" y="5134610"/>
            <a:ext cx="2540000" cy="478789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/>
          <a:lstStyle/>
          <a:p>
            <a:pPr algn="l"/>
            <a:r>
              <a:rPr lang="en-US" sz="1700" b="0">
                <a:solidFill>
                  <a:srgbClr val="173346"/>
                </a:solidFill>
                <a:latin typeface="Arial"/>
                <a:ea typeface="PingFang SC"/>
                <a:cs typeface="Arial"/>
              </a:rPr>
              <a:t>Gradient boosting</a:t>
            </a:r>
            <a:endParaRPr lang="en-US" sz="1700"/>
          </a:p>
        </p:txBody>
      </p:sp>
      <p:sp>
        <p:nvSpPr>
          <p:cNvPr id="26" name="Text 26"/>
          <p:cNvSpPr txBox="1"/>
          <p:nvPr/>
        </p:nvSpPr>
        <p:spPr>
          <a:xfrm>
            <a:off x="3530600" y="5005070"/>
            <a:ext cx="6781800" cy="608329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/>
          <a:lstStyle/>
          <a:p>
            <a:pPr algn="l"/>
            <a:r>
              <a:rPr lang="en-US" sz="1700" b="0">
                <a:solidFill>
                  <a:srgbClr val="173346"/>
                </a:solidFill>
                <a:latin typeface="Arial"/>
                <a:ea typeface="PingFang SC"/>
                <a:cs typeface="Arial"/>
              </a:rPr>
              <a:t>Trees: 100 / 200. Rate: 0.03 / 0.1</a:t>
            </a:r>
            <a:endParaRPr lang="en-US" sz="1700"/>
          </a:p>
          <a:p>
            <a:pPr algn="l"/>
            <a:r>
              <a:rPr lang="en-US" sz="1700" b="0">
                <a:solidFill>
                  <a:srgbClr val="173346"/>
                </a:solidFill>
                <a:latin typeface="Arial"/>
                <a:ea typeface="PingFang SC"/>
                <a:cs typeface="Arial"/>
              </a:rPr>
              <a:t>Depth: 1 / 2</a:t>
            </a:r>
            <a:endParaRPr lang="en-US" sz="1700"/>
          </a:p>
        </p:txBody>
      </p:sp>
      <p:sp>
        <p:nvSpPr>
          <p:cNvPr id="27" name="Text 27"/>
          <p:cNvSpPr txBox="1"/>
          <p:nvPr/>
        </p:nvSpPr>
        <p:spPr>
          <a:xfrm>
            <a:off x="10566400" y="5134610"/>
            <a:ext cx="889000" cy="478789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/>
          <a:lstStyle/>
          <a:p>
            <a:pPr algn="l"/>
            <a:r>
              <a:rPr lang="en-US" sz="1700" b="0">
                <a:solidFill>
                  <a:srgbClr val="173346"/>
                </a:solidFill>
                <a:latin typeface="Arial"/>
                <a:ea typeface="PingFang SC"/>
                <a:cs typeface="Arial"/>
              </a:rPr>
              <a:t>8</a:t>
            </a:r>
            <a:endParaRPr lang="en-US" sz="1700"/>
          </a:p>
        </p:txBody>
      </p:sp>
      <p:sp>
        <p:nvSpPr>
          <p:cNvPr id="28" name="Text 28"/>
          <p:cNvSpPr txBox="1"/>
          <p:nvPr/>
        </p:nvSpPr>
        <p:spPr>
          <a:xfrm>
            <a:off x="609600" y="5867400"/>
            <a:ext cx="10972800" cy="40640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/>
          <a:lstStyle/>
          <a:p>
            <a:pPr algn="l"/>
            <a:r>
              <a:rPr lang="en-US" sz="2000" b="1">
                <a:solidFill>
                  <a:srgbClr val="147D92"/>
                </a:solidFill>
                <a:latin typeface="Arial"/>
                <a:ea typeface="PingFang SC"/>
                <a:cs typeface="Arial"/>
              </a:rPr>
              <a:t>45 settings × 5 folds = 225 validation fits. Tuning metric: accuracy.</a:t>
            </a:r>
            <a:endParaRPr lang="en-US" sz="200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2"/>
          <p:cNvSpPr txBox="1"/>
          <p:nvPr/>
        </p:nvSpPr>
        <p:spPr>
          <a:xfrm>
            <a:off x="609600" y="431800"/>
            <a:ext cx="10972800" cy="88900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/>
          <a:lstStyle/>
          <a:p>
            <a:pPr algn="l"/>
            <a:r>
              <a:rPr lang="en-US" sz="3200" b="1">
                <a:solidFill>
                  <a:srgbClr val="173346"/>
                </a:solidFill>
                <a:latin typeface="Arial"/>
                <a:ea typeface="PingFang SC"/>
                <a:cs typeface="Arial"/>
              </a:rPr>
              <a:t>Cross-validation comparison</a:t>
            </a:r>
            <a:endParaRPr lang="en-US" sz="3200"/>
          </a:p>
        </p:txBody>
      </p:sp>
      <p:sp>
        <p:nvSpPr>
          <p:cNvPr id="3" name="Text 3"/>
          <p:cNvSpPr txBox="1"/>
          <p:nvPr/>
        </p:nvSpPr>
        <p:spPr>
          <a:xfrm>
            <a:off x="11201400" y="6388100"/>
            <a:ext cx="381000" cy="22860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/>
          <a:lstStyle/>
          <a:p>
            <a:pPr algn="l"/>
            <a:r>
              <a:rPr lang="en-US" sz="1100" b="0">
                <a:solidFill>
                  <a:srgbClr val="52636D"/>
                </a:solidFill>
                <a:latin typeface="Arial"/>
                <a:ea typeface="PingFang SC"/>
                <a:cs typeface="Arial"/>
              </a:rPr>
              <a:t>09</a:t>
            </a:r>
            <a:endParaRPr lang="en-US" sz="1100"/>
          </a:p>
        </p:txBody>
      </p:sp>
      <p:sp>
        <p:nvSpPr>
          <p:cNvPr id="4" name="Text 4"/>
          <p:cNvSpPr txBox="1"/>
          <p:nvPr/>
        </p:nvSpPr>
        <p:spPr>
          <a:xfrm>
            <a:off x="609600" y="1384300"/>
            <a:ext cx="5969000" cy="38100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/>
          <a:lstStyle/>
          <a:p>
            <a:pPr algn="l"/>
            <a:r>
              <a:rPr lang="en-US" sz="2100" b="1">
                <a:solidFill>
                  <a:srgbClr val="147D92"/>
                </a:solidFill>
                <a:latin typeface="Arial"/>
                <a:ea typeface="PingFang SC"/>
                <a:cs typeface="Arial"/>
              </a:rPr>
              <a:t>Mean five-fold accuracy</a:t>
            </a:r>
            <a:endParaRPr lang="en-US" sz="2100"/>
          </a:p>
        </p:txBody>
      </p:sp>
      <p:sp>
        <p:nvSpPr>
          <p:cNvPr id="5" name="Text 5"/>
          <p:cNvSpPr txBox="1"/>
          <p:nvPr/>
        </p:nvSpPr>
        <p:spPr>
          <a:xfrm>
            <a:off x="10020300" y="1409700"/>
            <a:ext cx="1549400" cy="35560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/>
          <a:lstStyle/>
          <a:p>
            <a:pPr algn="l"/>
            <a:r>
              <a:rPr lang="en-US" sz="1800" b="0">
                <a:solidFill>
                  <a:srgbClr val="52636D"/>
                </a:solidFill>
                <a:latin typeface="Arial"/>
                <a:ea typeface="PingFang SC"/>
                <a:cs typeface="Arial"/>
              </a:rPr>
              <a:t>Fold SD (pp)</a:t>
            </a:r>
            <a:endParaRPr lang="en-US" sz="1800"/>
          </a:p>
        </p:txBody>
      </p:sp>
      <p:sp>
        <p:nvSpPr>
          <p:cNvPr id="6" name="Text 6"/>
          <p:cNvSpPr txBox="1"/>
          <p:nvPr/>
        </p:nvSpPr>
        <p:spPr>
          <a:xfrm>
            <a:off x="609600" y="1981200"/>
            <a:ext cx="2844800" cy="36830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/>
          <a:lstStyle/>
          <a:p>
            <a:pPr algn="l"/>
            <a:r>
              <a:rPr lang="en-US" sz="2000" b="0">
                <a:solidFill>
                  <a:srgbClr val="173346"/>
                </a:solidFill>
                <a:latin typeface="Arial"/>
                <a:ea typeface="PingFang SC"/>
                <a:cs typeface="Arial"/>
              </a:rPr>
              <a:t>Random forest</a:t>
            </a:r>
            <a:endParaRPr lang="en-US" sz="2000"/>
          </a:p>
        </p:txBody>
      </p:sp>
      <p:sp>
        <p:nvSpPr>
          <p:cNvPr id="7" name="CV accuracy 83.33%"/>
          <p:cNvSpPr/>
          <p:nvPr/>
        </p:nvSpPr>
        <p:spPr>
          <a:xfrm>
            <a:off x="3530600" y="2006600"/>
            <a:ext cx="4656666" cy="342900"/>
          </a:xfrm>
          <a:prstGeom prst="rect">
            <a:avLst/>
          </a:prstGeom>
          <a:solidFill>
            <a:srgbClr val="147D92"/>
          </a:solidFill>
          <a:ln>
            <a:noFill/>
          </a:ln>
        </p:spPr>
        <p:txBody>
          <a:bodyPr/>
          <a:lstStyle/>
          <a:p>
            <a:endParaRPr lang="zh-CN" altLang="en-US"/>
          </a:p>
        </p:txBody>
      </p:sp>
      <p:sp>
        <p:nvSpPr>
          <p:cNvPr id="8" name="Text 8"/>
          <p:cNvSpPr txBox="1"/>
          <p:nvPr/>
        </p:nvSpPr>
        <p:spPr>
          <a:xfrm>
            <a:off x="9182100" y="1981200"/>
            <a:ext cx="1130300" cy="36830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/>
          <a:lstStyle/>
          <a:p>
            <a:pPr algn="l"/>
            <a:r>
              <a:rPr lang="en-US" sz="2000" b="1">
                <a:solidFill>
                  <a:srgbClr val="173346"/>
                </a:solidFill>
                <a:latin typeface="Arial"/>
                <a:ea typeface="PingFang SC"/>
                <a:cs typeface="Arial"/>
              </a:rPr>
              <a:t>83.33%</a:t>
            </a:r>
            <a:endParaRPr lang="en-US" sz="2000"/>
          </a:p>
        </p:txBody>
      </p:sp>
      <p:sp>
        <p:nvSpPr>
          <p:cNvPr id="9" name="Text 9"/>
          <p:cNvSpPr txBox="1"/>
          <p:nvPr/>
        </p:nvSpPr>
        <p:spPr>
          <a:xfrm>
            <a:off x="10604500" y="1981200"/>
            <a:ext cx="889000" cy="36830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/>
          <a:lstStyle/>
          <a:p>
            <a:pPr algn="l"/>
            <a:r>
              <a:rPr lang="en-US" sz="2000" b="0">
                <a:solidFill>
                  <a:srgbClr val="52636D"/>
                </a:solidFill>
                <a:latin typeface="Arial"/>
                <a:ea typeface="PingFang SC"/>
                <a:cs typeface="Arial"/>
              </a:rPr>
              <a:t>3.63</a:t>
            </a:r>
            <a:endParaRPr lang="en-US" sz="2000"/>
          </a:p>
        </p:txBody>
      </p:sp>
      <p:sp>
        <p:nvSpPr>
          <p:cNvPr id="10" name="Text 10"/>
          <p:cNvSpPr txBox="1"/>
          <p:nvPr/>
        </p:nvSpPr>
        <p:spPr>
          <a:xfrm>
            <a:off x="609600" y="2641600"/>
            <a:ext cx="2844800" cy="36830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/>
          <a:lstStyle/>
          <a:p>
            <a:pPr algn="l"/>
            <a:r>
              <a:rPr lang="en-US" sz="2000" b="0">
                <a:solidFill>
                  <a:srgbClr val="173346"/>
                </a:solidFill>
                <a:latin typeface="Arial"/>
                <a:ea typeface="PingFang SC"/>
                <a:cs typeface="Arial"/>
              </a:rPr>
              <a:t>Gradient boosting</a:t>
            </a:r>
            <a:endParaRPr lang="en-US" sz="2000"/>
          </a:p>
        </p:txBody>
      </p:sp>
      <p:sp>
        <p:nvSpPr>
          <p:cNvPr id="11" name="CV accuracy 83.00%"/>
          <p:cNvSpPr/>
          <p:nvPr/>
        </p:nvSpPr>
        <p:spPr>
          <a:xfrm>
            <a:off x="3530600" y="2667000"/>
            <a:ext cx="4637967" cy="342900"/>
          </a:xfrm>
          <a:prstGeom prst="rect">
            <a:avLst/>
          </a:prstGeom>
          <a:solidFill>
            <a:srgbClr val="147D92"/>
          </a:solidFill>
          <a:ln>
            <a:noFill/>
          </a:ln>
        </p:spPr>
        <p:txBody>
          <a:bodyPr/>
          <a:lstStyle/>
          <a:p>
            <a:endParaRPr lang="zh-CN" altLang="en-US"/>
          </a:p>
        </p:txBody>
      </p:sp>
      <p:sp>
        <p:nvSpPr>
          <p:cNvPr id="12" name="Text 12"/>
          <p:cNvSpPr txBox="1"/>
          <p:nvPr/>
        </p:nvSpPr>
        <p:spPr>
          <a:xfrm>
            <a:off x="9182100" y="2641600"/>
            <a:ext cx="1130300" cy="36830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/>
          <a:lstStyle/>
          <a:p>
            <a:pPr algn="l"/>
            <a:r>
              <a:rPr lang="en-US" sz="2000" b="0">
                <a:solidFill>
                  <a:srgbClr val="173346"/>
                </a:solidFill>
                <a:latin typeface="Arial"/>
                <a:ea typeface="PingFang SC"/>
                <a:cs typeface="Arial"/>
              </a:rPr>
              <a:t>83.00%</a:t>
            </a:r>
            <a:endParaRPr lang="en-US" sz="2000"/>
          </a:p>
        </p:txBody>
      </p:sp>
      <p:sp>
        <p:nvSpPr>
          <p:cNvPr id="13" name="Text 13"/>
          <p:cNvSpPr txBox="1"/>
          <p:nvPr/>
        </p:nvSpPr>
        <p:spPr>
          <a:xfrm>
            <a:off x="10604500" y="2641600"/>
            <a:ext cx="889000" cy="36830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/>
          <a:lstStyle/>
          <a:p>
            <a:pPr algn="l"/>
            <a:r>
              <a:rPr lang="en-US" sz="2000" b="0">
                <a:solidFill>
                  <a:srgbClr val="52636D"/>
                </a:solidFill>
                <a:latin typeface="Arial"/>
                <a:ea typeface="PingFang SC"/>
                <a:cs typeface="Arial"/>
              </a:rPr>
              <a:t>3.81</a:t>
            </a:r>
            <a:endParaRPr lang="en-US" sz="2000"/>
          </a:p>
        </p:txBody>
      </p:sp>
      <p:sp>
        <p:nvSpPr>
          <p:cNvPr id="14" name="Text 14"/>
          <p:cNvSpPr txBox="1"/>
          <p:nvPr/>
        </p:nvSpPr>
        <p:spPr>
          <a:xfrm>
            <a:off x="609600" y="3302000"/>
            <a:ext cx="2844800" cy="36830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/>
          <a:lstStyle/>
          <a:p>
            <a:pPr algn="l"/>
            <a:r>
              <a:rPr lang="en-US" sz="2000" b="0">
                <a:solidFill>
                  <a:srgbClr val="173346"/>
                </a:solidFill>
                <a:latin typeface="Arial"/>
                <a:ea typeface="PingFang SC"/>
                <a:cs typeface="Arial"/>
              </a:rPr>
              <a:t>RBF SVM</a:t>
            </a:r>
            <a:endParaRPr lang="en-US" sz="2000"/>
          </a:p>
        </p:txBody>
      </p:sp>
      <p:sp>
        <p:nvSpPr>
          <p:cNvPr id="15" name="CV accuracy 82.32%"/>
          <p:cNvSpPr/>
          <p:nvPr/>
        </p:nvSpPr>
        <p:spPr>
          <a:xfrm>
            <a:off x="3530600" y="3327400"/>
            <a:ext cx="4600001" cy="342900"/>
          </a:xfrm>
          <a:prstGeom prst="rect">
            <a:avLst/>
          </a:prstGeom>
          <a:solidFill>
            <a:srgbClr val="147D92"/>
          </a:solidFill>
          <a:ln>
            <a:noFill/>
          </a:ln>
        </p:spPr>
        <p:txBody>
          <a:bodyPr/>
          <a:lstStyle/>
          <a:p>
            <a:endParaRPr lang="zh-CN" altLang="en-US"/>
          </a:p>
        </p:txBody>
      </p:sp>
      <p:sp>
        <p:nvSpPr>
          <p:cNvPr id="16" name="Text 16"/>
          <p:cNvSpPr txBox="1"/>
          <p:nvPr/>
        </p:nvSpPr>
        <p:spPr>
          <a:xfrm>
            <a:off x="9182100" y="3302000"/>
            <a:ext cx="1130300" cy="36830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/>
          <a:lstStyle/>
          <a:p>
            <a:pPr algn="l"/>
            <a:r>
              <a:rPr lang="en-US" sz="2000" b="0">
                <a:solidFill>
                  <a:srgbClr val="173346"/>
                </a:solidFill>
                <a:latin typeface="Arial"/>
                <a:ea typeface="PingFang SC"/>
                <a:cs typeface="Arial"/>
              </a:rPr>
              <a:t>82.32%</a:t>
            </a:r>
            <a:endParaRPr lang="en-US" sz="2000"/>
          </a:p>
        </p:txBody>
      </p:sp>
      <p:sp>
        <p:nvSpPr>
          <p:cNvPr id="17" name="Text 17"/>
          <p:cNvSpPr txBox="1"/>
          <p:nvPr/>
        </p:nvSpPr>
        <p:spPr>
          <a:xfrm>
            <a:off x="10604500" y="3302000"/>
            <a:ext cx="889000" cy="36830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/>
          <a:lstStyle/>
          <a:p>
            <a:pPr algn="l"/>
            <a:r>
              <a:rPr lang="en-US" sz="2000" b="0">
                <a:solidFill>
                  <a:srgbClr val="52636D"/>
                </a:solidFill>
                <a:latin typeface="Arial"/>
                <a:ea typeface="PingFang SC"/>
                <a:cs typeface="Arial"/>
              </a:rPr>
              <a:t>2.67</a:t>
            </a:r>
            <a:endParaRPr lang="en-US" sz="2000"/>
          </a:p>
        </p:txBody>
      </p:sp>
      <p:sp>
        <p:nvSpPr>
          <p:cNvPr id="18" name="Text 18"/>
          <p:cNvSpPr txBox="1"/>
          <p:nvPr/>
        </p:nvSpPr>
        <p:spPr>
          <a:xfrm>
            <a:off x="609600" y="3962400"/>
            <a:ext cx="2844800" cy="36830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/>
          <a:lstStyle/>
          <a:p>
            <a:pPr algn="l"/>
            <a:r>
              <a:rPr lang="en-US" sz="2000" b="0">
                <a:solidFill>
                  <a:srgbClr val="173346"/>
                </a:solidFill>
                <a:latin typeface="Arial"/>
                <a:ea typeface="PingFang SC"/>
                <a:cs typeface="Arial"/>
              </a:rPr>
              <a:t>Logistic regression</a:t>
            </a:r>
            <a:endParaRPr lang="en-US" sz="2000"/>
          </a:p>
        </p:txBody>
      </p:sp>
      <p:sp>
        <p:nvSpPr>
          <p:cNvPr id="19" name="CV accuracy 81.62%"/>
          <p:cNvSpPr/>
          <p:nvPr/>
        </p:nvSpPr>
        <p:spPr>
          <a:xfrm>
            <a:off x="3530600" y="3987800"/>
            <a:ext cx="4560983" cy="342900"/>
          </a:xfrm>
          <a:prstGeom prst="rect">
            <a:avLst/>
          </a:prstGeom>
          <a:solidFill>
            <a:srgbClr val="147D92"/>
          </a:solidFill>
          <a:ln>
            <a:noFill/>
          </a:ln>
        </p:spPr>
        <p:txBody>
          <a:bodyPr/>
          <a:lstStyle/>
          <a:p>
            <a:endParaRPr lang="zh-CN" altLang="en-US"/>
          </a:p>
        </p:txBody>
      </p:sp>
      <p:sp>
        <p:nvSpPr>
          <p:cNvPr id="20" name="Text 20"/>
          <p:cNvSpPr txBox="1"/>
          <p:nvPr/>
        </p:nvSpPr>
        <p:spPr>
          <a:xfrm>
            <a:off x="9182100" y="3962400"/>
            <a:ext cx="1130300" cy="36830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/>
          <a:lstStyle/>
          <a:p>
            <a:pPr algn="l"/>
            <a:r>
              <a:rPr lang="en-US" sz="2000" b="0">
                <a:solidFill>
                  <a:srgbClr val="173346"/>
                </a:solidFill>
                <a:latin typeface="Arial"/>
                <a:ea typeface="PingFang SC"/>
                <a:cs typeface="Arial"/>
              </a:rPr>
              <a:t>81.62%</a:t>
            </a:r>
            <a:endParaRPr lang="en-US" sz="2000"/>
          </a:p>
        </p:txBody>
      </p:sp>
      <p:sp>
        <p:nvSpPr>
          <p:cNvPr id="21" name="Text 21"/>
          <p:cNvSpPr txBox="1"/>
          <p:nvPr/>
        </p:nvSpPr>
        <p:spPr>
          <a:xfrm>
            <a:off x="10604500" y="3962400"/>
            <a:ext cx="889000" cy="36830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/>
          <a:lstStyle/>
          <a:p>
            <a:pPr algn="l"/>
            <a:r>
              <a:rPr lang="en-US" sz="2000" b="0">
                <a:solidFill>
                  <a:srgbClr val="52636D"/>
                </a:solidFill>
                <a:latin typeface="Arial"/>
                <a:ea typeface="PingFang SC"/>
                <a:cs typeface="Arial"/>
              </a:rPr>
              <a:t>4.50</a:t>
            </a:r>
            <a:endParaRPr lang="en-US" sz="2000"/>
          </a:p>
        </p:txBody>
      </p:sp>
      <p:sp>
        <p:nvSpPr>
          <p:cNvPr id="22" name="Text 22"/>
          <p:cNvSpPr txBox="1"/>
          <p:nvPr/>
        </p:nvSpPr>
        <p:spPr>
          <a:xfrm>
            <a:off x="609600" y="4622800"/>
            <a:ext cx="2844800" cy="36830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/>
          <a:lstStyle/>
          <a:p>
            <a:pPr algn="l"/>
            <a:r>
              <a:rPr lang="en-US" sz="2000" b="0">
                <a:solidFill>
                  <a:srgbClr val="173346"/>
                </a:solidFill>
                <a:latin typeface="Arial"/>
                <a:ea typeface="PingFang SC"/>
                <a:cs typeface="Arial"/>
              </a:rPr>
              <a:t>k-NN</a:t>
            </a:r>
            <a:endParaRPr lang="en-US" sz="2000"/>
          </a:p>
        </p:txBody>
      </p:sp>
      <p:sp>
        <p:nvSpPr>
          <p:cNvPr id="23" name="CV accuracy 81.29%"/>
          <p:cNvSpPr/>
          <p:nvPr/>
        </p:nvSpPr>
        <p:spPr>
          <a:xfrm>
            <a:off x="3530600" y="4648200"/>
            <a:ext cx="4542526" cy="342900"/>
          </a:xfrm>
          <a:prstGeom prst="rect">
            <a:avLst/>
          </a:prstGeom>
          <a:solidFill>
            <a:srgbClr val="147D92"/>
          </a:solidFill>
          <a:ln>
            <a:noFill/>
          </a:ln>
        </p:spPr>
        <p:txBody>
          <a:bodyPr/>
          <a:lstStyle/>
          <a:p>
            <a:endParaRPr lang="zh-CN" altLang="en-US"/>
          </a:p>
        </p:txBody>
      </p:sp>
      <p:sp>
        <p:nvSpPr>
          <p:cNvPr id="24" name="Text 24"/>
          <p:cNvSpPr txBox="1"/>
          <p:nvPr/>
        </p:nvSpPr>
        <p:spPr>
          <a:xfrm>
            <a:off x="9182100" y="4622800"/>
            <a:ext cx="1130300" cy="36830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/>
          <a:lstStyle/>
          <a:p>
            <a:pPr algn="l"/>
            <a:r>
              <a:rPr lang="en-US" sz="2000" b="0">
                <a:solidFill>
                  <a:srgbClr val="173346"/>
                </a:solidFill>
                <a:latin typeface="Arial"/>
                <a:ea typeface="PingFang SC"/>
                <a:cs typeface="Arial"/>
              </a:rPr>
              <a:t>81.29%</a:t>
            </a:r>
            <a:endParaRPr lang="en-US" sz="2000"/>
          </a:p>
        </p:txBody>
      </p:sp>
      <p:sp>
        <p:nvSpPr>
          <p:cNvPr id="25" name="Text 25"/>
          <p:cNvSpPr txBox="1"/>
          <p:nvPr/>
        </p:nvSpPr>
        <p:spPr>
          <a:xfrm>
            <a:off x="10604500" y="4622800"/>
            <a:ext cx="889000" cy="36830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/>
          <a:lstStyle/>
          <a:p>
            <a:pPr algn="l"/>
            <a:r>
              <a:rPr lang="en-US" sz="2000" b="0">
                <a:solidFill>
                  <a:srgbClr val="52636D"/>
                </a:solidFill>
                <a:latin typeface="Arial"/>
                <a:ea typeface="PingFang SC"/>
                <a:cs typeface="Arial"/>
              </a:rPr>
              <a:t>1.95</a:t>
            </a:r>
            <a:endParaRPr lang="en-US" sz="2000"/>
          </a:p>
        </p:txBody>
      </p:sp>
      <p:sp>
        <p:nvSpPr>
          <p:cNvPr id="26" name="Text 26"/>
          <p:cNvSpPr txBox="1"/>
          <p:nvPr/>
        </p:nvSpPr>
        <p:spPr>
          <a:xfrm>
            <a:off x="3530600" y="5245100"/>
            <a:ext cx="762000" cy="31750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/>
          <a:lstStyle/>
          <a:p>
            <a:pPr algn="l"/>
            <a:r>
              <a:rPr lang="en-US" sz="1700" b="0">
                <a:solidFill>
                  <a:srgbClr val="52636D"/>
                </a:solidFill>
                <a:latin typeface="Arial"/>
                <a:ea typeface="PingFang SC"/>
                <a:cs typeface="Arial"/>
              </a:rPr>
              <a:t>0%</a:t>
            </a:r>
            <a:endParaRPr lang="en-US" sz="1700"/>
          </a:p>
        </p:txBody>
      </p:sp>
      <p:sp>
        <p:nvSpPr>
          <p:cNvPr id="27" name="Text 27"/>
          <p:cNvSpPr txBox="1"/>
          <p:nvPr/>
        </p:nvSpPr>
        <p:spPr>
          <a:xfrm>
            <a:off x="8547100" y="5245100"/>
            <a:ext cx="889000" cy="31750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/>
          <a:lstStyle/>
          <a:p>
            <a:pPr algn="l"/>
            <a:r>
              <a:rPr lang="en-US" sz="1700" b="0">
                <a:solidFill>
                  <a:srgbClr val="52636D"/>
                </a:solidFill>
                <a:latin typeface="Arial"/>
                <a:ea typeface="PingFang SC"/>
                <a:cs typeface="Arial"/>
              </a:rPr>
              <a:t>100%</a:t>
            </a:r>
            <a:endParaRPr lang="en-US" sz="1700"/>
          </a:p>
        </p:txBody>
      </p:sp>
      <p:sp>
        <p:nvSpPr>
          <p:cNvPr id="28" name="Text 28"/>
          <p:cNvSpPr txBox="1"/>
          <p:nvPr/>
        </p:nvSpPr>
        <p:spPr>
          <a:xfrm>
            <a:off x="609600" y="5664200"/>
            <a:ext cx="10972800" cy="35560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/>
          <a:lstStyle/>
          <a:p>
            <a:pPr algn="l"/>
            <a:r>
              <a:rPr lang="en-US" sz="1900" b="0" dirty="0">
                <a:solidFill>
                  <a:srgbClr val="52636D"/>
                </a:solidFill>
                <a:latin typeface="Arial"/>
                <a:ea typeface="PingFang SC"/>
                <a:cs typeface="Arial"/>
              </a:rPr>
              <a:t>Majority baseline: 60.20%. CV scores include tuning optimism.</a:t>
            </a:r>
            <a:endParaRPr lang="en-US" sz="1900" dirty="0"/>
          </a:p>
        </p:txBody>
      </p:sp>
      <p:sp>
        <p:nvSpPr>
          <p:cNvPr id="29" name="Text 29"/>
          <p:cNvSpPr txBox="1"/>
          <p:nvPr/>
        </p:nvSpPr>
        <p:spPr>
          <a:xfrm>
            <a:off x="609600" y="6070600"/>
            <a:ext cx="10972800" cy="34290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/>
          <a:lstStyle/>
          <a:p>
            <a:pPr algn="l"/>
            <a:r>
              <a:rPr lang="en-US" sz="1800" b="0">
                <a:solidFill>
                  <a:srgbClr val="52636D"/>
                </a:solidFill>
                <a:latin typeface="Arial"/>
                <a:ea typeface="PingFang SC"/>
                <a:cs typeface="Arial"/>
              </a:rPr>
              <a:t>Random forest leads gradient boosting by only 0.33 percentage points.</a:t>
            </a:r>
            <a:endParaRPr lang="en-US" sz="180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2"/>
          <p:cNvSpPr txBox="1"/>
          <p:nvPr/>
        </p:nvSpPr>
        <p:spPr>
          <a:xfrm>
            <a:off x="609600" y="431800"/>
            <a:ext cx="10972800" cy="88900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/>
          <a:lstStyle/>
          <a:p>
            <a:pPr algn="l"/>
            <a:r>
              <a:rPr lang="en-US" sz="3200" b="1">
                <a:solidFill>
                  <a:srgbClr val="173346"/>
                </a:solidFill>
                <a:latin typeface="Arial"/>
                <a:ea typeface="PingFang SC"/>
                <a:cs typeface="Arial"/>
              </a:rPr>
              <a:t>Selected model: holdout evaluation</a:t>
            </a:r>
            <a:endParaRPr lang="en-US" sz="3200"/>
          </a:p>
        </p:txBody>
      </p:sp>
      <p:sp>
        <p:nvSpPr>
          <p:cNvPr id="3" name="Text 3"/>
          <p:cNvSpPr txBox="1"/>
          <p:nvPr/>
        </p:nvSpPr>
        <p:spPr>
          <a:xfrm>
            <a:off x="11201400" y="6388100"/>
            <a:ext cx="381000" cy="22860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/>
          <a:lstStyle/>
          <a:p>
            <a:pPr algn="l"/>
            <a:r>
              <a:rPr lang="en-US" sz="1100" b="0">
                <a:solidFill>
                  <a:srgbClr val="52636D"/>
                </a:solidFill>
                <a:latin typeface="Arial"/>
                <a:ea typeface="PingFang SC"/>
                <a:cs typeface="Arial"/>
              </a:rPr>
              <a:t>10</a:t>
            </a:r>
            <a:endParaRPr lang="en-US" sz="1100"/>
          </a:p>
        </p:txBody>
      </p:sp>
      <p:sp>
        <p:nvSpPr>
          <p:cNvPr id="4" name="Text 4"/>
          <p:cNvSpPr txBox="1"/>
          <p:nvPr/>
        </p:nvSpPr>
        <p:spPr>
          <a:xfrm>
            <a:off x="609600" y="1447800"/>
            <a:ext cx="10972800" cy="60960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/>
          <a:lstStyle/>
          <a:p>
            <a:pPr algn="l"/>
            <a:r>
              <a:rPr lang="en-US" sz="2800" b="1">
                <a:solidFill>
                  <a:srgbClr val="147D92"/>
                </a:solidFill>
                <a:latin typeface="Arial"/>
                <a:ea typeface="PingFang SC"/>
                <a:cs typeface="Arial"/>
              </a:rPr>
              <a:t>Random forest: 120/148 correct = 81.08%</a:t>
            </a:r>
            <a:endParaRPr lang="en-US" sz="2800"/>
          </a:p>
        </p:txBody>
      </p:sp>
      <p:sp>
        <p:nvSpPr>
          <p:cNvPr id="5" name="Text 5"/>
          <p:cNvSpPr txBox="1"/>
          <p:nvPr/>
        </p:nvSpPr>
        <p:spPr>
          <a:xfrm>
            <a:off x="609600" y="2197100"/>
            <a:ext cx="10972800" cy="38100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/>
          <a:lstStyle/>
          <a:p>
            <a:pPr algn="l"/>
            <a:r>
              <a:rPr lang="en-US" sz="2100" b="0">
                <a:solidFill>
                  <a:srgbClr val="173346"/>
                </a:solidFill>
                <a:latin typeface="Arial"/>
                <a:ea typeface="PingFang SC"/>
                <a:cs typeface="Arial"/>
              </a:rPr>
              <a:t>Majority baseline: 60.14%</a:t>
            </a:r>
            <a:endParaRPr lang="en-US" sz="2100"/>
          </a:p>
        </p:txBody>
      </p:sp>
      <p:sp>
        <p:nvSpPr>
          <p:cNvPr id="6" name="Table row 1"/>
          <p:cNvSpPr/>
          <p:nvPr/>
        </p:nvSpPr>
        <p:spPr>
          <a:xfrm>
            <a:off x="609600" y="2908300"/>
            <a:ext cx="10972800" cy="571500"/>
          </a:xfrm>
          <a:prstGeom prst="rect">
            <a:avLst/>
          </a:prstGeom>
          <a:solidFill>
            <a:srgbClr val="173346"/>
          </a:solidFill>
          <a:ln>
            <a:noFill/>
          </a:ln>
        </p:spPr>
        <p:txBody>
          <a:bodyPr/>
          <a:lstStyle/>
          <a:p>
            <a:endParaRPr lang="zh-CN" altLang="en-US"/>
          </a:p>
        </p:txBody>
      </p:sp>
      <p:sp>
        <p:nvSpPr>
          <p:cNvPr id="7" name="Text 7"/>
          <p:cNvSpPr txBox="1"/>
          <p:nvPr/>
        </p:nvSpPr>
        <p:spPr>
          <a:xfrm>
            <a:off x="736600" y="3009900"/>
            <a:ext cx="4699000" cy="40640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/>
          <a:lstStyle/>
          <a:p>
            <a:pPr algn="l"/>
            <a:r>
              <a:rPr lang="en-US" sz="2200" b="1">
                <a:solidFill>
                  <a:srgbClr val="FFFFFF"/>
                </a:solidFill>
                <a:latin typeface="Arial"/>
                <a:ea typeface="PingFang SC"/>
                <a:cs typeface="Arial"/>
              </a:rPr>
              <a:t>Actual / predicted</a:t>
            </a:r>
            <a:endParaRPr lang="en-US" sz="2200"/>
          </a:p>
        </p:txBody>
      </p:sp>
      <p:sp>
        <p:nvSpPr>
          <p:cNvPr id="8" name="Text 8"/>
          <p:cNvSpPr txBox="1"/>
          <p:nvPr/>
        </p:nvSpPr>
        <p:spPr>
          <a:xfrm>
            <a:off x="5689600" y="3009900"/>
            <a:ext cx="2755900" cy="40640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/>
          <a:lstStyle/>
          <a:p>
            <a:pPr algn="l"/>
            <a:r>
              <a:rPr lang="en-US" sz="2200" b="1">
                <a:solidFill>
                  <a:srgbClr val="FFFFFF"/>
                </a:solidFill>
                <a:latin typeface="Arial"/>
                <a:ea typeface="PingFang SC"/>
                <a:cs typeface="Arial"/>
              </a:rPr>
              <a:t>Dislike (0)</a:t>
            </a:r>
            <a:endParaRPr lang="en-US" sz="2200"/>
          </a:p>
        </p:txBody>
      </p:sp>
      <p:sp>
        <p:nvSpPr>
          <p:cNvPr id="9" name="Text 9"/>
          <p:cNvSpPr txBox="1"/>
          <p:nvPr/>
        </p:nvSpPr>
        <p:spPr>
          <a:xfrm>
            <a:off x="8699500" y="3009900"/>
            <a:ext cx="2755900" cy="40640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/>
          <a:lstStyle/>
          <a:p>
            <a:pPr algn="l"/>
            <a:r>
              <a:rPr lang="en-US" sz="2200" b="1">
                <a:solidFill>
                  <a:srgbClr val="FFFFFF"/>
                </a:solidFill>
                <a:latin typeface="Arial"/>
                <a:ea typeface="PingFang SC"/>
                <a:cs typeface="Arial"/>
              </a:rPr>
              <a:t>Like (1)</a:t>
            </a:r>
            <a:endParaRPr lang="en-US" sz="2200"/>
          </a:p>
        </p:txBody>
      </p:sp>
      <p:sp>
        <p:nvSpPr>
          <p:cNvPr id="10" name="Table row 2"/>
          <p:cNvSpPr/>
          <p:nvPr/>
        </p:nvSpPr>
        <p:spPr>
          <a:xfrm>
            <a:off x="609600" y="3479800"/>
            <a:ext cx="10972800" cy="685800"/>
          </a:xfrm>
          <a:prstGeom prst="rect">
            <a:avLst/>
          </a:prstGeom>
          <a:solidFill>
            <a:srgbClr val="EDF4F6"/>
          </a:solidFill>
          <a:ln>
            <a:noFill/>
          </a:ln>
        </p:spPr>
        <p:txBody>
          <a:bodyPr/>
          <a:lstStyle/>
          <a:p>
            <a:endParaRPr lang="zh-CN" altLang="en-US"/>
          </a:p>
        </p:txBody>
      </p:sp>
      <p:sp>
        <p:nvSpPr>
          <p:cNvPr id="11" name="Text 11"/>
          <p:cNvSpPr txBox="1"/>
          <p:nvPr/>
        </p:nvSpPr>
        <p:spPr>
          <a:xfrm>
            <a:off x="736600" y="3629660"/>
            <a:ext cx="4699000" cy="472439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/>
          <a:lstStyle/>
          <a:p>
            <a:pPr algn="l"/>
            <a:r>
              <a:rPr lang="en-US" sz="2200" b="0">
                <a:solidFill>
                  <a:srgbClr val="173346"/>
                </a:solidFill>
                <a:latin typeface="Arial"/>
                <a:ea typeface="PingFang SC"/>
                <a:cs typeface="Arial"/>
              </a:rPr>
              <a:t>Dislike (0)</a:t>
            </a:r>
            <a:endParaRPr lang="en-US" sz="2200"/>
          </a:p>
        </p:txBody>
      </p:sp>
      <p:sp>
        <p:nvSpPr>
          <p:cNvPr id="12" name="Text 12"/>
          <p:cNvSpPr txBox="1"/>
          <p:nvPr/>
        </p:nvSpPr>
        <p:spPr>
          <a:xfrm>
            <a:off x="5689600" y="3629660"/>
            <a:ext cx="2755900" cy="472439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/>
          <a:lstStyle/>
          <a:p>
            <a:pPr algn="l"/>
            <a:r>
              <a:rPr lang="en-US" sz="2200" b="0">
                <a:solidFill>
                  <a:srgbClr val="173346"/>
                </a:solidFill>
                <a:latin typeface="Arial"/>
                <a:ea typeface="PingFang SC"/>
                <a:cs typeface="Arial"/>
              </a:rPr>
              <a:t>41</a:t>
            </a:r>
            <a:endParaRPr lang="en-US" sz="2200"/>
          </a:p>
        </p:txBody>
      </p:sp>
      <p:sp>
        <p:nvSpPr>
          <p:cNvPr id="13" name="Text 13"/>
          <p:cNvSpPr txBox="1"/>
          <p:nvPr/>
        </p:nvSpPr>
        <p:spPr>
          <a:xfrm>
            <a:off x="8699500" y="3629660"/>
            <a:ext cx="2755900" cy="472439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/>
          <a:lstStyle/>
          <a:p>
            <a:pPr algn="l"/>
            <a:r>
              <a:rPr lang="en-US" sz="2200" b="0">
                <a:solidFill>
                  <a:srgbClr val="173346"/>
                </a:solidFill>
                <a:latin typeface="Arial"/>
                <a:ea typeface="PingFang SC"/>
                <a:cs typeface="Arial"/>
              </a:rPr>
              <a:t>18</a:t>
            </a:r>
            <a:endParaRPr lang="en-US" sz="2200"/>
          </a:p>
        </p:txBody>
      </p:sp>
      <p:sp>
        <p:nvSpPr>
          <p:cNvPr id="14" name="Table row 3"/>
          <p:cNvSpPr/>
          <p:nvPr/>
        </p:nvSpPr>
        <p:spPr>
          <a:xfrm>
            <a:off x="609600" y="4165600"/>
            <a:ext cx="10972800" cy="6858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txBody>
          <a:bodyPr/>
          <a:lstStyle/>
          <a:p>
            <a:endParaRPr lang="zh-CN" altLang="en-US"/>
          </a:p>
        </p:txBody>
      </p:sp>
      <p:sp>
        <p:nvSpPr>
          <p:cNvPr id="15" name="Text 15"/>
          <p:cNvSpPr txBox="1"/>
          <p:nvPr/>
        </p:nvSpPr>
        <p:spPr>
          <a:xfrm>
            <a:off x="736600" y="4315460"/>
            <a:ext cx="4699000" cy="472439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/>
          <a:lstStyle/>
          <a:p>
            <a:pPr algn="l"/>
            <a:r>
              <a:rPr lang="en-US" sz="2200" b="0">
                <a:solidFill>
                  <a:srgbClr val="173346"/>
                </a:solidFill>
                <a:latin typeface="Arial"/>
                <a:ea typeface="PingFang SC"/>
                <a:cs typeface="Arial"/>
              </a:rPr>
              <a:t>Like (1)</a:t>
            </a:r>
            <a:endParaRPr lang="en-US" sz="2200"/>
          </a:p>
        </p:txBody>
      </p:sp>
      <p:sp>
        <p:nvSpPr>
          <p:cNvPr id="16" name="Text 16"/>
          <p:cNvSpPr txBox="1"/>
          <p:nvPr/>
        </p:nvSpPr>
        <p:spPr>
          <a:xfrm>
            <a:off x="5689600" y="4315460"/>
            <a:ext cx="2755900" cy="472439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/>
          <a:lstStyle/>
          <a:p>
            <a:pPr algn="l"/>
            <a:r>
              <a:rPr lang="en-US" sz="2200" b="0">
                <a:solidFill>
                  <a:srgbClr val="173346"/>
                </a:solidFill>
                <a:latin typeface="Arial"/>
                <a:ea typeface="PingFang SC"/>
                <a:cs typeface="Arial"/>
              </a:rPr>
              <a:t>10</a:t>
            </a:r>
            <a:endParaRPr lang="en-US" sz="2200"/>
          </a:p>
        </p:txBody>
      </p:sp>
      <p:sp>
        <p:nvSpPr>
          <p:cNvPr id="17" name="Text 17"/>
          <p:cNvSpPr txBox="1"/>
          <p:nvPr/>
        </p:nvSpPr>
        <p:spPr>
          <a:xfrm>
            <a:off x="8699500" y="4315460"/>
            <a:ext cx="2755900" cy="472439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/>
          <a:lstStyle/>
          <a:p>
            <a:pPr algn="l"/>
            <a:r>
              <a:rPr lang="en-US" sz="2200" b="0">
                <a:solidFill>
                  <a:srgbClr val="173346"/>
                </a:solidFill>
                <a:latin typeface="Arial"/>
                <a:ea typeface="PingFang SC"/>
                <a:cs typeface="Arial"/>
              </a:rPr>
              <a:t>79</a:t>
            </a:r>
            <a:endParaRPr lang="en-US" sz="2200"/>
          </a:p>
        </p:txBody>
      </p:sp>
      <p:sp>
        <p:nvSpPr>
          <p:cNvPr id="18" name="Text 18"/>
          <p:cNvSpPr txBox="1"/>
          <p:nvPr/>
        </p:nvSpPr>
        <p:spPr>
          <a:xfrm>
            <a:off x="609600" y="5156200"/>
            <a:ext cx="10972800" cy="73660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/>
          <a:lstStyle/>
          <a:p>
            <a:pPr algn="l"/>
            <a:r>
              <a:rPr lang="en-US" sz="2200" b="0">
                <a:solidFill>
                  <a:srgbClr val="173346"/>
                </a:solidFill>
                <a:latin typeface="Arial"/>
                <a:ea typeface="PingFang SC"/>
                <a:cs typeface="Arial"/>
              </a:rPr>
              <a:t>Balanced accuracy 79.13%     Like-class F1 0.849</a:t>
            </a:r>
            <a:endParaRPr lang="en-US" sz="2200"/>
          </a:p>
          <a:p>
            <a:pPr algn="l"/>
            <a:r>
              <a:rPr lang="en-US" sz="2200" b="0">
                <a:solidFill>
                  <a:srgbClr val="173346"/>
                </a:solidFill>
                <a:latin typeface="Arial"/>
                <a:ea typeface="PingFang SC"/>
                <a:cs typeface="Arial"/>
              </a:rPr>
              <a:t>ROC-AUC 0.900</a:t>
            </a:r>
            <a:endParaRPr lang="en-US" sz="2200"/>
          </a:p>
        </p:txBody>
      </p:sp>
      <p:sp>
        <p:nvSpPr>
          <p:cNvPr id="19" name="Text 19"/>
          <p:cNvSpPr txBox="1"/>
          <p:nvPr/>
        </p:nvSpPr>
        <p:spPr>
          <a:xfrm>
            <a:off x="609600" y="6045200"/>
            <a:ext cx="10972800" cy="30480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/>
          <a:lstStyle/>
          <a:p>
            <a:pPr algn="l"/>
            <a:r>
              <a:rPr lang="zh-CN" altLang="zh-CN" sz="1600" dirty="0"/>
              <a:t>The holdout contains only 148 songs, so accuracy may vary on new data.</a:t>
            </a:r>
            <a:endParaRPr lang="en-US" sz="1700" dirty="0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2"/>
          <p:cNvSpPr txBox="1"/>
          <p:nvPr/>
        </p:nvSpPr>
        <p:spPr>
          <a:xfrm>
            <a:off x="609600" y="431800"/>
            <a:ext cx="10972800" cy="88900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/>
          <a:lstStyle/>
          <a:p>
            <a:pPr algn="l"/>
            <a:r>
              <a:rPr lang="en-US" sz="3200" b="1">
                <a:solidFill>
                  <a:srgbClr val="173346"/>
                </a:solidFill>
                <a:latin typeface="Arial"/>
                <a:ea typeface="PingFang SC"/>
                <a:cs typeface="Arial"/>
              </a:rPr>
              <a:t>Final training and submission</a:t>
            </a:r>
            <a:endParaRPr lang="en-US" sz="3200"/>
          </a:p>
        </p:txBody>
      </p:sp>
      <p:sp>
        <p:nvSpPr>
          <p:cNvPr id="3" name="Text 3"/>
          <p:cNvSpPr txBox="1"/>
          <p:nvPr/>
        </p:nvSpPr>
        <p:spPr>
          <a:xfrm>
            <a:off x="11201400" y="6388100"/>
            <a:ext cx="381000" cy="22860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/>
          <a:lstStyle/>
          <a:p>
            <a:pPr algn="l"/>
            <a:r>
              <a:rPr lang="en-US" sz="1100" b="0">
                <a:solidFill>
                  <a:srgbClr val="52636D"/>
                </a:solidFill>
                <a:latin typeface="Arial"/>
                <a:ea typeface="PingFang SC"/>
                <a:cs typeface="Arial"/>
              </a:rPr>
              <a:t>11</a:t>
            </a:r>
            <a:endParaRPr lang="en-US" sz="1100"/>
          </a:p>
        </p:txBody>
      </p:sp>
      <p:sp>
        <p:nvSpPr>
          <p:cNvPr id="4" name="Text 4"/>
          <p:cNvSpPr txBox="1"/>
          <p:nvPr/>
        </p:nvSpPr>
        <p:spPr>
          <a:xfrm>
            <a:off x="609600" y="1511300"/>
            <a:ext cx="10972800" cy="35560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/>
          <a:lstStyle/>
          <a:p>
            <a:pPr algn="l"/>
            <a:r>
              <a:rPr lang="en-US" sz="2100" b="1">
                <a:solidFill>
                  <a:srgbClr val="147D92"/>
                </a:solidFill>
                <a:latin typeface="Arial"/>
                <a:ea typeface="PingFang SC"/>
                <a:cs typeface="Arial"/>
              </a:rPr>
              <a:t>Selected settings</a:t>
            </a:r>
            <a:endParaRPr lang="en-US" sz="2100"/>
          </a:p>
        </p:txBody>
      </p:sp>
      <p:sp>
        <p:nvSpPr>
          <p:cNvPr id="5" name="Text 5"/>
          <p:cNvSpPr txBox="1"/>
          <p:nvPr/>
        </p:nvSpPr>
        <p:spPr>
          <a:xfrm>
            <a:off x="609600" y="1930400"/>
            <a:ext cx="10972800" cy="76200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/>
          <a:lstStyle/>
          <a:p>
            <a:pPr algn="l"/>
            <a:r>
              <a:rPr lang="en-US" sz="2100" b="0">
                <a:solidFill>
                  <a:srgbClr val="173346"/>
                </a:solidFill>
                <a:latin typeface="Arial"/>
                <a:ea typeface="PingFang SC"/>
                <a:cs typeface="Arial"/>
              </a:rPr>
              <a:t>Random forest with 150 trees</a:t>
            </a:r>
            <a:endParaRPr lang="en-US" sz="2100"/>
          </a:p>
          <a:p>
            <a:pPr algn="l"/>
            <a:r>
              <a:rPr lang="en-US" sz="2100" b="0">
                <a:solidFill>
                  <a:srgbClr val="173346"/>
                </a:solidFill>
                <a:latin typeface="Arial"/>
                <a:ea typeface="PingFang SC"/>
                <a:cs typeface="Arial"/>
              </a:rPr>
              <a:t>max_depth = 8 and min_samples_leaf = 3</a:t>
            </a:r>
            <a:endParaRPr lang="en-US" sz="2100"/>
          </a:p>
        </p:txBody>
      </p:sp>
      <p:sp>
        <p:nvSpPr>
          <p:cNvPr id="6" name="Text 6"/>
          <p:cNvSpPr txBox="1"/>
          <p:nvPr/>
        </p:nvSpPr>
        <p:spPr>
          <a:xfrm>
            <a:off x="609600" y="3136900"/>
            <a:ext cx="10972800" cy="35560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/>
          <a:lstStyle/>
          <a:p>
            <a:pPr algn="l"/>
            <a:r>
              <a:rPr lang="en-US" sz="2100" b="1">
                <a:solidFill>
                  <a:srgbClr val="147D92"/>
                </a:solidFill>
                <a:latin typeface="Arial"/>
                <a:ea typeface="PingFang SC"/>
                <a:cs typeface="Arial"/>
              </a:rPr>
              <a:t>Final training</a:t>
            </a:r>
            <a:endParaRPr lang="en-US" sz="2100"/>
          </a:p>
        </p:txBody>
      </p:sp>
      <p:sp>
        <p:nvSpPr>
          <p:cNvPr id="7" name="Text 7"/>
          <p:cNvSpPr txBox="1"/>
          <p:nvPr/>
        </p:nvSpPr>
        <p:spPr>
          <a:xfrm>
            <a:off x="609600" y="3556000"/>
            <a:ext cx="10972800" cy="76200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/>
          <a:lstStyle/>
          <a:p>
            <a:pPr algn="l"/>
            <a:r>
              <a:rPr lang="en-US" sz="2100" b="0">
                <a:solidFill>
                  <a:srgbClr val="173346"/>
                </a:solidFill>
                <a:latin typeface="Arial"/>
                <a:ea typeface="PingFang SC"/>
                <a:cs typeface="Arial"/>
              </a:rPr>
              <a:t>Keep the selected settings and fit all 736 deduplicated records</a:t>
            </a:r>
            <a:endParaRPr lang="en-US" sz="2100"/>
          </a:p>
          <a:p>
            <a:pPr algn="l"/>
            <a:r>
              <a:rPr lang="en-US" sz="2100" b="0">
                <a:solidFill>
                  <a:srgbClr val="173346"/>
                </a:solidFill>
                <a:latin typeface="Arial"/>
                <a:ea typeface="PingFang SC"/>
                <a:cs typeface="Arial"/>
              </a:rPr>
              <a:t>Predict 200 target songs in their original CSV order</a:t>
            </a:r>
            <a:endParaRPr lang="en-US" sz="2100"/>
          </a:p>
        </p:txBody>
      </p:sp>
      <p:sp>
        <p:nvSpPr>
          <p:cNvPr id="8" name="Text 8"/>
          <p:cNvSpPr txBox="1"/>
          <p:nvPr/>
        </p:nvSpPr>
        <p:spPr>
          <a:xfrm>
            <a:off x="609600" y="4762500"/>
            <a:ext cx="10972800" cy="35560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/>
          <a:lstStyle/>
          <a:p>
            <a:pPr algn="l"/>
            <a:r>
              <a:rPr lang="en-US" sz="2100" b="1">
                <a:solidFill>
                  <a:srgbClr val="147D92"/>
                </a:solidFill>
                <a:latin typeface="Arial"/>
                <a:ea typeface="PingFang SC"/>
                <a:cs typeface="Arial"/>
              </a:rPr>
              <a:t>Output</a:t>
            </a:r>
            <a:endParaRPr lang="en-US" sz="2100"/>
          </a:p>
        </p:txBody>
      </p:sp>
      <p:sp>
        <p:nvSpPr>
          <p:cNvPr id="9" name="Text 9"/>
          <p:cNvSpPr txBox="1"/>
          <p:nvPr/>
        </p:nvSpPr>
        <p:spPr>
          <a:xfrm>
            <a:off x="609600" y="5181600"/>
            <a:ext cx="10972800" cy="76200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/>
          <a:lstStyle/>
          <a:p>
            <a:pPr algn="l"/>
            <a:r>
              <a:rPr lang="en-US" sz="2100" b="0">
                <a:solidFill>
                  <a:srgbClr val="173346"/>
                </a:solidFill>
                <a:latin typeface="Arial"/>
                <a:ea typeface="PingFang SC"/>
                <a:cs typeface="Arial"/>
              </a:rPr>
              <a:t>128 likes and 72 dislikes</a:t>
            </a:r>
            <a:endParaRPr lang="en-US" sz="2100"/>
          </a:p>
          <a:p>
            <a:pPr algn="l"/>
            <a:r>
              <a:rPr lang="en-US" sz="2100" b="0">
                <a:solidFill>
                  <a:srgbClr val="173346"/>
                </a:solidFill>
                <a:latin typeface="Arial"/>
                <a:ea typeface="PingFang SC"/>
                <a:cs typeface="Arial"/>
              </a:rPr>
              <a:t>results/submission.txt contains one string of 200 binary digits</a:t>
            </a:r>
            <a:endParaRPr lang="en-US" sz="2100"/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2"/>
          <p:cNvSpPr txBox="1"/>
          <p:nvPr/>
        </p:nvSpPr>
        <p:spPr>
          <a:xfrm>
            <a:off x="609600" y="431800"/>
            <a:ext cx="10972800" cy="88900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/>
          <a:lstStyle/>
          <a:p>
            <a:pPr algn="l"/>
            <a:r>
              <a:rPr lang="en-US" sz="3200" b="1">
                <a:solidFill>
                  <a:srgbClr val="173346"/>
                </a:solidFill>
                <a:latin typeface="Arial"/>
                <a:ea typeface="PingFang SC"/>
                <a:cs typeface="Arial"/>
              </a:rPr>
              <a:t>Conclusions, limitations and AI use</a:t>
            </a:r>
            <a:endParaRPr lang="en-US" sz="3200"/>
          </a:p>
        </p:txBody>
      </p:sp>
      <p:sp>
        <p:nvSpPr>
          <p:cNvPr id="3" name="Text 3"/>
          <p:cNvSpPr txBox="1"/>
          <p:nvPr/>
        </p:nvSpPr>
        <p:spPr>
          <a:xfrm>
            <a:off x="11201400" y="6388100"/>
            <a:ext cx="381000" cy="22860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/>
          <a:lstStyle/>
          <a:p>
            <a:pPr algn="l"/>
            <a:r>
              <a:rPr lang="en-US" sz="1100" b="0">
                <a:solidFill>
                  <a:srgbClr val="52636D"/>
                </a:solidFill>
                <a:latin typeface="Arial"/>
                <a:ea typeface="PingFang SC"/>
                <a:cs typeface="Arial"/>
              </a:rPr>
              <a:t>12</a:t>
            </a:r>
            <a:endParaRPr lang="en-US" sz="1100"/>
          </a:p>
        </p:txBody>
      </p:sp>
      <p:sp>
        <p:nvSpPr>
          <p:cNvPr id="4" name="Text 4"/>
          <p:cNvSpPr txBox="1"/>
          <p:nvPr/>
        </p:nvSpPr>
        <p:spPr>
          <a:xfrm>
            <a:off x="609600" y="1409700"/>
            <a:ext cx="10972800" cy="35560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/>
          <a:lstStyle/>
          <a:p>
            <a:pPr algn="l"/>
            <a:r>
              <a:rPr lang="en-US" sz="2100" b="1">
                <a:solidFill>
                  <a:srgbClr val="147D92"/>
                </a:solidFill>
                <a:latin typeface="Arial"/>
                <a:ea typeface="PingFang SC"/>
                <a:cs typeface="Arial"/>
              </a:rPr>
              <a:t>Conclusion</a:t>
            </a:r>
            <a:endParaRPr lang="en-US" sz="2100"/>
          </a:p>
        </p:txBody>
      </p:sp>
      <p:sp>
        <p:nvSpPr>
          <p:cNvPr id="5" name="Text 5"/>
          <p:cNvSpPr txBox="1"/>
          <p:nvPr/>
        </p:nvSpPr>
        <p:spPr>
          <a:xfrm>
            <a:off x="609600" y="1828800"/>
            <a:ext cx="10972800" cy="71120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/>
          <a:lstStyle/>
          <a:p>
            <a:pPr algn="l"/>
            <a:r>
              <a:rPr lang="en-US" sz="2100" b="0">
                <a:solidFill>
                  <a:srgbClr val="173346"/>
                </a:solidFill>
                <a:latin typeface="Arial"/>
                <a:ea typeface="PingFang SC"/>
                <a:cs typeface="Arial"/>
              </a:rPr>
              <a:t>Random forest achieved the highest mean CV accuracy: 83.33%</a:t>
            </a:r>
            <a:endParaRPr lang="en-US" sz="2100"/>
          </a:p>
          <a:p>
            <a:pPr algn="l"/>
            <a:r>
              <a:rPr lang="en-US" sz="2100" b="0">
                <a:solidFill>
                  <a:srgbClr val="173346"/>
                </a:solidFill>
                <a:latin typeface="Arial"/>
                <a:ea typeface="PingFang SC"/>
                <a:cs typeface="Arial"/>
              </a:rPr>
              <a:t>Holdout accuracy: 81.08%</a:t>
            </a:r>
            <a:endParaRPr lang="en-US" sz="2100"/>
          </a:p>
        </p:txBody>
      </p:sp>
      <p:sp>
        <p:nvSpPr>
          <p:cNvPr id="6" name="Text 6"/>
          <p:cNvSpPr txBox="1"/>
          <p:nvPr/>
        </p:nvSpPr>
        <p:spPr>
          <a:xfrm>
            <a:off x="609600" y="2984500"/>
            <a:ext cx="10972800" cy="35560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/>
          <a:lstStyle/>
          <a:p>
            <a:pPr algn="l"/>
            <a:r>
              <a:rPr lang="en-US" sz="2100" b="1">
                <a:solidFill>
                  <a:srgbClr val="147D92"/>
                </a:solidFill>
                <a:latin typeface="Arial"/>
                <a:ea typeface="PingFang SC"/>
                <a:cs typeface="Arial"/>
              </a:rPr>
              <a:t>Limitations</a:t>
            </a:r>
            <a:endParaRPr lang="en-US" sz="2100"/>
          </a:p>
        </p:txBody>
      </p:sp>
      <p:sp>
        <p:nvSpPr>
          <p:cNvPr id="7" name="Text 7"/>
          <p:cNvSpPr txBox="1"/>
          <p:nvPr/>
        </p:nvSpPr>
        <p:spPr>
          <a:xfrm>
            <a:off x="609600" y="3403600"/>
            <a:ext cx="10972800" cy="71120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/>
          <a:lstStyle/>
          <a:p>
            <a:pPr algn="l"/>
            <a:r>
              <a:rPr lang="en-US" sz="2100" b="0">
                <a:solidFill>
                  <a:srgbClr val="173346"/>
                </a:solidFill>
                <a:latin typeface="Arial"/>
                <a:ea typeface="PingFang SC"/>
                <a:cs typeface="Arial"/>
              </a:rPr>
              <a:t>Small dataset, one holdout split and small gaps between models</a:t>
            </a:r>
            <a:endParaRPr lang="en-US" sz="2100"/>
          </a:p>
          <a:p>
            <a:pPr algn="l"/>
            <a:r>
              <a:rPr lang="en-US" sz="2100" b="0">
                <a:solidFill>
                  <a:srgbClr val="173346"/>
                </a:solidFill>
                <a:latin typeface="Arial"/>
                <a:ea typeface="PingFang SC"/>
                <a:cs typeface="Arial"/>
              </a:rPr>
              <a:t>Artist IDs are unavailable. Target accuracy remains unknown</a:t>
            </a:r>
            <a:endParaRPr lang="en-US" sz="2100"/>
          </a:p>
        </p:txBody>
      </p:sp>
      <p:sp>
        <p:nvSpPr>
          <p:cNvPr id="8" name="Text 8"/>
          <p:cNvSpPr txBox="1"/>
          <p:nvPr/>
        </p:nvSpPr>
        <p:spPr>
          <a:xfrm>
            <a:off x="609600" y="4559300"/>
            <a:ext cx="10972800" cy="35560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/>
          <a:lstStyle/>
          <a:p>
            <a:pPr algn="l"/>
            <a:r>
              <a:rPr lang="en-US" sz="2100" b="1">
                <a:solidFill>
                  <a:srgbClr val="147D92"/>
                </a:solidFill>
                <a:latin typeface="Arial"/>
                <a:ea typeface="PingFang SC"/>
                <a:cs typeface="Arial"/>
              </a:rPr>
              <a:t>AI assistance</a:t>
            </a:r>
            <a:endParaRPr lang="en-US" sz="2100"/>
          </a:p>
        </p:txBody>
      </p:sp>
      <p:sp>
        <p:nvSpPr>
          <p:cNvPr id="9" name="Text 9"/>
          <p:cNvSpPr txBox="1"/>
          <p:nvPr/>
        </p:nvSpPr>
        <p:spPr>
          <a:xfrm>
            <a:off x="609600" y="4978400"/>
            <a:ext cx="10972800" cy="71120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/>
          <a:lstStyle/>
          <a:p>
            <a:pPr algn="l"/>
            <a:r>
              <a:rPr lang="en-US" sz="2100" b="0">
                <a:solidFill>
                  <a:srgbClr val="173346"/>
                </a:solidFill>
                <a:latin typeface="Arial"/>
                <a:ea typeface="PingFang SC"/>
                <a:cs typeface="Arial"/>
              </a:rPr>
              <a:t>I led the experiment design, model selection and result analysis</a:t>
            </a:r>
            <a:endParaRPr lang="en-US" sz="2100"/>
          </a:p>
          <a:p>
            <a:pPr algn="l"/>
            <a:r>
              <a:rPr lang="en-US" sz="2100" b="0">
                <a:solidFill>
                  <a:srgbClr val="173346"/>
                </a:solidFill>
                <a:latin typeface="Arial"/>
                <a:ea typeface="PingFang SC"/>
                <a:cs typeface="Arial"/>
              </a:rPr>
              <a:t>ChatGPT/Codex assisted with the code framework, checks and report drafting</a:t>
            </a:r>
            <a:endParaRPr lang="en-US" sz="210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Music Lab">
  <a:themeElements>
    <a:clrScheme name="Music Lab">
      <a:dk1>
        <a:srgbClr val="173346"/>
      </a:dk1>
      <a:lt1>
        <a:srgbClr val="FFFFFF"/>
      </a:lt1>
      <a:dk2>
        <a:srgbClr val="52636D"/>
      </a:dk2>
      <a:lt2>
        <a:srgbClr val="EDF4F6"/>
      </a:lt2>
      <a:accent1>
        <a:srgbClr val="147D92"/>
      </a:accent1>
      <a:accent2>
        <a:srgbClr val="BD7041"/>
      </a:accent2>
      <a:accent3>
        <a:srgbClr val="3D826C"/>
      </a:accent3>
      <a:accent4>
        <a:srgbClr val="7C6AA4"/>
      </a:accent4>
      <a:accent5>
        <a:srgbClr val="C79532"/>
      </a:accent5>
      <a:accent6>
        <a:srgbClr val="5D8CC0"/>
      </a:accent6>
      <a:hlink>
        <a:srgbClr val="147D92"/>
      </a:hlink>
      <a:folHlink>
        <a:srgbClr val="7C6AA4"/>
      </a:folHlink>
    </a:clrScheme>
    <a:fontScheme name="Arial">
      <a:majorFont>
        <a:latin typeface="Arial"/>
        <a:ea typeface="PingFang SC"/>
        <a:cs typeface="Arial"/>
      </a:majorFont>
      <a:minorFont>
        <a:latin typeface="Arial"/>
        <a:ea typeface="PingFang SC"/>
        <a:cs typeface="Arial"/>
      </a:minorFont>
    </a:fontScheme>
    <a:fmtScheme name="Minimal">
      <a:fillStyleLst>
        <a:solidFill>
          <a:schemeClr val="phClr"/>
        </a:solidFill>
        <a:solidFill>
          <a:schemeClr val="phClr"/>
        </a:solidFill>
        <a:solidFill>
          <a:schemeClr val="phClr"/>
        </a:solidFill>
      </a:fillStyleLst>
      <a:lnStyleLst>
        <a:ln w="12700">
          <a:solidFill>
            <a:schemeClr val="phClr"/>
          </a:solidFill>
          <a:prstDash val="solid"/>
        </a:ln>
        <a:ln w="12700">
          <a:solidFill>
            <a:schemeClr val="phClr"/>
          </a:solidFill>
          <a:prstDash val="solid"/>
        </a:ln>
        <a:ln w="127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/>
        </a:effectStyle>
      </a:effectStyleLst>
      <a:bgFillStyleLst>
        <a:solidFill>
          <a:schemeClr val="phClr"/>
        </a:solidFill>
        <a:solidFill>
          <a:schemeClr val="phClr"/>
        </a:solidFill>
        <a:solidFill>
          <a:schemeClr val="phClr"/>
        </a:solidFill>
      </a:bgFillStyleLst>
    </a:fmtScheme>
  </a:themeElements>
  <a:objectDefaults/>
  <a:extraClrSchemeLst/>
</a:theme>
</file>

<file path=ppt/theme/theme2.xml><?xml version="1.0" encoding="utf-8"?>
<a:theme xmlns:a="http://schemas.openxmlformats.org/drawingml/2006/main" name="Office 主题​​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等线 Light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等线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2</TotalTime>
  <Words>1063</Words>
  <Application>Microsoft Macintosh PowerPoint</Application>
  <PresentationFormat>宽屏</PresentationFormat>
  <Paragraphs>166</Paragraphs>
  <Slides>12</Slides>
  <Notes>12</Notes>
  <HiddenSlides>0</HiddenSlides>
  <MMClips>0</MMClips>
  <ScaleCrop>false</ScaleCrop>
  <HeadingPairs>
    <vt:vector size="6" baseType="variant">
      <vt:variant>
        <vt:lpstr>已用的字体</vt:lpstr>
      </vt:variant>
      <vt:variant>
        <vt:i4>1</vt:i4>
      </vt:variant>
      <vt:variant>
        <vt:lpstr>主题</vt:lpstr>
      </vt:variant>
      <vt:variant>
        <vt:i4>1</vt:i4>
      </vt:variant>
      <vt:variant>
        <vt:lpstr>幻灯片标题</vt:lpstr>
      </vt:variant>
      <vt:variant>
        <vt:i4>12</vt:i4>
      </vt:variant>
    </vt:vector>
  </HeadingPairs>
  <TitlesOfParts>
    <vt:vector size="14" baseType="lpstr">
      <vt:lpstr>Arial</vt:lpstr>
      <vt:lpstr>Music Lab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cp:lastModifiedBy>xinran li</cp:lastModifiedBy>
  <cp:revision>3</cp:revision>
  <dcterms:modified xsi:type="dcterms:W3CDTF">2026-10-04T21:57:49Z</dcterms:modified>
</cp:coreProperties>
</file>