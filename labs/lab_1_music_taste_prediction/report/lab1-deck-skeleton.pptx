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result, then say in words what the rule did: the four ensembles are equivalent, the rule picked the simplest of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initial_exploration: single_feature_plots cropped to speechiness, loudness, acousticness, energy and one discrete column. Mention the 14 duplicate rows dropped before any split.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initial_exploration: the pair gain bars and the energy + speechiness plot. The gain survives equal depth, repeated folds and a shuffled-copy null, which never exceeds +0.02.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METHODS and the SIMPLICITY comments: two columns, what it does, what is tuned. Twelve rows including dummy.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make_preprocessor and the Data cell. Say why key/mode/time_signature are qualitative, what was tried on the spiky four, and that preprocessing is fit inside each fold.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Lift the Decisions markdown cell: accuracy primary because the leaderboard scores it, 5x5 stratified outer splits, grid search inside each outer training part, Nadeau-Bengio corrected errors, the decision rule, screen (2 repeats) versus full (5) and the promotion rule. Have the nested-loop pseudocode ready.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Table of modal hyperparameters from the params column beside this figure, or on a build. logreg C=0.01 on 13/25, svm_linear C=0.01 on 19/25, tree depth 2, bagging leaf 3, rf max_features 0.25.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five-repeat summarize table goes on a build or the next slide: mean ± corrected error, balanced accuracy, AUC.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paired_vs_best and decide: gap, se, p, best-wins. Say the strictness was fixed in advance and what two errors or best-mean would have chosen. Rerun after the SVM top4 / numeric variants get their full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the screen table. Each bullet is one motivation the rubric asks for, with a number.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Learning curves left, permutation heatmap in the text column or on a build. Logistic regression bias limited (lines met), the lone tree variance limited, the forest still climbing at 590 songs. Speechiness is the one feature every method leans on; key, mode and time_signature are zero for 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Refit setting, the submission file, the honest range, and one line on the code: two notebooks, definitions up top, every number regenerable from the seed and the results CSV.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1554480"/>
            <a:ext cx="82296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Deck title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2560320"/>
            <a:ext cx="82296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One line result, then course, name, date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gu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One claim, as a sentence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hasCustomPrompt="1"/>
          </p:nvPr>
        </p:nvSpPr>
        <p:spPr>
          <a:xfrm>
            <a:off x="457200" y="960120"/>
            <a:ext cx="8229600" cy="3383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r>
              <a:rPr lang="en-US" dirty="0">
                <a:solidFill>
                  <a:schemeClr val="tx1"/>
                </a:solidFill>
              </a:rPr>
              <a:t>Drop the figure here</a:t>
            </a:r>
            <a:endParaRPr lang="en-US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4434840"/>
            <a:ext cx="822960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One sentence saying what to see in it</a:t>
            </a:r>
            <a:endParaRPr lang="en-US" sz="1200" dirty="0"/>
          </a:p>
        </p:txBody>
      </p:sp>
      <p:sp>
        <p:nvSpPr>
          <p:cNvPr id="5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gur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One claim, as a sentence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hasCustomPrompt="1"/>
          </p:nvPr>
        </p:nvSpPr>
        <p:spPr>
          <a:xfrm>
            <a:off x="457200" y="960120"/>
            <a:ext cx="5120640" cy="3383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r>
              <a:rPr lang="en-US" dirty="0">
                <a:solidFill>
                  <a:schemeClr val="tx1"/>
                </a:solidFill>
              </a:rPr>
              <a:t>Drop the figure here</a:t>
            </a:r>
            <a:endParaRPr lang="en-US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852160" y="960120"/>
            <a:ext cx="2834640" cy="3383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spcAft>
                <a:spcPts val="800"/>
              </a:spcAft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algn="l"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Three short lines at most</a:t>
            </a:r>
            <a:endParaRPr lang="en-US" sz="14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457200" y="4434840"/>
            <a:ext cx="822960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One sentence saying what to see in it</a:t>
            </a:r>
            <a:endParaRPr lang="en-US" sz="1200" dirty="0"/>
          </a:p>
        </p:txBody>
      </p:sp>
      <p:sp>
        <p:nvSpPr>
          <p:cNvPr id="6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One claim, as a sentence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hasCustomPrompt="1"/>
          </p:nvPr>
        </p:nvSpPr>
        <p:spPr>
          <a:xfrm>
            <a:off x="457200" y="960120"/>
            <a:ext cx="8229600" cy="3383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r>
              <a:rPr lang="en-US" dirty="0">
                <a:solidFill>
                  <a:schemeClr val="tx1"/>
                </a:solidFill>
              </a:rPr>
              <a:t>Table: typeset, right-aligned numbers, the chosen row in the accent</a:t>
            </a:r>
            <a:endParaRPr lang="en-US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4434840"/>
            <a:ext cx="822960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One sentence saying what to see in it</a:t>
            </a:r>
            <a:endParaRPr lang="en-US" sz="1200" dirty="0"/>
          </a:p>
        </p:txBody>
      </p:sp>
      <p:sp>
        <p:nvSpPr>
          <p:cNvPr id="5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One claim, as a sentence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60120"/>
            <a:ext cx="8229600" cy="3383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spcAft>
                <a:spcPts val="1000"/>
              </a:spcAft>
              <a:buNone/>
              <a:defRPr lang="en-US" sz="1600" dirty="0">
                <a:solidFill>
                  <a:schemeClr val="tx1"/>
                </a:solidFill>
              </a:defRPr>
            </a:lvl1pPr>
          </a:lstStyle>
          <a:p>
            <a:pPr algn="l"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Short lines, no sub-bullets</a:t>
            </a:r>
            <a:endParaRPr lang="en-US" sz="1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4434840"/>
            <a:ext cx="822960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One sentence saying what to take from it</a:t>
            </a:r>
            <a:endParaRPr lang="en-US" sz="1200" dirty="0"/>
          </a:p>
        </p:txBody>
      </p:sp>
      <p:sp>
        <p:nvSpPr>
          <p:cNvPr id="5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15544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Predicting which songs Andreas likes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256032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736 songs, 51 variants of 12 methods through one protocol, chosen method: &lt;name&gt; at &lt;acc&gt; ± &lt;se&gt;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FRTN65 Lab 1  ·  Andreas Olsson  ·  October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The data runs along one axis: quiet, acoustic, wordless songs are liked</a:t>
            </a:r>
            <a:endParaRPr lang="en-US" sz="24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457200" y="4434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Densities normalised within class. Liked songs are quiet, acoustic and nearly free of speech; the discrete columns barely separate.</a:t>
            </a:r>
            <a:endParaRPr lang="en-US" sz="1200" dirty="0"/>
          </a:p>
        </p:txBody>
      </p:sp>
      <p:sp>
        <p:nvSpPr>
          <p:cNvPr id="5" name="Text 0"/>
          <p:cNvSpPr/>
          <p:nvPr>
            <p:ph idx="101" hasCustomPrompt="1"/>
          </p:nvPr>
        </p:nvSpPr>
        <p:spPr>
          <a:xfrm>
            <a:off x="457200" y="960120"/>
            <a:ext cx="8229600" cy="3383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Feature pairs carry more than their parts</a:t>
            </a:r>
            <a:endParaRPr lang="en-US" sz="2400" dirty="0"/>
          </a:p>
        </p:txBody>
      </p:sp>
      <p:sp>
        <p:nvSpPr>
          <p:cNvPr id="3" name="Text 0"/>
          <p:cNvSpPr/>
          <p:nvPr>
            <p:ph idx="103" type="body" hasCustomPrompt="1"/>
          </p:nvPr>
        </p:nvSpPr>
        <p:spPr>
          <a:xfrm>
            <a:off x="457200" y="4434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Gain = pair ROC AUC minus the better single, depth-4 trees under cross validation.</a:t>
            </a:r>
            <a:endParaRPr lang="en-US" sz="1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852160" y="960120"/>
            <a:ext cx="2834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energy + speechiness, acousticness + speechiness: about +0.08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small gains sit inside the null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so a model that can bend along pairs should gain</a:t>
            </a:r>
            <a:endParaRPr lang="en-US" sz="1400" dirty="0"/>
          </a:p>
        </p:txBody>
      </p:sp>
      <p:sp>
        <p:nvSpPr>
          <p:cNvPr id="6" name="Text 0"/>
          <p:cNvSpPr/>
          <p:nvPr>
            <p:ph idx="101" hasCustomPrompt="1"/>
          </p:nvPr>
        </p:nvSpPr>
        <p:spPr>
          <a:xfrm>
            <a:off x="457200" y="960120"/>
            <a:ext cx="5120640" cy="3383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(1) Twelve methods, what each does and what is tuned</a:t>
            </a:r>
            <a:endParaRPr lang="en-US" sz="24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457200" y="4434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xgboost is outside the course list, kept as a check on the boosting implementation.</a:t>
            </a:r>
            <a:endParaRPr lang="en-US" sz="1200" dirty="0"/>
          </a:p>
        </p:txBody>
      </p:sp>
      <p:sp>
        <p:nvSpPr>
          <p:cNvPr id="5" name="Text 0"/>
          <p:cNvSpPr/>
          <p:nvPr>
            <p:ph idx="101" hasCustomPrompt="1"/>
          </p:nvPr>
        </p:nvSpPr>
        <p:spPr>
          <a:xfrm>
            <a:off x="457200" y="960120"/>
            <a:ext cx="8229600" cy="3383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(2) How the inputs went in</a:t>
            </a:r>
            <a:endParaRPr lang="en-US" sz="24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457200" y="4434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With the defaults, 28 columns reach the model: 10 scaled numeric, 18 one-hot.</a:t>
            </a:r>
            <a:endParaRPr lang="en-US" sz="12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457200" y="960120"/>
            <a:ext cx="8229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all 13 features; 10 numeric standardised</a:t>
            </a:r>
            <a:endParaRPr lang="en-US" sz="16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key, mode, time_signature one-hot: key 11 is not more than key 0</a:t>
            </a:r>
            <a:endParaRPr lang="en-US" sz="16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spiky four (duration, speechiness, instrumentalness, liveness): log1p, robust and quantile scaling tried as variants</a:t>
            </a:r>
            <a:endParaRPr lang="en-US" sz="16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14 exact duplicates dropped before any split</a:t>
            </a:r>
            <a:endParaRPr lang="en-US" sz="16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scaling and encoding live inside the pipeline, fit on the training part only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(2) The protocol, written before any number</a:t>
            </a:r>
            <a:endParaRPr lang="en-US" sz="24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457200" y="4434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Every method is scored on the same 25 splits, so every comparison is paired.</a:t>
            </a:r>
            <a:endParaRPr lang="en-US" sz="12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457200" y="960120"/>
            <a:ext cx="8229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metric: accuracy (the leaderboard); balanced accuracy and AUC reported beside</a:t>
            </a:r>
            <a:endParaRPr lang="en-US" sz="16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5-fold stratified, repeated 5 times, one seed: 25 paired outer splits</a:t>
            </a:r>
            <a:endParaRPr lang="en-US" sz="16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tuning: grid search inside each outer training part (5 inner folds)</a:t>
            </a:r>
            <a:endParaRPr lang="en-US" sz="16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error bars: std · sqrt(1/k + n_val/n_train), the Nadeau-Bengio correction</a:t>
            </a:r>
            <a:endParaRPr lang="en-US" sz="16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rule: within one corrected error of the best, take the fewest tuned hyperparameters</a:t>
            </a:r>
            <a:endParaRPr lang="en-US" sz="16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screen variants at 2 repeats; promote to 5 only if a variant beats its base by more than the error of the gap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(2) What the searches chose, and why</a:t>
            </a:r>
            <a:endParaRPr lang="en-US" sz="24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457200" y="4434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Linear models want heavy shrinkage (C = 0.01); kNN's validation line is flat; the RBF kernel falls off a cliff at gamma = 1.</a:t>
            </a:r>
            <a:endParaRPr lang="en-US" sz="1200" dirty="0"/>
          </a:p>
        </p:txBody>
      </p:sp>
      <p:pic>
        <p:nvPicPr>
          <p:cNvPr id="5" name="Image 0" descr="effect_of_sweeping_different_hyperparams_for_different_metho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60120"/>
            <a:ext cx="6766560" cy="3383280"/>
          </a:xfrm>
          <a:prstGeom prst="rect">
            <a:avLst/>
          </a:prstGeom>
        </p:spPr>
      </p:pic>
      <p:sp>
        <p:nvSpPr>
          <p:cNvPr id="6" name="Text 0"/>
          <p:cNvSpPr/>
          <p:nvPr>
            <p:ph idx="101" hasCustomPrompt="1"/>
          </p:nvPr>
        </p:nvSpPr>
        <p:spPr>
          <a:xfrm>
            <a:off x="457200" y="960120"/>
            <a:ext cx="8229600" cy="3383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(3) Every method on the same 25 splits</a:t>
            </a:r>
            <a:endParaRPr lang="en-US" sz="24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457200" y="4434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Each box is one method's 25 validation accuracies; from xgboost down to logistic regression the boxes overlap, so the comparison has to be paired.</a:t>
            </a:r>
            <a:endParaRPr lang="en-US" sz="1200" dirty="0"/>
          </a:p>
        </p:txBody>
      </p:sp>
      <p:pic>
        <p:nvPicPr>
          <p:cNvPr id="5" name="Image 0" descr="outer_validation_fold_mean_accuracy_all_varia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60120"/>
            <a:ext cx="4613564" cy="3383280"/>
          </a:xfrm>
          <a:prstGeom prst="rect">
            <a:avLst/>
          </a:prstGeom>
        </p:spPr>
      </p:pic>
      <p:sp>
        <p:nvSpPr>
          <p:cNvPr id="6" name="Text 0"/>
          <p:cNvSpPr/>
          <p:nvPr>
            <p:ph idx="101" hasCustomPrompt="1"/>
          </p:nvPr>
        </p:nvSpPr>
        <p:spPr>
          <a:xfrm>
            <a:off x="457200" y="960120"/>
            <a:ext cx="8229600" cy="3383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(3) Paired against the best, and the rule applied</a:t>
            </a:r>
            <a:endParaRPr lang="en-US" sz="24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457200" y="4434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Inside one corrected error: xgboost, rf, bagging, boosting, knn_top4. Fewest tuned hyperparameters among them: bagging. Best mean alone would pick xgboost.</a:t>
            </a:r>
            <a:endParaRPr lang="en-US" sz="1200" dirty="0"/>
          </a:p>
        </p:txBody>
      </p:sp>
      <p:sp>
        <p:nvSpPr>
          <p:cNvPr id="5" name="Text 0"/>
          <p:cNvSpPr/>
          <p:nvPr>
            <p:ph idx="101" hasCustomPrompt="1"/>
          </p:nvPr>
        </p:nvSpPr>
        <p:spPr>
          <a:xfrm>
            <a:off x="457200" y="960120"/>
            <a:ext cx="8229600" cy="3383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(3) What the variants taught</a:t>
            </a:r>
            <a:endParaRPr lang="en-US" sz="24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457200" y="4434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Screen numbers (2 repeats), named as such.</a:t>
            </a:r>
            <a:endParaRPr lang="en-US" sz="12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457200" y="960120"/>
            <a:ext cx="8229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kNN on the four strong features gains two points over kNN on all 13: the one-hot axes drown the distance</a:t>
            </a:r>
            <a:endParaRPr lang="en-US" sz="16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L1 and elastic net gain about two points over L2; L1 keeps the same few features</a:t>
            </a:r>
            <a:endParaRPr lang="en-US" sz="16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robust scaling costs kNN and the RBF SVM four points: a tiny IQR blows the tails up</a:t>
            </a:r>
            <a:endParaRPr lang="en-US" sz="16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scaling changes nothing for trees: tree_noscale equals tree split for split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(3) Why: bias on the left, variance on the right</a:t>
            </a:r>
            <a:endParaRPr lang="en-US" sz="2400" dirty="0"/>
          </a:p>
        </p:txBody>
      </p:sp>
      <p:sp>
        <p:nvSpPr>
          <p:cNvPr id="3" name="Text 0"/>
          <p:cNvSpPr/>
          <p:nvPr>
            <p:ph idx="103" type="body" hasCustomPrompt="1"/>
          </p:nvPr>
        </p:nvSpPr>
        <p:spPr>
          <a:xfrm>
            <a:off x="457200" y="4434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Training accuracy of the tree family is 1.0 at the defaults because they fit until pure; read the validation line.</a:t>
            </a:r>
            <a:endParaRPr lang="en-US" sz="1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852160" y="960120"/>
            <a:ext cx="2834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logreg: lines have met, bias limited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tree: biggest gap, variance limited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rf: still climbing at 590 songs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every method leans on speechiness first; key, mode, meter are zero</a:t>
            </a:r>
            <a:endParaRPr lang="en-US" sz="1400" dirty="0"/>
          </a:p>
        </p:txBody>
      </p:sp>
      <p:pic>
        <p:nvPicPr>
          <p:cNvPr id="6" name="Image 0" descr="learning_curves_for_different_metho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60120"/>
            <a:ext cx="5120640" cy="2560320"/>
          </a:xfrm>
          <a:prstGeom prst="rect">
            <a:avLst/>
          </a:prstGeom>
        </p:spPr>
      </p:pic>
      <p:sp>
        <p:nvSpPr>
          <p:cNvPr id="7" name="Text 0"/>
          <p:cNvSpPr/>
          <p:nvPr>
            <p:ph idx="101" hasCustomPrompt="1"/>
          </p:nvPr>
        </p:nvSpPr>
        <p:spPr>
          <a:xfrm>
            <a:off x="457200" y="960120"/>
            <a:ext cx="5120640" cy="3383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(4) Conclusion: &lt;chosen method&gt;, refit once, 200 songs predicted</a:t>
            </a:r>
            <a:endParaRPr lang="en-US" sz="24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457200" y="4434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Out-of-fold confusion: the gain over logistic regression is mostly on disliked songs (227 vs 208 right). Expect 0.80 to 0.86 on the 200 songs.</a:t>
            </a:r>
            <a:endParaRPr lang="en-US" sz="1200" dirty="0"/>
          </a:p>
        </p:txBody>
      </p:sp>
      <p:pic>
        <p:nvPicPr>
          <p:cNvPr id="5" name="Image 0" descr="oof_roc_and_confusion_logreg_vs_b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60120"/>
            <a:ext cx="8229600" cy="2468880"/>
          </a:xfrm>
          <a:prstGeom prst="rect">
            <a:avLst/>
          </a:prstGeom>
        </p:spPr>
      </p:pic>
      <p:sp>
        <p:nvSpPr>
          <p:cNvPr id="6" name="Text 0"/>
          <p:cNvSpPr/>
          <p:nvPr>
            <p:ph idx="101" hasCustomPrompt="1"/>
          </p:nvPr>
        </p:nvSpPr>
        <p:spPr>
          <a:xfrm>
            <a:off x="457200" y="960120"/>
            <a:ext cx="8229600" cy="3383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ab1Plain">
  <a:themeElements>
    <a:clrScheme name="Lab1Plain">
      <a:dk1>
        <a:srgbClr val="1A1A1A"/>
      </a:dk1>
      <a:lt1>
        <a:srgbClr val="FFFFFF"/>
      </a:lt1>
      <a:dk2>
        <a:srgbClr val="5A5A5A"/>
      </a:dk2>
      <a:lt2>
        <a:srgbClr val="F2F2F2"/>
      </a:lt2>
      <a:accent1>
        <a:srgbClr val="4C72B0"/>
      </a:accent1>
      <a:accent2>
        <a:srgbClr val="DD8452"/>
      </a:accent2>
      <a:accent3>
        <a:srgbClr val="8C8C8C"/>
      </a:accent3>
      <a:accent4>
        <a:srgbClr val="C44E52"/>
      </a:accent4>
      <a:accent5>
        <a:srgbClr val="55A868"/>
      </a:accent5>
      <a:accent6>
        <a:srgbClr val="4C72B0"/>
      </a:accent6>
      <a:hlink>
        <a:srgbClr val="4C72B0"/>
      </a:hlink>
      <a:folHlink>
        <a:srgbClr val="5A5A5A"/>
      </a:folHlink>
    </a:clrScheme>
    <a:fontScheme name="Lab1Plain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FRTN65 Lab 1, music taste prediction</dc:title>
  <dc:subject>PptxGenJS Presentation</dc:subject>
  <dc:creator>Andreas Olsson</dc:creator>
  <cp:lastModifiedBy>Andreas Olsson</cp:lastModifiedBy>
  <cp:revision>1</cp:revision>
  <dcterms:created xsi:type="dcterms:W3CDTF">2026-10-04T10:02:47Z</dcterms:created>
  <dcterms:modified xsi:type="dcterms:W3CDTF">2026-10-04T10:02:47Z</dcterms:modified>
</cp:coreProperties>
</file>