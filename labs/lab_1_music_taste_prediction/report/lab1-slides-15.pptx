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version: four tree ensembles tie at 0.83, the rule I wrote first picks bagging as the simplest of them, I handed in the forest on the numerical features for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lab in four lines. The override (rf_numeric instead of bagging) is said as an override, slide 13 has the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duplicates matter: the same song in both the training and the validation part of a split makes the score look better than it is. The 0.60 floor is what every number is measured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Densities are normalised per class, so the 60/40 does not read as separation. The spike plus tail shape is why robust, quantile and log scaling became variants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Spearman because of the tails: ranks instead of values. Correlation is pairwise and monotone, it cannot see interactions, which is why the tree screen on the next slide exists. Also why a heavily regularised line does well: the main axis is linear and L2 shares the weight over the three correlated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depth for singles and pairs. I also ran it with repeated folds and a shuffled copy of each feature as a null: the top gains survive, the null never gets above about +0.02, so the small gains at the bottom of the bar chart are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point (2): which inputs, qualitative or quantitative, what preprocessing. The pipeline is the whole point: nothing is fit on a validation fold,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point (1). xgboost is outside the course list, kept as a check on the boosting implementation. Tuned = what the inner grid search picks per split; the count is also what simplicity means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(2) and (3), the slide the examiner will ask about. Nested loop: for each of 5 outer folds, grid search with 5 inner folds on the outer training part, refit the best, score once on the outer validation fold. Repeated 5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Simplicity = fewest tuned hyperparameters, not fewest parameters. Parameter count measures capacity and misleads for ensembles. The order for ties is a stated preference, and here it agrees with the tuned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(3). Mean over the 25 outer splits, corrected standard error. Balanced accuracy and ROC AUC are there to read, not to decide on. Dummy: 0.602.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split difference to xgboost, corrected error on the differences. Seven candidates inside one error; bagging tunes one hyperparameter, the others two or three. Two errors would let logreg_elastic in, and the rule would take it (one tuned, and a line comes first in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as an override. Under the rule: bagging. For the competition: the forest without the three columns no model uses. Both strings are in the zip. If asked why not xgboost: not a course method, and not better than the forest by anything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on held-out folds: shuffle one column, see how much accuracy drops. The bottom three rows are the evidence for rf_numeric.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(4). Then the disclosure, said plainly. Zip: both notebooks executed, modelling_results.csv, figures/, both submission strings, a short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400" dirty="0">
                <a:solidFill>
                  <a:srgbClr val="1A1A1A"/>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o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680960" cy="1097280"/>
          </a:xfrm>
          <a:prstGeom prst="rect">
            <a:avLst/>
          </a:prstGeom>
          <a:noFill/>
          <a:ln/>
        </p:spPr>
        <p:txBody>
          <a:bodyPr wrap="square" rtlCol="0"/>
          <a:lstStyle>
            <a:lvl1pPr algn="l" indent="0" marL="0">
              <a:buNone/>
              <a:defRPr lang="en-US" sz="3200" dirty="0">
                <a:solidFill>
                  <a:srgbClr val="1A1A1A"/>
                </a:solidFill>
              </a:defRPr>
            </a:lvl1pPr>
          </a:lstStyle>
          <a:p>
            <a:pPr algn="l" indent="0" marL="0">
              <a:buNone/>
            </a:pPr>
            <a:endParaRPr lang="en-US" sz="3200" dirty="0"/>
          </a:p>
        </p:txBody>
      </p:sp>
      <p:sp>
        <p:nvSpPr>
          <p:cNvPr id="3" name="Text 0"/>
          <p:cNvSpPr/>
          <p:nvPr>
            <p:ph idx="101" type="body" hasCustomPrompt="1"/>
          </p:nvPr>
        </p:nvSpPr>
        <p:spPr>
          <a:xfrm>
            <a:off x="731520" y="2788920"/>
            <a:ext cx="7680960" cy="548640"/>
          </a:xfrm>
          <a:prstGeom prst="rect">
            <a:avLst/>
          </a:prstGeom>
          <a:noFill/>
          <a:ln/>
        </p:spPr>
        <p:txBody>
          <a:bodyPr wrap="square" rtlCol="0"/>
          <a:lstStyle>
            <a:lvl1pPr algn="l" indent="0" marL="0">
              <a:buNone/>
              <a:defRPr lang="en-US" sz="1600" dirty="0">
                <a:solidFill>
                  <a:srgbClr val="5A5A5A"/>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680960" cy="1097280"/>
          </a:xfrm>
          <a:prstGeom prst="rect">
            <a:avLst/>
          </a:prstGeom>
          <a:noFill/>
          <a:ln/>
        </p:spPr>
        <p:txBody>
          <a:bodyPr wrap="square" lIns="0" tIns="0" rIns="0" bIns="0" rtlCol="0" anchor="b"/>
          <a:lstStyle/>
          <a:p>
            <a:pPr algn="l" indent="0" marL="0">
              <a:buNone/>
            </a:pPr>
            <a:r>
              <a:rPr lang="en-US" sz="3200" dirty="0">
                <a:solidFill>
                  <a:srgbClr val="1A1A1A"/>
                </a:solidFill>
              </a:rPr>
              <a:t>Predicting which songs Andreas likes</a:t>
            </a:r>
            <a:endParaRPr lang="en-US" sz="3200" dirty="0"/>
          </a:p>
        </p:txBody>
      </p:sp>
      <p:sp>
        <p:nvSpPr>
          <p:cNvPr id="3" name="Text 0"/>
          <p:cNvSpPr/>
          <p:nvPr>
            <p:ph idx="101" type="body" hasCustomPrompt="1"/>
          </p:nvPr>
        </p:nvSpPr>
        <p:spPr>
          <a:xfrm>
            <a:off x="731520" y="2788920"/>
            <a:ext cx="7680960" cy="548640"/>
          </a:xfrm>
          <a:prstGeom prst="rect">
            <a:avLst/>
          </a:prstGeom>
          <a:noFill/>
          <a:ln/>
        </p:spPr>
        <p:txBody>
          <a:bodyPr wrap="square" lIns="0" tIns="0" rIns="0" bIns="0" rtlCol="0" anchor="t"/>
          <a:lstStyle/>
          <a:p>
            <a:pPr algn="l" indent="0" marL="0">
              <a:buNone/>
            </a:pPr>
            <a:r>
              <a:rPr lang="en-US" sz="1600" dirty="0">
                <a:solidFill>
                  <a:srgbClr val="5A5A5A"/>
                </a:solidFill>
              </a:rPr>
              <a:t>FRTN65 Lab 1, Andreas Olsson,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In short</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Data: 736 songs after dropping 14 duplicates, 13 features (10 numerical, 3 categorical), 60% liked</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Modelling: 12 methods tried in 51 variants, all through one evaluation protocol</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Result: four tree ensembles (xgboost, random forest, bagging, boosting) are indistinguishable on this data, around 0.83 accuracy</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rule I set up before seeing any numbers picks bagging, the simplest of the equally good ones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Handed in: random forest on the 10 numerical features, 0.833 ± 0.018 cross-validated accuracy. Why not bagging is on slide 13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data</a:t>
            </a:r>
            <a:endParaRPr lang="en-US" sz="2400" dirty="0"/>
          </a:p>
        </p:txBody>
      </p:sp>
      <p:pic>
        <p:nvPicPr>
          <p:cNvPr id="4" name="Image 0" descr="fig/class_balance.png">    </p:cNvPr>
          <p:cNvPicPr>
            <a:picLocks noChangeAspect="1"/>
          </p:cNvPicPr>
          <p:nvPr/>
        </p:nvPicPr>
        <p:blipFill>
          <a:blip r:embed="rId1"/>
          <a:stretch>
            <a:fillRect/>
          </a:stretch>
        </p:blipFill>
        <p:spPr>
          <a:xfrm>
            <a:off x="457200" y="960120"/>
            <a:ext cx="4023360" cy="3046951"/>
          </a:xfrm>
          <a:prstGeom prst="rect">
            <a:avLst/>
          </a:prstGeom>
        </p:spPr>
      </p:pic>
      <p:sp>
        <p:nvSpPr>
          <p:cNvPr id="5" name="Text 1"/>
          <p:cNvSpPr/>
          <p:nvPr/>
        </p:nvSpPr>
        <p:spPr>
          <a:xfrm>
            <a:off x="457200" y="4114800"/>
            <a:ext cx="4023360" cy="36576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Class balance in the raw file, 0 = dislike, 1 = like.</a:t>
            </a:r>
            <a:endParaRPr lang="en-US" sz="1200" dirty="0"/>
          </a:p>
        </p:txBody>
      </p:sp>
      <p:sp>
        <p:nvSpPr>
          <p:cNvPr id="6" name="Text 2"/>
          <p:cNvSpPr/>
          <p:nvPr/>
        </p:nvSpPr>
        <p:spPr>
          <a:xfrm>
            <a:off x="4846320" y="960120"/>
            <a:ext cx="3840480" cy="35661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750 rows, 14 exact duplicates dropped, 736 songs left. No missing values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13 Spotify audio features per song</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10 numerical: acousticness, danceability, duration, energy, instrumentalness, liveness, loudness, speechiness, tempo, valence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3 categorical: key, mode, time_signature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443 liked, 293 disliked. Always guessing "like" gives 0.60 accuracy, so that is the floor every number is measured from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data, the four features that matter</a:t>
            </a:r>
            <a:endParaRPr lang="en-US" sz="2400" dirty="0"/>
          </a:p>
        </p:txBody>
      </p:sp>
      <p:pic>
        <p:nvPicPr>
          <p:cNvPr id="4" name="Image 0" descr="fig/ov_speechiness.png">    </p:cNvPr>
          <p:cNvPicPr>
            <a:picLocks noChangeAspect="1"/>
          </p:cNvPicPr>
          <p:nvPr/>
        </p:nvPicPr>
        <p:blipFill>
          <a:blip r:embed="rId1"/>
          <a:stretch>
            <a:fillRect/>
          </a:stretch>
        </p:blipFill>
        <p:spPr>
          <a:xfrm>
            <a:off x="532422" y="960120"/>
            <a:ext cx="2318436" cy="1737360"/>
          </a:xfrm>
          <a:prstGeom prst="rect">
            <a:avLst/>
          </a:prstGeom>
        </p:spPr>
      </p:pic>
      <p:pic>
        <p:nvPicPr>
          <p:cNvPr id="5" name="Image 1" descr="fig/ov_loudness.png">    </p:cNvPr>
          <p:cNvPicPr>
            <a:picLocks noChangeAspect="1"/>
          </p:cNvPicPr>
          <p:nvPr/>
        </p:nvPicPr>
        <p:blipFill>
          <a:blip r:embed="rId2"/>
          <a:stretch>
            <a:fillRect/>
          </a:stretch>
        </p:blipFill>
        <p:spPr>
          <a:xfrm>
            <a:off x="3092742" y="960120"/>
            <a:ext cx="2318436" cy="1737360"/>
          </a:xfrm>
          <a:prstGeom prst="rect">
            <a:avLst/>
          </a:prstGeom>
        </p:spPr>
      </p:pic>
      <p:pic>
        <p:nvPicPr>
          <p:cNvPr id="6" name="Image 2" descr="fig/ov_acousticness.png">    </p:cNvPr>
          <p:cNvPicPr>
            <a:picLocks noChangeAspect="1"/>
          </p:cNvPicPr>
          <p:nvPr/>
        </p:nvPicPr>
        <p:blipFill>
          <a:blip r:embed="rId3"/>
          <a:stretch>
            <a:fillRect/>
          </a:stretch>
        </p:blipFill>
        <p:spPr>
          <a:xfrm>
            <a:off x="470792" y="2788920"/>
            <a:ext cx="2441695" cy="1737360"/>
          </a:xfrm>
          <a:prstGeom prst="rect">
            <a:avLst/>
          </a:prstGeom>
        </p:spPr>
      </p:pic>
      <p:pic>
        <p:nvPicPr>
          <p:cNvPr id="7" name="Image 3" descr="fig/ov_energy.png">    </p:cNvPr>
          <p:cNvPicPr>
            <a:picLocks noChangeAspect="1"/>
          </p:cNvPicPr>
          <p:nvPr/>
        </p:nvPicPr>
        <p:blipFill>
          <a:blip r:embed="rId4"/>
          <a:stretch>
            <a:fillRect/>
          </a:stretch>
        </p:blipFill>
        <p:spPr>
          <a:xfrm>
            <a:off x="3092742" y="2788920"/>
            <a:ext cx="2318436" cy="1737360"/>
          </a:xfrm>
          <a:prstGeom prst="rect">
            <a:avLst/>
          </a:prstGeom>
        </p:spPr>
      </p:pic>
      <p:sp>
        <p:nvSpPr>
          <p:cNvPr id="8" name="Text 1"/>
          <p:cNvSpPr/>
          <p:nvPr/>
        </p:nvSpPr>
        <p:spPr>
          <a:xfrm>
            <a:off x="5760720" y="960120"/>
            <a:ext cx="2926080" cy="3566160"/>
          </a:xfrm>
          <a:prstGeom prst="rect">
            <a:avLst/>
          </a:prstGeom>
          <a:noFill/>
          <a:ln/>
        </p:spPr>
        <p:txBody>
          <a:bodyPr wrap="square" lIns="0" tIns="0" rIns="0" bIns="0" rtlCol="0" anchor="t"/>
          <a:lstStyle/>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Liked songs are quiet, acoustic and have almost no speech. Disliked songs are loud, energetic and speechy</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The densities are per class, so the 60/40 does not show up as separation here</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speechiness: the liked songs are one spike near zero, the disliked ones spread out into a tail. duration, instrumentalness and liveness have the same spike plus tail shape, which is why scaling becomes a question later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Feature correlations</a:t>
            </a:r>
            <a:endParaRPr lang="en-US" sz="2400" dirty="0"/>
          </a:p>
        </p:txBody>
      </p:sp>
      <p:pic>
        <p:nvPicPr>
          <p:cNvPr id="4" name="Image 0" descr="fig/feature_correlations.png">    </p:cNvPr>
          <p:cNvPicPr>
            <a:picLocks noChangeAspect="1"/>
          </p:cNvPicPr>
          <p:nvPr/>
        </p:nvPicPr>
        <p:blipFill>
          <a:blip r:embed="rId1"/>
          <a:stretch>
            <a:fillRect/>
          </a:stretch>
        </p:blipFill>
        <p:spPr>
          <a:xfrm>
            <a:off x="457200" y="960120"/>
            <a:ext cx="3546103" cy="3566160"/>
          </a:xfrm>
          <a:prstGeom prst="rect">
            <a:avLst/>
          </a:prstGeom>
        </p:spPr>
      </p:pic>
      <p:sp>
        <p:nvSpPr>
          <p:cNvPr id="5" name="Text 1"/>
          <p:cNvSpPr/>
          <p:nvPr/>
        </p:nvSpPr>
        <p:spPr>
          <a:xfrm>
            <a:off x="4389120" y="960120"/>
            <a:ext cx="4297680" cy="3566160"/>
          </a:xfrm>
          <a:prstGeom prst="rect">
            <a:avLst/>
          </a:prstGeom>
          <a:noFill/>
          <a:ln/>
        </p:spPr>
        <p:txBody>
          <a:bodyPr wrap="square" lIns="0" tIns="0" rIns="0" bIns="0" rtlCol="0" anchor="t"/>
          <a:lstStyle/>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Spearman (rank) correlation, bc of the tails. Clustered so the blocks show</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energy, loudness and acousticness are one block (energy to loudness 0.85, energy to acousticness −0.74): three columns, one direction</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speechiness has the strongest single relation to the label (−0.52) and sits outside that block</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tempo, liveness, duration, instrumentalness: near zero against everything</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Correlation only sees pairwise monotone relations, not interactions, so the next slide asks a decision tree instead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Feature screen with decision trees</a:t>
            </a:r>
            <a:endParaRPr lang="en-US" sz="2400" dirty="0"/>
          </a:p>
        </p:txBody>
      </p:sp>
      <p:pic>
        <p:nvPicPr>
          <p:cNvPr id="4" name="Image 0" descr="fig/decision_tree_roc_auc_single.png">    </p:cNvPr>
          <p:cNvPicPr>
            <a:picLocks noChangeAspect="1"/>
          </p:cNvPicPr>
          <p:nvPr/>
        </p:nvPicPr>
        <p:blipFill>
          <a:blip r:embed="rId1"/>
          <a:stretch>
            <a:fillRect/>
          </a:stretch>
        </p:blipFill>
        <p:spPr>
          <a:xfrm>
            <a:off x="457200" y="960120"/>
            <a:ext cx="4023360" cy="2664898"/>
          </a:xfrm>
          <a:prstGeom prst="rect">
            <a:avLst/>
          </a:prstGeom>
        </p:spPr>
      </p:pic>
      <p:pic>
        <p:nvPicPr>
          <p:cNvPr id="5" name="Image 1" descr="fig/decision_tree_roc_auc_pair_gain.png">    </p:cNvPr>
          <p:cNvPicPr>
            <a:picLocks noChangeAspect="1"/>
          </p:cNvPicPr>
          <p:nvPr/>
        </p:nvPicPr>
        <p:blipFill>
          <a:blip r:embed="rId2"/>
          <a:stretch>
            <a:fillRect/>
          </a:stretch>
        </p:blipFill>
        <p:spPr>
          <a:xfrm>
            <a:off x="4663440" y="960120"/>
            <a:ext cx="4023360" cy="2418212"/>
          </a:xfrm>
          <a:prstGeom prst="rect">
            <a:avLst/>
          </a:prstGeom>
        </p:spPr>
      </p:pic>
      <p:sp>
        <p:nvSpPr>
          <p:cNvPr id="6" name="Text 1"/>
          <p:cNvSpPr/>
          <p:nvPr/>
        </p:nvSpPr>
        <p:spPr>
          <a:xfrm>
            <a:off x="457200" y="3749040"/>
            <a:ext cx="8229600" cy="77724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A depth-limited decision tree, 5-fold cross validation, ROC AUC, on each feature alone (left) and on each pair (right). Gain = pair minus the better of its two singles. Every single feature is above 0.5, and every big pair gain has speechiness in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Preprocessing</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All 13 features go in by default: the 10 numerical ones standardised (z-score), the 3 categorical ones one-hot. 28 columns reach the model</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Scaling only matters for the methods that measure distances or penalise coefficients (knn, svm, logreg, lda, qda). Trees do not care, so they get the raw columns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Variants on top of that: robust and quantile scaling, log1p on the spiky four, rare levels grouped, categoricals dropped, only the four strong features, pairwise products of the numerical ones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All of it lives inside the sklearn Pipeline, so scaler and encoder are fit on the training part of each fold only, never on the validation part (important)</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test file is read once, at the very end, by the model that was handed 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methods</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4480560"/>
                <a:gridCol w="2560320"/>
              </a:tblGrid>
              <a:tr h="23774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what it is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tuned by the grid search</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dummy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always answers "like", the floor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nothing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one linear boundary, L2 penalty on the coefficients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linear too, gaussian classes with one shared covariance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nothing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qda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 covariance per class, so a quadratic boundary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reg_param</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knn</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vote among the k closest songs in the scaled space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 weights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tree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one tree of threshold splits, readable, high variance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max_depth, 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svm_linear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like logreg but hinge loss, maximises the margin</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kernel trick, a nonlinear boundary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 gamma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bagging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300 trees on bootstrap samples, averaged</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bagging plus a random feature subset at every split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max_features, 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shallow trees in sequence, each fixing the last ones' errors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depth, iterations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adaboost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 with stumps and exponential loss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n trees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xgboost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gradient boosting again, outside the course list, a check</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depth, min child weight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evaluation protocol</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Metric: accuracy, bc that is what the leaderboard measures. Balanced accuracy and ROC AUC are reported beside it but never decided on</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Splits: 5-fold stratified cross validation, repeated 5 times with one seed, so 25 outer splits. Every method sees exactly the same 25, so every comparison is paired</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Tuning: grid search with 5 inner folds inside the outer training part only. The validation fold never sees the search (nested cross validation)</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Uncertainty: the 25 splits share most of their songs, so std / √25 is too small. I use the Nadeau-Bengio corrected standard error, std · √(1/25 + n_val / n_train), on the scores and on the paired differences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Deciding between equally good methods</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Candidates: every variant within one corrected standard error of the best (the error of the paired gap, not of the means)</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Among the candidates: the one with the fewest tuned hyperparameters. Ties by an order fixed in advance: a line &lt; a density model &lt; a distance model &lt; one tree &lt; a kernel &lt; an ensemble of trees</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Why fewest tuned and not fewest parameters: among methods the data cannot tell apart, I prefer the one whose score had the fewest chances to look good by search. Parameter count measures capacity, and for ensembles it is a bad guide (more trees do not overfit more)</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The band (one error) and the rule were written down before any number came out. slide 12 shows what two errors, or best mean alone, would have picked instead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Results, 5 repeats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103120"/>
                <a:gridCol w="2103120"/>
                <a:gridCol w="1554480"/>
                <a:gridCol w="1280160"/>
                <a:gridCol w="1188720"/>
              </a:tblGrid>
              <a:tr h="170078">
                <a:tc>
                  <a:txBody>
                    <a:bodyPr/>
                    <a:lstStyle/>
                    <a:p>
                      <a:pPr algn="l" indent="0" marL="0">
                        <a:buNone/>
                      </a:pPr>
                      <a:r>
                        <a:rPr lang="en-US" sz="950" b="1" dirty="0">
                          <a:solidFill>
                            <a:srgbClr val="1A1A1A"/>
                          </a:solidFill>
                          <a:latin typeface="Arial" pitchFamily="34" charset="0"/>
                          <a:ea typeface="Arial" pitchFamily="34" charset="-122"/>
                          <a:cs typeface="Arial" pitchFamily="34" charset="-120"/>
                        </a:rPr>
                        <a:t>variant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accuracy ± corrected error</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balanced accuracy</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ROC AUC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tuned</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xgboost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0.834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b="1" dirty="0">
                          <a:solidFill>
                            <a:srgbClr val="4C72B0"/>
                          </a:solidFill>
                          <a:latin typeface="Arial" pitchFamily="34" charset="0"/>
                          <a:ea typeface="Arial" pitchFamily="34" charset="-122"/>
                          <a:cs typeface="Arial" pitchFamily="34" charset="-120"/>
                        </a:rPr>
                        <a:t>rf_numeric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0.833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0.825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0.912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rf</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0.833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0.911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b="1" dirty="0">
                          <a:solidFill>
                            <a:srgbClr val="1A1A1A"/>
                          </a:solidFill>
                          <a:latin typeface="Arial" pitchFamily="34" charset="0"/>
                          <a:ea typeface="Arial" pitchFamily="34" charset="-122"/>
                          <a:cs typeface="Arial" pitchFamily="34" charset="-120"/>
                        </a:rPr>
                        <a:t>bagging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0.828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0.819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0.905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boosting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0.826 ± 0.015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0.902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svm_rbf_top4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knn_top4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 ± 0.015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svm_rbf_numeric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0.821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logreg_elastic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0.817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svm_linear</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0.813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adaboost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0.809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0.890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logreg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0.807 ± 0.019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knn</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0.802 ± 0.012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0.776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tree</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0.800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0.845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lda</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0.795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qda</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0.783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1"/>
          <p:cNvSpPr/>
          <p:nvPr/>
        </p:nvSpPr>
        <p:spPr>
          <a:xfrm>
            <a:off x="457200" y="4315968"/>
            <a:ext cx="8229600" cy="27432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Mean over the 25 outer splits ± Nadeau-Bengio corrected standard error. Bold: what the rule picks. Blue: what was handed in. dummy (always "like"): 0.602.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Paired against the best, and the rule applied</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103120"/>
                <a:gridCol w="1554480"/>
                <a:gridCol w="1554480"/>
                <a:gridCol w="1508760"/>
                <a:gridCol w="1508760"/>
              </a:tblGrid>
              <a:tr h="21488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variant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gap to xgboost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corrected error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within 1 error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within 2 errors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214884">
                <a:tc>
                  <a:txBody>
                    <a:bodyPr/>
                    <a:lstStyle/>
                    <a:p>
                      <a:pPr algn="l" indent="0" marL="0">
                        <a:buNone/>
                      </a:pPr>
                      <a:r>
                        <a:rPr lang="en-US" sz="1100" b="1" dirty="0">
                          <a:solidFill>
                            <a:srgbClr val="4C72B0"/>
                          </a:solidFill>
                          <a:latin typeface="Arial" pitchFamily="34" charset="0"/>
                          <a:ea typeface="Arial" pitchFamily="34" charset="-122"/>
                          <a:cs typeface="Arial" pitchFamily="34" charset="-120"/>
                        </a:rPr>
                        <a:t>rf_numeric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4C72B0"/>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4C72B0"/>
                          </a:solidFill>
                          <a:latin typeface="Arial" pitchFamily="34" charset="0"/>
                          <a:ea typeface="Arial" pitchFamily="34" charset="-122"/>
                          <a:cs typeface="Arial" pitchFamily="34" charset="-120"/>
                        </a:rPr>
                        <a:t>0.007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4C72B0"/>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4C72B0"/>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bagging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−0.006</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0.008</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−0.008</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0.009</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svm_rbf_top4</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knn_top4</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0.016</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svm_rbf_numeric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logreg_elastic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svm_linear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0.012</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−0.039</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1"/>
          <p:cNvSpPr/>
          <p:nvPr/>
        </p:nvSpPr>
        <p:spPr>
          <a:xfrm>
            <a:off x="457200" y="3931920"/>
            <a:ext cx="8229600" cy="59436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The rule (one error, fewest tuned hyperparameters) picks bagging: seven candidates, bagging tunes one hyperparameter. At two errors logreg_elastic joins and the rule would pick it instead. Best mean alone would pick xgboost.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Why I handed in rf_numeric and not bagging</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Under the rule: bagging. That string is submission_best_choice.txt</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leaderboard counts accuracy only, so for the competition I took the highest expected score among the methods the data cannot tell apart, and gambled</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rf_numeric is the forest without key, mode and time_signature. Same mean as the full forest (gap +0.000 ± 0.007 on the screen, 0.833 for both at 5 repeats) and the best balanced accuracy and ROC AUC of all the course methods (0.825, 0.912)</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Dropping the three categorical columns costs nothing the data can detect, and every diagnostic rates them at zero (slide 14)</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Not xgboost: outside the course list, and not better than the forest by anything measurable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two strings differ on 10 of the 200 test songs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What every method leans on</a:t>
            </a:r>
            <a:endParaRPr lang="en-US" sz="2400" dirty="0"/>
          </a:p>
        </p:txBody>
      </p:sp>
      <p:pic>
        <p:nvPicPr>
          <p:cNvPr id="4" name="Image 0" descr="fig/permutation_importances_across_different_methods.png">    </p:cNvPr>
          <p:cNvPicPr>
            <a:picLocks noChangeAspect="1"/>
          </p:cNvPicPr>
          <p:nvPr/>
        </p:nvPicPr>
        <p:blipFill>
          <a:blip r:embed="rId1"/>
          <a:stretch>
            <a:fillRect/>
          </a:stretch>
        </p:blipFill>
        <p:spPr>
          <a:xfrm>
            <a:off x="457200" y="960120"/>
            <a:ext cx="5120640" cy="3205463"/>
          </a:xfrm>
          <a:prstGeom prst="rect">
            <a:avLst/>
          </a:prstGeom>
        </p:spPr>
      </p:pic>
      <p:sp>
        <p:nvSpPr>
          <p:cNvPr id="5" name="Text 1"/>
          <p:cNvSpPr/>
          <p:nvPr/>
        </p:nvSpPr>
        <p:spPr>
          <a:xfrm>
            <a:off x="5760720" y="960120"/>
            <a:ext cx="2926080" cy="3566160"/>
          </a:xfrm>
          <a:prstGeom prst="rect">
            <a:avLst/>
          </a:prstGeom>
          <a:noFill/>
          <a:ln/>
        </p:spPr>
        <p:txBody>
          <a:bodyPr wrap="square" lIns="0" tIns="0" rIns="0" bIns="0" rtlCol="0" anchor="t"/>
          <a:lstStyle/>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Permutation importance: the drop in held-out accuracy when one feature is shuffled, per method</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speechiness is the one feature every method leans on (0.09 to 0.11), then acousticness and loudness</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key, mode and time_signature are zero for every method. This is the evidence for dropping them in rf_numeric</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knn and boosting also use danceability a bit. Nobody uses tempo, valence or liveness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Conclusions</a:t>
            </a:r>
            <a:endParaRPr lang="en-US" sz="2400" dirty="0"/>
          </a:p>
        </p:txBody>
      </p:sp>
      <p:sp>
        <p:nvSpPr>
          <p:cNvPr id="4" name="Text 1"/>
          <p:cNvSpPr/>
          <p:nvPr/>
        </p:nvSpPr>
        <p:spPr>
          <a:xfrm>
            <a:off x="457200" y="960120"/>
            <a:ext cx="8229600" cy="274320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Four tree ensembles tie at 0.83 and nothing beats them. By the rule the simplest of them, bagging, wins. For the competition, the forest on the numerical features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data has one strong axis (loud and energetic against quiet and acoustic) plus speechiness. A heavily regularised line already gets 0.81, pairs and trees buy the last two points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Scaling only matters where distances or penalties are, and the wrong scaler costs four points. The three categorical columns carry nothing</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Pairing the splits and correcting the standard error is what made "equally good" a statement instead of a feeling</a:t>
            </a:r>
            <a:endParaRPr lang="en-US" sz="1400" dirty="0"/>
          </a:p>
        </p:txBody>
      </p:sp>
      <p:sp>
        <p:nvSpPr>
          <p:cNvPr id="5" name="Text 2"/>
          <p:cNvSpPr/>
          <p:nvPr/>
        </p:nvSpPr>
        <p:spPr>
          <a:xfrm>
            <a:off x="457200" y="3840480"/>
            <a:ext cx="8229600" cy="73152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AI (Claude) was used to understand how professional ML projects structure the explore, protocol and compare steps, for help with some of the plotting code, and for the paired comparison logic (corrected standard error, decision rule). The exploration, the modelling notebook, the variant choices, the runs and the conclusions are my own.</a:t>
            </a:r>
            <a:endParaRPr lang="en-US" sz="1100" dirty="0"/>
          </a:p>
        </p:txBody>
      </p:sp>
    </p:spTree>
  </p:cSld>
  <p:clrMapOvr>
    <a:masterClrMapping/>
  </p:clrMapOvr>
</p:sld>
</file>

<file path=ppt/theme/theme1.xml><?xml version="1.0" encoding="utf-8"?>
<a:theme xmlns:a="http://schemas.openxmlformats.org/drawingml/2006/main" name="Lab1Plain">
  <a:themeElements>
    <a:clrScheme name="Lab1Plain">
      <a:dk1>
        <a:srgbClr val="1A1A1A"/>
      </a:dk1>
      <a:lt1>
        <a:srgbClr val="FFFFFF"/>
      </a:lt1>
      <a:dk2>
        <a:srgbClr val="5A5A5A"/>
      </a:dk2>
      <a:lt2>
        <a:srgbClr val="F2F2F2"/>
      </a:lt2>
      <a:accent1>
        <a:srgbClr val="4C72B0"/>
      </a:accent1>
      <a:accent2>
        <a:srgbClr val="DD8452"/>
      </a:accent2>
      <a:accent3>
        <a:srgbClr val="8C8C8C"/>
      </a:accent3>
      <a:accent4>
        <a:srgbClr val="C44E52"/>
      </a:accent4>
      <a:accent5>
        <a:srgbClr val="55A868"/>
      </a:accent5>
      <a:accent6>
        <a:srgbClr val="4C72B0"/>
      </a:accent6>
      <a:hlink>
        <a:srgbClr val="4C72B0"/>
      </a:hlink>
      <a:folHlink>
        <a:srgbClr val="5A5A5A"/>
      </a:folHlink>
    </a:clrScheme>
    <a:fontScheme name="Lab1Pla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which songs Andreas likes</dc:title>
  <dc:subject>PptxGenJS Presentation</dc:subject>
  <dc:creator>Andreas Olsson</dc:creator>
  <cp:lastModifiedBy>Andreas Olsson</cp:lastModifiedBy>
  <cp:revision>1</cp:revision>
  <dcterms:created xsi:type="dcterms:W3CDTF">2026-10-04T19:03:25Z</dcterms:created>
  <dcterms:modified xsi:type="dcterms:W3CDTF">2026-10-04T19:03:25Z</dcterms:modified>
</cp:coreProperties>
</file>